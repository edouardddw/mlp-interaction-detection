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notesMasterIdLst>
    <p:notesMasterId r:id="rId34"/>
  </p:notesMasterIdLst>
  <p:sldIdLst>
    <p:sldId id="256" r:id="rId2"/>
    <p:sldId id="259" r:id="rId3"/>
    <p:sldId id="346" r:id="rId4"/>
    <p:sldId id="310" r:id="rId5"/>
    <p:sldId id="347" r:id="rId6"/>
    <p:sldId id="348" r:id="rId7"/>
    <p:sldId id="349" r:id="rId8"/>
    <p:sldId id="309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70" r:id="rId20"/>
    <p:sldId id="315" r:id="rId21"/>
    <p:sldId id="324" r:id="rId22"/>
    <p:sldId id="318" r:id="rId23"/>
    <p:sldId id="321" r:id="rId24"/>
    <p:sldId id="333" r:id="rId25"/>
    <p:sldId id="339" r:id="rId26"/>
    <p:sldId id="354" r:id="rId27"/>
    <p:sldId id="360" r:id="rId28"/>
    <p:sldId id="356" r:id="rId29"/>
    <p:sldId id="361" r:id="rId30"/>
    <p:sldId id="340" r:id="rId31"/>
    <p:sldId id="341" r:id="rId32"/>
    <p:sldId id="33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5642C37-1B15-FD44-8B17-41985C508828}">
          <p14:sldIdLst>
            <p14:sldId id="256"/>
          </p14:sldIdLst>
        </p14:section>
        <p14:section name="Research Question" id="{9F38D11E-E7ED-5443-9B69-C8F6CB52C917}">
          <p14:sldIdLst>
            <p14:sldId id="259"/>
            <p14:sldId id="346"/>
          </p14:sldIdLst>
        </p14:section>
        <p14:section name="Literature Review" id="{7567CE38-4E68-AF45-9154-F159071F6612}">
          <p14:sldIdLst>
            <p14:sldId id="310"/>
            <p14:sldId id="347"/>
            <p14:sldId id="348"/>
            <p14:sldId id="349"/>
          </p14:sldIdLst>
        </p14:section>
        <p14:section name="Methodology" id="{460BDB76-2C7F-2F4D-844C-EB0DA6E94763}">
          <p14:sldIdLst>
            <p14:sldId id="309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70"/>
            <p14:sldId id="315"/>
            <p14:sldId id="324"/>
            <p14:sldId id="318"/>
            <p14:sldId id="321"/>
          </p14:sldIdLst>
        </p14:section>
        <p14:section name="Current Results" id="{FDA70FEA-7BA4-FA4E-9B06-1CCFE64E2144}">
          <p14:sldIdLst>
            <p14:sldId id="333"/>
            <p14:sldId id="339"/>
            <p14:sldId id="354"/>
            <p14:sldId id="360"/>
            <p14:sldId id="356"/>
            <p14:sldId id="361"/>
            <p14:sldId id="340"/>
            <p14:sldId id="341"/>
          </p14:sldIdLst>
        </p14:section>
        <p14:section name="Progress and next steps" id="{0A42EB52-A8E9-4047-8346-4B0E5AEDF289}">
          <p14:sldIdLst>
            <p14:sldId id="33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C8413A-4622-DB46-992E-E77882824A3E}" v="111" dt="2026-05-10T21:11:26.8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>
      <p:cViewPr>
        <p:scale>
          <a:sx n="107" d="100"/>
          <a:sy n="107" d="100"/>
        </p:scale>
        <p:origin x="76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F5D202-05DD-424C-8723-09016AEE353F}" type="datetimeFigureOut">
              <a:rPr lang="en-US" smtClean="0"/>
              <a:t>5/9/26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E8207-CD5B-074D-B85F-B7608BCB3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250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1122363"/>
            <a:ext cx="10072922" cy="197834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3509963"/>
            <a:ext cx="10072922" cy="1747837"/>
          </a:xfrm>
        </p:spPr>
        <p:txBody>
          <a:bodyPr>
            <a:normAutofit/>
          </a:bodyPr>
          <a:lstStyle>
            <a:lvl1pPr marL="0" indent="0" algn="l">
              <a:buNone/>
              <a:defRPr sz="2000" i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524C6359-9BB8-4148-8114-537E698DA205}" type="datetime1">
              <a:rPr lang="en-US" smtClean="0"/>
              <a:t>5/9/26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62715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/>
          <a:p>
            <a:fld id="{9376191F-481E-48E9-BB9A-369A67A7362D}" type="datetime1">
              <a:rPr lang="en-US" smtClean="0"/>
              <a:t>5/9/26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AC552FEA-472E-4E74-B31D-531852C1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059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41DF3078-C636-4776-A616-D5BF3BC280C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0D1A27FA-1310-4BC3-A071-1566746B2FB1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99ACB9EB-84FE-4B33-9EF9-4EC7DAC25DD5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826E5EFB-0EF9-4DB8-99CB-5DD72009DB2C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86238E12-0689-4123-8B2E-E1CCFCC4C88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8538CF67-A00E-4955-A447-001BE02E771A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52219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10072922" cy="2313641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3509963"/>
            <a:ext cx="10072922" cy="25796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7DE-DD04-48CC-9C18-7BE9FF2DEB6B}" type="datetime1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37B4CDD2-E09A-418A-9131-FBDEE440A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8852E5FB-B268-4CCA-8E55-803038F7A00D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A1C9CBB3-97C0-4A35-9088-C69233F5CEE7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1610871-AEE9-46EB-9D27-BA1D9D688124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27478059-2A11-484D-A2D7-199F74778E50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0EC0886-DDB9-47F1-9414-C121C1D3F954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66A10427-DF20-4284-B215-EABA4D366E20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51959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717" y="2521885"/>
            <a:ext cx="4645152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2136" y="2521885"/>
            <a:ext cx="4611138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55ED-7101-4D18-A8AE-3B5E4CB87EA5}" type="datetime1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0CB61A83-9419-49FC-8074-2AB3D34FA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963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BCD12E57-97FB-48D8-81CC-7C37E8947CB4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E487641C-E83B-4134-88C9-1D23D5FA1836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B99AB7A6-A88C-44E1-A9DE-4126B957F88A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FF0D518-1D17-44C7-BF73-7C980481DB5B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A7A3E12-61E8-41A0-A459-15BF375FA945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9E5E4A56-9100-4D60-8A34-0FE116F41FF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45142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7"/>
            <a:ext cx="100729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521884"/>
            <a:ext cx="4845387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0352" y="3366390"/>
            <a:ext cx="4845387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34025" y="2521884"/>
            <a:ext cx="4869249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34025" y="3366390"/>
            <a:ext cx="4869249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2F23D-51F6-4C94-8CD5-B9ABBF67EE23}" type="datetime1">
              <a:rPr lang="en-US" smtClean="0"/>
              <a:t>5/9/26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16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787068"/>
            <a:ext cx="1007755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702F-6367-4FD1-89A8-3744BE6BA9A2}" type="datetime1">
              <a:rPr lang="en-US" smtClean="0"/>
              <a:t>5/9/26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aphic 78">
            <a:extLst>
              <a:ext uri="{FF2B5EF4-FFF2-40B4-BE49-F238E27FC236}">
                <a16:creationId xmlns:a16="http://schemas.microsoft.com/office/drawing/2014/main" id="{AC45ECC6-E29C-40EF-A7C9-5A17DAFD4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5233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7" name="Graphic 78">
              <a:extLst>
                <a:ext uri="{FF2B5EF4-FFF2-40B4-BE49-F238E27FC236}">
                  <a16:creationId xmlns:a16="http://schemas.microsoft.com/office/drawing/2014/main" id="{8DA0D497-8E8F-426A-8172-894BE03F70F6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aphic 78">
              <a:extLst>
                <a:ext uri="{FF2B5EF4-FFF2-40B4-BE49-F238E27FC236}">
                  <a16:creationId xmlns:a16="http://schemas.microsoft.com/office/drawing/2014/main" id="{8C0459EF-3B70-4083-8845-3A9AF847E805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9" name="Graphic 78">
                <a:extLst>
                  <a:ext uri="{FF2B5EF4-FFF2-40B4-BE49-F238E27FC236}">
                    <a16:creationId xmlns:a16="http://schemas.microsoft.com/office/drawing/2014/main" id="{53BF2B58-70F8-4288-85AB-CBDA723CDFCC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569E551-A5A0-4A8F-B999-3A6D104814A2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0FB69EB5-D9AC-46E7-934E-32999C39B2E6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6EABC49A-B4ED-44E4-ADB7-E432734A7C9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82774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99BD-4B4F-4460-B452-0E8146ACCF8F}" type="datetime1">
              <a:rPr lang="en-US" smtClean="0"/>
              <a:t>5/9/26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867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4315386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420086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4315386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D34C-1867-42A9-AC54-D15ADD8A65E7}" type="datetime1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839DB371-B90D-44CB-A4AF-C7BDBFD0A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0C845011-2FC2-40F7-B0C6-49CBBA72B9C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2BC78B8-5139-436F-AD47-3CC03903FDD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F9DC17BA-1278-45C9-B1BF-B9F1518E1F29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9637B9F-CC26-4669-81F0-A942B4F72D61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2BB8F115-0030-47B4-BAF4-C15D1EA27B11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662F9949-4F1A-4708-824B-E876E9BEDA1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93107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3932237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4200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33E9-A654-4C17-8C3C-DDCAC83D6EBF}" type="datetime1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7627CBC2-9DC2-4EE8-A2D5-849E30F22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9FB4AEFC-63AB-4831-8EC1-E8145604D8D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11E1337-D5DA-408D-91F3-A6A35FCDD0B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1E473FA4-FD80-4D04-AAC5-63B9A4D80778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FCB457B9-48DE-4921-8C3F-996598075B1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53C9DB95-9A61-4553-8D82-D2BE26FCBC6E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0EAE371F-24C9-4738-834F-FAF5A5C9ACE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27862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9BD0-10DB-43E7-8F22-40B3D51B8FC3}" type="datetime1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12EF7969-DB38-4989-A65C-9D190A245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33456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2145BE25-C437-45FE-A3D3-BBAAF108CC9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4A9D0FA0-682C-4076-B779-D865AEEFC66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B60163C-1A2D-4F00-BC61-8A3C11E2D2BE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3FF8D873-9CF9-4A0A-A7B8-875C0B8233D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2B645470-F624-4417-A8A4-FC242E43C9DB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ECC7EFEF-6B2A-4210-9275-0077ACF2827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03389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74374" y="787067"/>
            <a:ext cx="2628900" cy="53898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5719" y="787067"/>
            <a:ext cx="7039402" cy="53898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C79C-F566-427A-93F6-434A4E613134}" type="datetime1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88F505F-2957-41FC-9AAA-962853A67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7283627" y="125032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091A36EB-8545-4EFE-B619-165D36D644D1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8D075D29-6706-486B-A55A-13866882BA88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FAE751A-10F0-48F2-BBC3-D2FE499B34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52289CAF-683C-4BCC-8AA5-95A3BF799B0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BC8403A-C46F-4DA1-A015-00A80215F289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A797D957-3A2C-42DF-B73E-CBB47BE036B7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75213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5959F4-53DA-47FF-BC24-1E5B75C69876}"/>
              </a:ext>
            </a:extLst>
          </p:cNvPr>
          <p:cNvSpPr/>
          <p:nvPr/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7CF83E8-F6F0-41E3-B580-7412A04DDFB5}"/>
              </a:ext>
            </a:extLst>
          </p:cNvPr>
          <p:cNvGrpSpPr/>
          <p:nvPr/>
        </p:nvGrpSpPr>
        <p:grpSpPr>
          <a:xfrm>
            <a:off x="10776050" y="5204030"/>
            <a:ext cx="886141" cy="802497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</a:extLst>
            </p:cNvPr>
            <p:cNvSpPr/>
            <p:nvPr/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</a:extLst>
            </p:cNvPr>
            <p:cNvSpPr/>
            <p:nvPr/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</a:extLst>
            </p:cNvPr>
            <p:cNvSpPr/>
            <p:nvPr/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4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</a:extLst>
            </p:cNvPr>
            <p:cNvSpPr/>
            <p:nvPr/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</a:extLst>
            </p:cNvPr>
            <p:cNvSpPr/>
            <p:nvPr/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</a:extLst>
            </p:cNvPr>
            <p:cNvSpPr/>
            <p:nvPr/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</a:extLst>
            </p:cNvPr>
            <p:cNvSpPr/>
            <p:nvPr/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9226104-0061-4319-8237-9C001BF85D49}"/>
              </a:ext>
            </a:extLst>
          </p:cNvPr>
          <p:cNvSpPr/>
          <p:nvPr/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717" y="2521885"/>
            <a:ext cx="10077557" cy="354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5718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769D389-4C4C-4FD7-9E6B-9F44477F0EB8}" type="datetime1">
              <a:rPr lang="en-US" smtClean="0"/>
              <a:t>5/9/26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5718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5367" y="6356350"/>
            <a:ext cx="5298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313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11" r:id="rId6"/>
    <p:sldLayoutId id="2147483706" r:id="rId7"/>
    <p:sldLayoutId id="2147483707" r:id="rId8"/>
    <p:sldLayoutId id="2147483708" r:id="rId9"/>
    <p:sldLayoutId id="2147483710" r:id="rId10"/>
    <p:sldLayoutId id="214748370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82EA4C-E410-07D1-87A6-8D1FB6B7B8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1122363"/>
            <a:ext cx="5340911" cy="1978346"/>
          </a:xfrm>
        </p:spPr>
        <p:txBody>
          <a:bodyPr>
            <a:normAutofit/>
          </a:bodyPr>
          <a:lstStyle/>
          <a:p>
            <a:r>
              <a:rPr lang="en-US" b="1" i="0" dirty="0">
                <a:effectLst/>
              </a:rPr>
              <a:t>Mid-Term Presentation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250B4A-17A1-DDD0-C51C-6EC7BA3C9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3509963"/>
            <a:ext cx="5340911" cy="924284"/>
          </a:xfrm>
        </p:spPr>
        <p:txBody>
          <a:bodyPr>
            <a:normAutofit/>
          </a:bodyPr>
          <a:lstStyle/>
          <a:p>
            <a:r>
              <a:rPr lang="en-US" b="1" i="0" dirty="0">
                <a:effectLst/>
              </a:rPr>
              <a:t>Multilayer perceptron Interaction Detection</a:t>
            </a:r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F7F2079-504C-499A-A644-58F4DDC76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aphic 78">
            <a:extLst>
              <a:ext uri="{FF2B5EF4-FFF2-40B4-BE49-F238E27FC236}">
                <a16:creationId xmlns:a16="http://schemas.microsoft.com/office/drawing/2014/main" id="{DBBA0A0D-8F6A-400A-9E49-8C008E2C7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4" name="Graphic 78">
              <a:extLst>
                <a:ext uri="{FF2B5EF4-FFF2-40B4-BE49-F238E27FC236}">
                  <a16:creationId xmlns:a16="http://schemas.microsoft.com/office/drawing/2014/main" id="{A5DD701E-4BC9-48E3-AF4F-013B52D63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aphic 78">
              <a:extLst>
                <a:ext uri="{FF2B5EF4-FFF2-40B4-BE49-F238E27FC236}">
                  <a16:creationId xmlns:a16="http://schemas.microsoft.com/office/drawing/2014/main" id="{FB658B62-664D-4B3B-BBDA-235666290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B11F9D25-67B1-4BDB-A290-97B93A19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B9D5C40A-1B1B-4C25-9707-E8F1CF6EEC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2DD0C1D6-FF64-45AB-8775-83AB3C470B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15AFBB84-8485-4329-89FC-04663D985B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4" name="Picture 3" descr="A white background with dots and lines&#10;&#10;AI-generated content may be incorrect.">
            <a:extLst>
              <a:ext uri="{FF2B5EF4-FFF2-40B4-BE49-F238E27FC236}">
                <a16:creationId xmlns:a16="http://schemas.microsoft.com/office/drawing/2014/main" id="{938C0835-1ECB-D8C1-5E0D-70B3994328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24" r="26783" b="2"/>
          <a:stretch>
            <a:fillRect/>
          </a:stretch>
        </p:blipFill>
        <p:spPr>
          <a:xfrm>
            <a:off x="6535696" y="10"/>
            <a:ext cx="5669280" cy="6857990"/>
          </a:xfrm>
          <a:prstGeom prst="rect">
            <a:avLst/>
          </a:pr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D505D40-32E9-4C48-81F8-AD80433BE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6006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507BF36-B92B-4CAC-BCA7-8364B51E1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276237E-3A6D-452F-879C-FB8C77A18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8BC9243-F4BF-48A7-89AE-DFA5B37DE6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DE414EC-F3DF-412E-9B22-5328DAA99C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Graphic 12">
              <a:extLst>
                <a:ext uri="{FF2B5EF4-FFF2-40B4-BE49-F238E27FC236}">
                  <a16:creationId xmlns:a16="http://schemas.microsoft.com/office/drawing/2014/main" id="{039C06B1-FDEA-47B1-8222-7D622CD72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5">
              <a:extLst>
                <a:ext uri="{FF2B5EF4-FFF2-40B4-BE49-F238E27FC236}">
                  <a16:creationId xmlns:a16="http://schemas.microsoft.com/office/drawing/2014/main" id="{B834C8C1-9BD1-4635-8E5B-65815F901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2963D456-B3F4-4EDC-827E-645741F64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3A58845-EFFB-4806-BC6D-47418C15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1876ED2-534D-99CC-3A45-AFCD9B44DD17}"/>
              </a:ext>
            </a:extLst>
          </p:cNvPr>
          <p:cNvSpPr txBox="1"/>
          <p:nvPr/>
        </p:nvSpPr>
        <p:spPr>
          <a:xfrm>
            <a:off x="3080585" y="5947090"/>
            <a:ext cx="3356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Edouard </a:t>
            </a:r>
            <a:r>
              <a:rPr lang="en-US" dirty="0" err="1"/>
              <a:t>Dewaerheijd</a:t>
            </a:r>
            <a:r>
              <a:rPr lang="en-US" dirty="0"/>
              <a:t> (i6341571)</a:t>
            </a:r>
          </a:p>
        </p:txBody>
      </p:sp>
    </p:spTree>
    <p:extLst>
      <p:ext uri="{BB962C8B-B14F-4D97-AF65-F5344CB8AC3E}">
        <p14:creationId xmlns:p14="http://schemas.microsoft.com/office/powerpoint/2010/main" val="218549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770EE-56B5-F5A5-6BCA-DF7D91CC8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 Research Question</a:t>
            </a:r>
          </a:p>
        </p:txBody>
      </p:sp>
    </p:spTree>
    <p:extLst>
      <p:ext uri="{BB962C8B-B14F-4D97-AF65-F5344CB8AC3E}">
        <p14:creationId xmlns:p14="http://schemas.microsoft.com/office/powerpoint/2010/main" val="39459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Q Banner"/>
          <p:cNvSpPr/>
          <p:nvPr/>
        </p:nvSpPr>
        <p:spPr>
          <a:xfrm>
            <a:off x="762000" y="660400"/>
            <a:ext cx="10287000" cy="1143000"/>
          </a:xfrm>
          <a:prstGeom prst="roundRect">
            <a:avLst/>
          </a:prstGeom>
          <a:solidFill>
            <a:srgbClr val="463443"/>
          </a:solidFill>
          <a:ln>
            <a:noFill/>
          </a:ln>
        </p:spPr>
        <p:txBody>
          <a:bodyPr wrap="square" lIns="54000" tIns="27000" rIns="54000" bIns="27000" anchor="ctr"/>
          <a:lstStyle/>
          <a:p>
            <a:pPr algn="l"/>
            <a:r>
              <a:rPr lang="en-US" sz="1100" b="1" dirty="0">
                <a:solidFill>
                  <a:srgbClr val="D49D8C"/>
                </a:solidFill>
              </a:rPr>
              <a:t>Research Question</a:t>
            </a:r>
          </a:p>
          <a:p>
            <a:pPr algn="l">
              <a:spcBef>
                <a:spcPts val="150"/>
              </a:spcBef>
            </a:pPr>
            <a:r>
              <a:rPr lang="en-US" sz="1400" i="1" dirty="0">
                <a:solidFill>
                  <a:srgbClr val="FFFFFF"/>
                </a:solidFill>
              </a:rPr>
              <a:t>How do regularization techniques and input noise influence the trajectory and stability of interaction recovery in MLPs, as measured against ground truth?</a:t>
            </a:r>
          </a:p>
        </p:txBody>
      </p:sp>
      <p:sp>
        <p:nvSpPr>
          <p:cNvPr id="11" name="WhyLabel"/>
          <p:cNvSpPr/>
          <p:nvPr/>
        </p:nvSpPr>
        <p:spPr>
          <a:xfrm>
            <a:off x="762000" y="19304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7000" rIns="54000" bIns="27000" anchor="ctr"/>
          <a:lstStyle/>
          <a:p>
            <a:pPr algn="l"/>
            <a:r>
              <a:rPr lang="en-US" sz="1200" b="1" dirty="0">
                <a:solidFill>
                  <a:srgbClr val="D45E5E"/>
                </a:solidFill>
              </a:rPr>
              <a:t>Why Interaction Recovery Matters</a:t>
            </a:r>
          </a:p>
        </p:txBody>
      </p:sp>
      <p:sp>
        <p:nvSpPr>
          <p:cNvPr id="20" name="Card1Bg"/>
          <p:cNvSpPr/>
          <p:nvPr/>
        </p:nvSpPr>
        <p:spPr>
          <a:xfrm>
            <a:off x="762000" y="2298700"/>
            <a:ext cx="3048000" cy="1676400"/>
          </a:xfrm>
          <a:prstGeom prst="roundRect">
            <a:avLst/>
          </a:prstGeom>
          <a:noFill/>
          <a:ln w="9525">
            <a:solidFill>
              <a:srgbClr val="D45E5E"/>
            </a:solidFill>
          </a:ln>
        </p:spPr>
        <p:txBody>
          <a:bodyPr wrap="square" lIns="54000" tIns="432000" rIns="54000" bIns="27000" anchor="t"/>
          <a:lstStyle/>
          <a:p>
            <a:pPr algn="l"/>
            <a:r>
              <a:rPr lang="en-US" sz="1200" b="1" dirty="0">
                <a:solidFill>
                  <a:srgbClr val="D45E5E"/>
                </a:solidFill>
              </a:rPr>
              <a:t>Beyond Linear XAI</a:t>
            </a:r>
          </a:p>
          <a:p>
            <a:pPr algn="l">
              <a:spcBef>
                <a:spcPts val="100"/>
              </a:spcBef>
            </a:pPr>
            <a:r>
              <a:rPr lang="en-US" sz="1050" dirty="0">
                <a:solidFill>
                  <a:srgbClr val="463443"/>
                </a:solidFill>
              </a:rPr>
              <a:t>Standard attribution gives one score per feature — misses non-additive dependencies like XOR logic</a:t>
            </a:r>
          </a:p>
        </p:txBody>
      </p:sp>
      <p:sp>
        <p:nvSpPr>
          <p:cNvPr id="30" name="Card2Bg"/>
          <p:cNvSpPr/>
          <p:nvPr/>
        </p:nvSpPr>
        <p:spPr>
          <a:xfrm>
            <a:off x="4000500" y="2286000"/>
            <a:ext cx="3048000" cy="1676400"/>
          </a:xfrm>
          <a:prstGeom prst="roundRect">
            <a:avLst/>
          </a:prstGeom>
          <a:noFill/>
          <a:ln w="9525">
            <a:solidFill>
              <a:srgbClr val="BF873A"/>
            </a:solidFill>
          </a:ln>
        </p:spPr>
        <p:txBody>
          <a:bodyPr wrap="square" lIns="54000" tIns="432000" rIns="54000" bIns="27000" anchor="t"/>
          <a:lstStyle/>
          <a:p>
            <a:pPr algn="l"/>
            <a:r>
              <a:rPr lang="en-US" sz="1200" b="1" dirty="0">
                <a:solidFill>
                  <a:srgbClr val="BF873A"/>
                </a:solidFill>
              </a:rPr>
              <a:t>Explanation Fidelity</a:t>
            </a:r>
          </a:p>
          <a:p>
            <a:pPr algn="l">
              <a:spcBef>
                <a:spcPts val="100"/>
              </a:spcBef>
            </a:pPr>
            <a:r>
              <a:rPr lang="en-US" sz="1050" dirty="0">
                <a:solidFill>
                  <a:srgbClr val="463443"/>
                </a:solidFill>
              </a:rPr>
              <a:t>Including interactions raises explanation R² significantly vs. linear baselines; captures saturation effects</a:t>
            </a:r>
          </a:p>
        </p:txBody>
      </p:sp>
      <p:sp>
        <p:nvSpPr>
          <p:cNvPr id="40" name="Card3Bg"/>
          <p:cNvSpPr/>
          <p:nvPr/>
        </p:nvSpPr>
        <p:spPr>
          <a:xfrm>
            <a:off x="7239000" y="2286000"/>
            <a:ext cx="3048000" cy="1676400"/>
          </a:xfrm>
          <a:prstGeom prst="roundRect">
            <a:avLst/>
          </a:prstGeom>
          <a:noFill/>
          <a:ln w="9525">
            <a:solidFill>
              <a:srgbClr val="8F6B8A"/>
            </a:solidFill>
          </a:ln>
        </p:spPr>
        <p:txBody>
          <a:bodyPr wrap="square" lIns="54000" tIns="432000" rIns="54000" bIns="27000" anchor="t"/>
          <a:lstStyle/>
          <a:p>
            <a:pPr algn="l"/>
            <a:r>
              <a:rPr lang="en-US" sz="1200" b="1" dirty="0">
                <a:solidFill>
                  <a:srgbClr val="8F6B8A"/>
                </a:solidFill>
              </a:rPr>
              <a:t>Debug Model Logic</a:t>
            </a:r>
          </a:p>
          <a:p>
            <a:pPr algn="l">
              <a:spcBef>
                <a:spcPts val="100"/>
              </a:spcBef>
            </a:pPr>
            <a:r>
              <a:rPr lang="en-US" sz="1050" dirty="0">
                <a:solidFill>
                  <a:srgbClr val="463443"/>
                </a:solidFill>
              </a:rPr>
              <a:t>Exposes spurious interactions — correlation vs. causation, data artifacts </a:t>
            </a:r>
          </a:p>
        </p:txBody>
      </p:sp>
      <p:sp>
        <p:nvSpPr>
          <p:cNvPr id="50" name="Card4Bg"/>
          <p:cNvSpPr/>
          <p:nvPr/>
        </p:nvSpPr>
        <p:spPr>
          <a:xfrm>
            <a:off x="2387600" y="4089400"/>
            <a:ext cx="3048000" cy="1676400"/>
          </a:xfrm>
          <a:prstGeom prst="roundRect">
            <a:avLst/>
          </a:prstGeom>
          <a:noFill/>
          <a:ln w="9525">
            <a:solidFill>
              <a:srgbClr val="A89F68"/>
            </a:solidFill>
          </a:ln>
        </p:spPr>
        <p:txBody>
          <a:bodyPr wrap="square" lIns="54000" tIns="432000" rIns="54000" bIns="27000" anchor="t"/>
          <a:lstStyle/>
          <a:p>
            <a:pPr algn="l"/>
            <a:r>
              <a:rPr lang="en-US" sz="1200" b="1" dirty="0">
                <a:solidFill>
                  <a:srgbClr val="A89F68"/>
                </a:solidFill>
              </a:rPr>
              <a:t>High-Stakes Domains</a:t>
            </a:r>
          </a:p>
          <a:p>
            <a:pPr algn="l">
              <a:spcBef>
                <a:spcPts val="100"/>
              </a:spcBef>
            </a:pPr>
            <a:r>
              <a:rPr lang="en-US" sz="1050" dirty="0">
                <a:solidFill>
                  <a:srgbClr val="463443"/>
                </a:solidFill>
              </a:rPr>
              <a:t>Genomics epistasis, medical pathways — interactions are the language; simple attribution cannot capture them</a:t>
            </a:r>
          </a:p>
        </p:txBody>
      </p:sp>
      <p:sp>
        <p:nvSpPr>
          <p:cNvPr id="60" name="Card5Bg"/>
          <p:cNvSpPr/>
          <p:nvPr/>
        </p:nvSpPr>
        <p:spPr>
          <a:xfrm>
            <a:off x="5626100" y="4089400"/>
            <a:ext cx="3048000" cy="1676400"/>
          </a:xfrm>
          <a:prstGeom prst="roundRect">
            <a:avLst/>
          </a:prstGeom>
          <a:noFill/>
          <a:ln w="9525">
            <a:solidFill>
              <a:srgbClr val="D45E5E"/>
            </a:solidFill>
          </a:ln>
        </p:spPr>
        <p:txBody>
          <a:bodyPr wrap="square" lIns="54000" tIns="432000" rIns="54000" bIns="27000" anchor="t"/>
          <a:lstStyle/>
          <a:p>
            <a:pPr algn="l"/>
            <a:r>
              <a:rPr lang="en-US" sz="1200" b="1" dirty="0">
                <a:solidFill>
                  <a:srgbClr val="D45E5E"/>
                </a:solidFill>
              </a:rPr>
              <a:t>Evaluating Regularization</a:t>
            </a:r>
          </a:p>
          <a:p>
            <a:pPr algn="l">
              <a:spcBef>
                <a:spcPts val="100"/>
              </a:spcBef>
            </a:pPr>
            <a:r>
              <a:rPr lang="en-US" sz="1050" dirty="0">
                <a:solidFill>
                  <a:srgbClr val="463443"/>
                </a:solidFill>
              </a:rPr>
              <a:t>Only way to verify if Dropout/L2 actually suppress spurious high-order interactions vs. genuine ones</a:t>
            </a:r>
          </a:p>
        </p:txBody>
      </p:sp>
      <p:sp>
        <p:nvSpPr>
          <p:cNvPr id="70" name="Takeaway"/>
          <p:cNvSpPr/>
          <p:nvPr/>
        </p:nvSpPr>
        <p:spPr>
          <a:xfrm>
            <a:off x="762000" y="5867400"/>
            <a:ext cx="10287000" cy="533400"/>
          </a:xfrm>
          <a:prstGeom prst="roundRect">
            <a:avLst/>
          </a:prstGeom>
          <a:solidFill>
            <a:srgbClr val="463443"/>
          </a:solidFill>
          <a:ln>
            <a:noFill/>
          </a:ln>
        </p:spPr>
        <p:txBody>
          <a:bodyPr wrap="square" lIns="54000" tIns="27000" rIns="54000" bIns="2700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Interaction recovery transforms XAI from importance ranking → functional map of model logic</a:t>
            </a:r>
          </a:p>
        </p:txBody>
      </p:sp>
      <p:pic>
        <p:nvPicPr>
          <p:cNvPr id="71" name="Graphic 71" descr="Brain icon for XAI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600" y="2387600"/>
            <a:ext cx="381000" cy="381000"/>
          </a:xfrm>
          <a:prstGeom prst="rect">
            <a:avLst/>
          </a:prstGeom>
        </p:spPr>
      </p:pic>
      <p:pic>
        <p:nvPicPr>
          <p:cNvPr id="72" name="Graphic 72" descr="Puzzle for fidelity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02100" y="2387600"/>
            <a:ext cx="381000" cy="381000"/>
          </a:xfrm>
          <a:prstGeom prst="rect">
            <a:avLst/>
          </a:prstGeom>
        </p:spPr>
      </p:pic>
      <p:pic>
        <p:nvPicPr>
          <p:cNvPr id="73" name="Graphic 73" descr="Search for debuggi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0600" y="2413000"/>
            <a:ext cx="381000" cy="381000"/>
          </a:xfrm>
          <a:prstGeom prst="rect">
            <a:avLst/>
          </a:prstGeom>
        </p:spPr>
      </p:pic>
      <p:pic>
        <p:nvPicPr>
          <p:cNvPr id="74" name="Graphic 74" descr="DNA for genomics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89200" y="4191000"/>
            <a:ext cx="381000" cy="381000"/>
          </a:xfrm>
          <a:prstGeom prst="rect">
            <a:avLst/>
          </a:prstGeom>
        </p:spPr>
      </p:pic>
      <p:pic>
        <p:nvPicPr>
          <p:cNvPr id="75" name="Graphic 75" descr="Filter for regularization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27700" y="4191000"/>
            <a:ext cx="381000" cy="381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5371EC-FB5E-198F-5786-5C0B588CAEF0}"/>
              </a:ext>
            </a:extLst>
          </p:cNvPr>
          <p:cNvSpPr txBox="1"/>
          <p:nvPr/>
        </p:nvSpPr>
        <p:spPr>
          <a:xfrm>
            <a:off x="762000" y="6477000"/>
            <a:ext cx="1028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solidFill>
                  <a:srgbClr val="8F6B8A"/>
                </a:solidFill>
                <a:latin typeface="Avenir Next LT Pro"/>
              </a:rPr>
              <a:t>[3] Tsang et al., 2018  [4] van Hilten et al., 2025  [8] Lengerich et al., 2022  [9] Janizek et al., 2021  [10] Tsang et al., 2018  [11] Guidotti et al., 2018  [12] Tsang et al., 2020  [13] Agarwal et al., 2022  [14] Montavon et al., 2018  [15] Arpit et al., 2017</a:t>
            </a:r>
          </a:p>
        </p:txBody>
      </p:sp>
    </p:spTree>
    <p:extLst>
      <p:ext uri="{BB962C8B-B14F-4D97-AF65-F5344CB8AC3E}">
        <p14:creationId xmlns:p14="http://schemas.microsoft.com/office/powerpoint/2010/main" val="3166589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DC6CC-8701-96B4-8AB0-6AAAD64EF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Previous Research</a:t>
            </a:r>
          </a:p>
        </p:txBody>
      </p:sp>
    </p:spTree>
    <p:extLst>
      <p:ext uri="{BB962C8B-B14F-4D97-AF65-F5344CB8AC3E}">
        <p14:creationId xmlns:p14="http://schemas.microsoft.com/office/powerpoint/2010/main" val="1185558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C9E10-61AA-6223-4A7C-9CFC89D7A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21" y="611187"/>
            <a:ext cx="10077557" cy="1325563"/>
          </a:xfrm>
        </p:spPr>
        <p:txBody>
          <a:bodyPr/>
          <a:lstStyle/>
          <a:p>
            <a:r>
              <a:rPr lang="en-US" dirty="0"/>
              <a:t>Neural interaction Detection</a:t>
            </a:r>
          </a:p>
        </p:txBody>
      </p:sp>
      <p:sp>
        <p:nvSpPr>
          <p:cNvPr id="60" name="Subtitle"/>
          <p:cNvSpPr txBox="1"/>
          <p:nvPr/>
        </p:nvSpPr>
        <p:spPr>
          <a:xfrm>
            <a:off x="825499" y="1836420"/>
            <a:ext cx="9525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i="1" dirty="0">
                <a:solidFill>
                  <a:srgbClr val="8F6B8A"/>
                </a:solidFill>
                <a:latin typeface="Avenir Next LT Pro"/>
              </a:rPr>
              <a:t>NID framework (Tsang et al., 2017) — Two key observations about MLPs</a:t>
            </a:r>
          </a:p>
        </p:txBody>
      </p:sp>
      <p:sp>
        <p:nvSpPr>
          <p:cNvPr id="10" name="CardBg 10"/>
          <p:cNvSpPr/>
          <p:nvPr/>
        </p:nvSpPr>
        <p:spPr>
          <a:xfrm>
            <a:off x="698500" y="2476500"/>
            <a:ext cx="5080000" cy="1841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DD6"/>
            </a:solidFill>
          </a:ln>
          <a:effectLst>
            <a:outerShdw blurRad="25400" dist="12700" dir="5400000" algn="t" rotWithShape="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Header 10"/>
          <p:cNvSpPr/>
          <p:nvPr/>
        </p:nvSpPr>
        <p:spPr>
          <a:xfrm>
            <a:off x="698500" y="2476500"/>
            <a:ext cx="5080000" cy="482600"/>
          </a:xfrm>
          <a:prstGeom prst="roundRect">
            <a:avLst>
              <a:gd name="adj" fmla="val 5000"/>
            </a:avLst>
          </a:prstGeom>
          <a:solidFill>
            <a:srgbClr val="D45E5E"/>
          </a:solidFill>
          <a:ln w="0">
            <a:noFill/>
          </a:ln>
        </p:spPr>
        <p:txBody>
          <a:bodyPr lIns="91440" tIns="0" rIns="9144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Georgia Pro Semibold"/>
              </a:rPr>
              <a:t>⚡ Non-linear Activation Functions</a:t>
            </a:r>
          </a:p>
        </p:txBody>
      </p:sp>
      <p:sp>
        <p:nvSpPr>
          <p:cNvPr id="12" name="Body 10"/>
          <p:cNvSpPr txBox="1"/>
          <p:nvPr/>
        </p:nvSpPr>
        <p:spPr>
          <a:xfrm>
            <a:off x="850900" y="3035300"/>
            <a:ext cx="4775200" cy="1181100"/>
          </a:xfrm>
          <a:prstGeom prst="rect">
            <a:avLst/>
          </a:prstGeom>
          <a:noFill/>
        </p:spPr>
        <p:txBody>
          <a:bodyPr wrap="square" lIns="36000" tIns="36000" rIns="36000" bIns="36000" anchor="t"/>
          <a:lstStyle/>
          <a:p>
            <a:pPr marL="171450" indent="-171450">
              <a:spcBef>
                <a:spcPts val="100"/>
              </a:spcBef>
              <a:buFont typeface="Arial"/>
              <a:buChar char="•"/>
            </a:pPr>
            <a:r>
              <a:rPr lang="en-US" sz="1100" dirty="0">
                <a:solidFill>
                  <a:srgbClr val="463443"/>
                </a:solidFill>
                <a:latin typeface="Avenir Next LT Pro"/>
              </a:rPr>
              <a:t>Interactions arise from non-additive effects of activation functions (ReLU, Sigmoid)</a:t>
            </a:r>
          </a:p>
          <a:p>
            <a:pPr marL="171450" indent="-171450">
              <a:spcBef>
                <a:spcPts val="150"/>
              </a:spcBef>
              <a:buFont typeface="Arial"/>
              <a:buChar char="•"/>
            </a:pPr>
            <a:r>
              <a:rPr lang="en-US" sz="1100" dirty="0">
                <a:solidFill>
                  <a:srgbClr val="463443"/>
                </a:solidFill>
                <a:latin typeface="Avenir Next LT Pro"/>
              </a:rPr>
              <a:t>Single features processed linearly cannot create interactions</a:t>
            </a:r>
          </a:p>
          <a:p>
            <a:pPr marL="171450" indent="-171450">
              <a:spcBef>
                <a:spcPts val="150"/>
              </a:spcBef>
              <a:buFont typeface="Arial"/>
              <a:buChar char="•"/>
            </a:pPr>
            <a:r>
              <a:rPr lang="en-US" sz="1100" dirty="0">
                <a:solidFill>
                  <a:srgbClr val="463443"/>
                </a:solidFill>
                <a:latin typeface="Avenir Next LT Pro"/>
              </a:rPr>
              <a:t>Non-linearity is the source of feature coupling</a:t>
            </a:r>
          </a:p>
        </p:txBody>
      </p:sp>
      <p:sp>
        <p:nvSpPr>
          <p:cNvPr id="20" name="CardBg 20"/>
          <p:cNvSpPr/>
          <p:nvPr/>
        </p:nvSpPr>
        <p:spPr>
          <a:xfrm>
            <a:off x="6223000" y="2476500"/>
            <a:ext cx="5080000" cy="1841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DD6"/>
            </a:solidFill>
          </a:ln>
          <a:effectLst>
            <a:outerShdw blurRad="25400" dist="12700" dir="5400000" algn="t" rotWithShape="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1" name="Header 20"/>
          <p:cNvSpPr/>
          <p:nvPr/>
        </p:nvSpPr>
        <p:spPr>
          <a:xfrm>
            <a:off x="6223000" y="2476500"/>
            <a:ext cx="5080000" cy="482600"/>
          </a:xfrm>
          <a:prstGeom prst="roundRect">
            <a:avLst>
              <a:gd name="adj" fmla="val 5000"/>
            </a:avLst>
          </a:prstGeom>
          <a:solidFill>
            <a:srgbClr val="BF873A"/>
          </a:solidFill>
          <a:ln w="0">
            <a:noFill/>
          </a:ln>
        </p:spPr>
        <p:txBody>
          <a:bodyPr lIns="91440" tIns="0" rIns="9144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Georgia Pro Semibold"/>
              </a:rPr>
              <a:t>🔗 Weight Encoding</a:t>
            </a:r>
          </a:p>
        </p:txBody>
      </p:sp>
      <p:sp>
        <p:nvSpPr>
          <p:cNvPr id="22" name="Body 20"/>
          <p:cNvSpPr txBox="1"/>
          <p:nvPr/>
        </p:nvSpPr>
        <p:spPr>
          <a:xfrm>
            <a:off x="6375400" y="3035300"/>
            <a:ext cx="4775200" cy="1181100"/>
          </a:xfrm>
          <a:prstGeom prst="rect">
            <a:avLst/>
          </a:prstGeom>
          <a:noFill/>
        </p:spPr>
        <p:txBody>
          <a:bodyPr wrap="square" lIns="36000" tIns="36000" rIns="36000" bIns="36000" anchor="t"/>
          <a:lstStyle/>
          <a:p>
            <a:pPr marL="171450" indent="-171450">
              <a:spcBef>
                <a:spcPts val="100"/>
              </a:spcBef>
              <a:buFont typeface="Arial"/>
              <a:buChar char="•"/>
            </a:pPr>
            <a:r>
              <a:rPr lang="en-US" sz="1100" dirty="0">
                <a:solidFill>
                  <a:srgbClr val="463443"/>
                </a:solidFill>
                <a:latin typeface="Avenir Next LT Pro"/>
              </a:rPr>
              <a:t>Interaction paths are encoded directly in the weight matrices</a:t>
            </a:r>
          </a:p>
          <a:p>
            <a:pPr marL="171450" indent="-171450">
              <a:spcBef>
                <a:spcPts val="150"/>
              </a:spcBef>
              <a:buFont typeface="Arial"/>
              <a:buChar char="•"/>
            </a:pPr>
            <a:r>
              <a:rPr lang="en-US" sz="1100" dirty="0">
                <a:solidFill>
                  <a:srgbClr val="463443"/>
                </a:solidFill>
                <a:latin typeface="Avenir Next LT Pro"/>
              </a:rPr>
              <a:t>Hidden units act as interaction detectors for connected inputs</a:t>
            </a:r>
          </a:p>
          <a:p>
            <a:pPr marL="171450" indent="-171450">
              <a:spcBef>
                <a:spcPts val="150"/>
              </a:spcBef>
              <a:buFont typeface="Arial"/>
              <a:buChar char="•"/>
            </a:pPr>
            <a:r>
              <a:rPr lang="en-US" sz="1100" dirty="0">
                <a:solidFill>
                  <a:srgbClr val="463443"/>
                </a:solidFill>
                <a:latin typeface="Avenir Next LT Pro"/>
              </a:rPr>
              <a:t>Weight magnitude reflects interaction strength</a:t>
            </a:r>
          </a:p>
        </p:txBody>
      </p:sp>
      <p:sp>
        <p:nvSpPr>
          <p:cNvPr id="40" name="HowBg"/>
          <p:cNvSpPr/>
          <p:nvPr/>
        </p:nvSpPr>
        <p:spPr>
          <a:xfrm>
            <a:off x="698500" y="4445000"/>
            <a:ext cx="10604500" cy="1905000"/>
          </a:xfrm>
          <a:prstGeom prst="roundRect">
            <a:avLst>
              <a:gd name="adj" fmla="val 3000"/>
            </a:avLst>
          </a:prstGeom>
          <a:solidFill>
            <a:srgbClr val="F3F0E9"/>
          </a:solidFill>
          <a:ln w="12700">
            <a:solidFill>
              <a:srgbClr val="E0DDD6"/>
            </a:solidFill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1" name="HowTitle"/>
          <p:cNvSpPr txBox="1"/>
          <p:nvPr/>
        </p:nvSpPr>
        <p:spPr>
          <a:xfrm>
            <a:off x="889000" y="45212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300" b="1" dirty="0">
                <a:solidFill>
                  <a:srgbClr val="463443"/>
                </a:solidFill>
                <a:latin typeface="Georgia Pro Semibold"/>
              </a:rPr>
              <a:t>How NID Works</a:t>
            </a:r>
          </a:p>
        </p:txBody>
      </p:sp>
      <p:sp>
        <p:nvSpPr>
          <p:cNvPr id="50" name="Step0"/>
          <p:cNvSpPr txBox="1"/>
          <p:nvPr/>
        </p:nvSpPr>
        <p:spPr>
          <a:xfrm>
            <a:off x="952500" y="4978400"/>
            <a:ext cx="3048000" cy="952500"/>
          </a:xfrm>
          <a:prstGeom prst="rect">
            <a:avLst/>
          </a:prstGeom>
          <a:solidFill>
            <a:srgbClr val="FFFFFF"/>
          </a:solidFill>
          <a:ln w="6350">
            <a:solidFill>
              <a:srgbClr val="D45E5E"/>
            </a:solidFill>
          </a:ln>
        </p:spPr>
        <p:txBody>
          <a:bodyPr wrap="square" lIns="72000" tIns="36000" rIns="36000" bIns="36000" anchor="ctr"/>
          <a:lstStyle/>
          <a:p>
            <a:pPr>
              <a:buNone/>
            </a:pPr>
            <a:r>
              <a:rPr lang="en-US" sz="1300" b="1" dirty="0">
                <a:solidFill>
                  <a:srgbClr val="D45E5E"/>
                </a:solidFill>
                <a:latin typeface="Georgia Pro Semibold"/>
              </a:rPr>
              <a:t>1. </a:t>
            </a:r>
            <a:r>
              <a:rPr lang="en-US" sz="1050" dirty="0">
                <a:solidFill>
                  <a:srgbClr val="463443"/>
                </a:solidFill>
                <a:latin typeface="Avenir Next LT Pro"/>
              </a:rPr>
              <a:t>Trace high-strength weights from input features to hidden units</a:t>
            </a:r>
          </a:p>
        </p:txBody>
      </p:sp>
      <p:sp>
        <p:nvSpPr>
          <p:cNvPr id="55" name="Arrow0"/>
          <p:cNvSpPr/>
          <p:nvPr/>
        </p:nvSpPr>
        <p:spPr>
          <a:xfrm>
            <a:off x="4000500" y="5372100"/>
            <a:ext cx="228600" cy="152400"/>
          </a:xfrm>
          <a:prstGeom prst="rightArrow">
            <a:avLst/>
          </a:prstGeom>
          <a:solidFill>
            <a:srgbClr val="D49D8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Step1"/>
          <p:cNvSpPr txBox="1"/>
          <p:nvPr/>
        </p:nvSpPr>
        <p:spPr>
          <a:xfrm>
            <a:off x="4356100" y="4978400"/>
            <a:ext cx="3048000" cy="952500"/>
          </a:xfrm>
          <a:prstGeom prst="rect">
            <a:avLst/>
          </a:prstGeom>
          <a:solidFill>
            <a:srgbClr val="FFFFFF"/>
          </a:solidFill>
          <a:ln w="6350">
            <a:solidFill>
              <a:srgbClr val="BF873A"/>
            </a:solidFill>
          </a:ln>
        </p:spPr>
        <p:txBody>
          <a:bodyPr wrap="square" lIns="72000" tIns="36000" rIns="36000" bIns="36000" anchor="ctr"/>
          <a:lstStyle/>
          <a:p>
            <a:pPr>
              <a:buNone/>
            </a:pPr>
            <a:r>
              <a:rPr lang="en-US" sz="1300" b="1" dirty="0">
                <a:solidFill>
                  <a:srgbClr val="BF873A"/>
                </a:solidFill>
                <a:latin typeface="Georgia Pro Semibold"/>
              </a:rPr>
              <a:t>2. </a:t>
            </a:r>
            <a:r>
              <a:rPr lang="en-US" sz="1050" dirty="0">
                <a:solidFill>
                  <a:srgbClr val="463443"/>
                </a:solidFill>
                <a:latin typeface="Avenir Next LT Pro"/>
              </a:rPr>
              <a:t>Identify features sharing strong connections to the same hidden unit</a:t>
            </a:r>
          </a:p>
        </p:txBody>
      </p:sp>
      <p:sp>
        <p:nvSpPr>
          <p:cNvPr id="56" name="Arrow1"/>
          <p:cNvSpPr/>
          <p:nvPr/>
        </p:nvSpPr>
        <p:spPr>
          <a:xfrm>
            <a:off x="7404100" y="5372100"/>
            <a:ext cx="228600" cy="152400"/>
          </a:xfrm>
          <a:prstGeom prst="rightArrow">
            <a:avLst/>
          </a:prstGeom>
          <a:solidFill>
            <a:srgbClr val="D49D8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Step2"/>
          <p:cNvSpPr txBox="1"/>
          <p:nvPr/>
        </p:nvSpPr>
        <p:spPr>
          <a:xfrm>
            <a:off x="7759700" y="4978400"/>
            <a:ext cx="3048000" cy="952500"/>
          </a:xfrm>
          <a:prstGeom prst="rect">
            <a:avLst/>
          </a:prstGeom>
          <a:solidFill>
            <a:srgbClr val="FFFFFF"/>
          </a:solidFill>
          <a:ln w="6350">
            <a:solidFill>
              <a:srgbClr val="463443"/>
            </a:solidFill>
          </a:ln>
        </p:spPr>
        <p:txBody>
          <a:bodyPr wrap="square" lIns="72000" tIns="36000" rIns="36000" bIns="36000" anchor="ctr"/>
          <a:lstStyle/>
          <a:p>
            <a:pPr>
              <a:buNone/>
            </a:pPr>
            <a:r>
              <a:rPr lang="en-US" sz="1300" b="1" dirty="0">
                <a:solidFill>
                  <a:srgbClr val="463443"/>
                </a:solidFill>
                <a:latin typeface="Georgia Pro Semibold"/>
              </a:rPr>
              <a:t>3. </a:t>
            </a:r>
            <a:r>
              <a:rPr lang="en-US" sz="1050" dirty="0">
                <a:solidFill>
                  <a:srgbClr val="463443"/>
                </a:solidFill>
                <a:latin typeface="Avenir Next LT Pro"/>
              </a:rPr>
              <a:t>Features with shared hidden units are flagged as interacting</a:t>
            </a:r>
          </a:p>
        </p:txBody>
      </p:sp>
      <p:pic>
        <p:nvPicPr>
          <p:cNvPr id="61" name="Graphic 61" descr="Activation function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97200" y="2133600"/>
            <a:ext cx="304800" cy="304800"/>
          </a:xfrm>
          <a:prstGeom prst="rect">
            <a:avLst/>
          </a:prstGeom>
        </p:spPr>
      </p:pic>
      <p:pic>
        <p:nvPicPr>
          <p:cNvPr id="62" name="Graphic 62" descr="Weight encoding icon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21700" y="2133600"/>
            <a:ext cx="304800" cy="304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06CF89-209A-08B0-BC29-DE5517E193BC}"/>
              </a:ext>
            </a:extLst>
          </p:cNvPr>
          <p:cNvSpPr txBox="1"/>
          <p:nvPr/>
        </p:nvSpPr>
        <p:spPr>
          <a:xfrm>
            <a:off x="762000" y="6477000"/>
            <a:ext cx="10287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solidFill>
                  <a:srgbClr val="8F6B8A"/>
                </a:solidFill>
                <a:latin typeface="Avenir Next LT Pro"/>
              </a:rPr>
              <a:t>[3] Tsang et al., 2018  [4] van Hilten et al., 2025  [5] Liu et al., 2020</a:t>
            </a:r>
          </a:p>
        </p:txBody>
      </p:sp>
    </p:spTree>
    <p:extLst>
      <p:ext uri="{BB962C8B-B14F-4D97-AF65-F5344CB8AC3E}">
        <p14:creationId xmlns:p14="http://schemas.microsoft.com/office/powerpoint/2010/main" val="2851112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1437D-F42F-8E9B-0FED-7DE865D83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762000"/>
          </a:xfrm>
        </p:spPr>
        <p:txBody>
          <a:bodyPr/>
          <a:lstStyle/>
          <a:p>
            <a:r>
              <a:rPr lang="en-US" dirty="0"/>
              <a:t>Regularization Techniques</a:t>
            </a:r>
          </a:p>
        </p:txBody>
      </p:sp>
      <p:sp>
        <p:nvSpPr>
          <p:cNvPr id="60" name="Subtitle"/>
          <p:cNvSpPr txBox="1"/>
          <p:nvPr/>
        </p:nvSpPr>
        <p:spPr>
          <a:xfrm>
            <a:off x="825500" y="1625600"/>
            <a:ext cx="95250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i="1" dirty="0">
                <a:solidFill>
                  <a:srgbClr val="8F6B8A"/>
                </a:solidFill>
                <a:latin typeface="Avenir Next LT Pro"/>
              </a:rPr>
              <a:t>How each technique shapes what the MLP learns about feature interactions</a:t>
            </a:r>
          </a:p>
        </p:txBody>
      </p:sp>
      <p:sp>
        <p:nvSpPr>
          <p:cNvPr id="10" name="CardBg10"/>
          <p:cNvSpPr/>
          <p:nvPr/>
        </p:nvSpPr>
        <p:spPr>
          <a:xfrm>
            <a:off x="635000" y="2324100"/>
            <a:ext cx="5207000" cy="292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DDD6"/>
            </a:solidFill>
          </a:ln>
          <a:effectLst>
            <a:outerShdw blurRad="25400" dist="12700" dir="5400000" algn="t" rotWithShape="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Header10"/>
          <p:cNvSpPr/>
          <p:nvPr/>
        </p:nvSpPr>
        <p:spPr>
          <a:xfrm>
            <a:off x="635000" y="2324100"/>
            <a:ext cx="5207000" cy="508000"/>
          </a:xfrm>
          <a:prstGeom prst="roundRect">
            <a:avLst>
              <a:gd name="adj" fmla="val 4000"/>
            </a:avLst>
          </a:prstGeom>
          <a:solidFill>
            <a:srgbClr val="D45E5E"/>
          </a:solidFill>
          <a:ln w="0">
            <a:noFill/>
          </a:ln>
        </p:spPr>
        <p:txBody>
          <a:bodyPr lIns="91440" tIns="0" rIns="91440" bIns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Georgia Pro Semibold"/>
              </a:rPr>
              <a:t>✂ Dropout</a:t>
            </a:r>
          </a:p>
        </p:txBody>
      </p:sp>
      <p:sp>
        <p:nvSpPr>
          <p:cNvPr id="12" name="Body10"/>
          <p:cNvSpPr txBox="1"/>
          <p:nvPr/>
        </p:nvSpPr>
        <p:spPr>
          <a:xfrm>
            <a:off x="812800" y="2908300"/>
            <a:ext cx="4851400" cy="2235200"/>
          </a:xfrm>
          <a:prstGeom prst="rect">
            <a:avLst/>
          </a:prstGeom>
          <a:noFill/>
        </p:spPr>
        <p:txBody>
          <a:bodyPr wrap="square" lIns="36000" tIns="36000" rIns="36000" bIns="36000" anchor="t"/>
          <a:lstStyle/>
          <a:p>
            <a:pPr>
              <a:buNone/>
            </a:pPr>
            <a:r>
              <a:rPr lang="en-US" sz="1100" b="1" dirty="0">
                <a:solidFill>
                  <a:srgbClr val="D45E5E"/>
                </a:solidFill>
                <a:latin typeface="Georgia Pro Semibold"/>
              </a:rPr>
              <a:t>Mechanism</a:t>
            </a:r>
          </a:p>
          <a:p>
            <a:pPr marL="171450" indent="-171450">
              <a:spcBef>
                <a:spcPts val="100"/>
              </a:spcBef>
              <a:buFont typeface="Arial"/>
              <a:buChar char="•"/>
            </a:pPr>
            <a:r>
              <a:rPr lang="en-US" sz="1050" dirty="0">
                <a:solidFill>
                  <a:srgbClr val="463443"/>
                </a:solidFill>
                <a:latin typeface="Avenir Next LT Pro"/>
              </a:rPr>
              <a:t>Randomly removes units during training, sampling thinned sub-networks</a:t>
            </a:r>
          </a:p>
          <a:p>
            <a:pPr>
              <a:buNone/>
            </a:pPr>
            <a:r>
              <a:rPr lang="en-US" sz="1100" b="1" dirty="0">
                <a:solidFill>
                  <a:srgbClr val="D45E5E"/>
                </a:solidFill>
                <a:latin typeface="Georgia Pro Semibold"/>
              </a:rPr>
              <a:t>Effect on Training</a:t>
            </a:r>
          </a:p>
          <a:p>
            <a:pPr marL="171450" indent="-171450">
              <a:spcBef>
                <a:spcPts val="100"/>
              </a:spcBef>
              <a:buFont typeface="Arial"/>
              <a:buChar char="•"/>
            </a:pPr>
            <a:r>
              <a:rPr lang="en-US" sz="1050" dirty="0">
                <a:solidFill>
                  <a:srgbClr val="463443"/>
                </a:solidFill>
                <a:latin typeface="Avenir Next LT Pro"/>
              </a:rPr>
              <a:t>Forces robust features; prevents co-adaptation between units</a:t>
            </a:r>
          </a:p>
          <a:p>
            <a:pPr>
              <a:buNone/>
            </a:pPr>
            <a:r>
              <a:rPr lang="en-US" sz="1100" b="1" dirty="0">
                <a:solidFill>
                  <a:srgbClr val="D45E5E"/>
                </a:solidFill>
                <a:latin typeface="Georgia Pro Semibold"/>
              </a:rPr>
              <a:t>Impact on Interactions</a:t>
            </a:r>
          </a:p>
          <a:p>
            <a:pPr marL="171450" indent="-171450">
              <a:spcBef>
                <a:spcPts val="100"/>
              </a:spcBef>
              <a:buFont typeface="Arial"/>
              <a:buChar char="•"/>
            </a:pPr>
            <a:r>
              <a:rPr lang="en-US" sz="1050" dirty="0">
                <a:solidFill>
                  <a:srgbClr val="463443"/>
                </a:solidFill>
                <a:latin typeface="Avenir Next LT Pro"/>
              </a:rPr>
              <a:t>Selectively decays higher-order interactions — prioritizes simple, additive patterns first</a:t>
            </a:r>
          </a:p>
        </p:txBody>
      </p:sp>
      <p:sp>
        <p:nvSpPr>
          <p:cNvPr id="20" name="CardBg20"/>
          <p:cNvSpPr/>
          <p:nvPr/>
        </p:nvSpPr>
        <p:spPr>
          <a:xfrm>
            <a:off x="6350000" y="2324100"/>
            <a:ext cx="5207000" cy="292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DDD6"/>
            </a:solidFill>
          </a:ln>
          <a:effectLst>
            <a:outerShdw blurRad="25400" dist="12700" dir="5400000" algn="t" rotWithShape="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1" name="Header20"/>
          <p:cNvSpPr/>
          <p:nvPr/>
        </p:nvSpPr>
        <p:spPr>
          <a:xfrm>
            <a:off x="6350000" y="2324100"/>
            <a:ext cx="5207000" cy="508000"/>
          </a:xfrm>
          <a:prstGeom prst="roundRect">
            <a:avLst>
              <a:gd name="adj" fmla="val 4000"/>
            </a:avLst>
          </a:prstGeom>
          <a:solidFill>
            <a:srgbClr val="BF873A"/>
          </a:solidFill>
          <a:ln w="0">
            <a:noFill/>
          </a:ln>
        </p:spPr>
        <p:txBody>
          <a:bodyPr lIns="91440" tIns="0" rIns="91440" bIns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Georgia Pro Semibold"/>
              </a:rPr>
              <a:t>⚖ L2 Regularization (Weight Decay)</a:t>
            </a:r>
          </a:p>
        </p:txBody>
      </p:sp>
      <p:sp>
        <p:nvSpPr>
          <p:cNvPr id="22" name="Body20"/>
          <p:cNvSpPr txBox="1"/>
          <p:nvPr/>
        </p:nvSpPr>
        <p:spPr>
          <a:xfrm>
            <a:off x="6527800" y="2908300"/>
            <a:ext cx="4851400" cy="2235200"/>
          </a:xfrm>
          <a:prstGeom prst="rect">
            <a:avLst/>
          </a:prstGeom>
          <a:noFill/>
        </p:spPr>
        <p:txBody>
          <a:bodyPr wrap="square" lIns="36000" tIns="36000" rIns="36000" bIns="36000" anchor="t"/>
          <a:lstStyle/>
          <a:p>
            <a:pPr>
              <a:buNone/>
            </a:pPr>
            <a:r>
              <a:rPr lang="en-US" sz="1100" b="1" dirty="0">
                <a:solidFill>
                  <a:srgbClr val="BF873A"/>
                </a:solidFill>
                <a:latin typeface="Georgia Pro Semibold"/>
              </a:rPr>
              <a:t>Mechanism</a:t>
            </a:r>
          </a:p>
          <a:p>
            <a:pPr marL="171450" indent="-171450">
              <a:spcBef>
                <a:spcPts val="100"/>
              </a:spcBef>
              <a:buFont typeface="Arial"/>
              <a:buChar char="•"/>
            </a:pPr>
            <a:r>
              <a:rPr lang="en-US" sz="1050" dirty="0">
                <a:solidFill>
                  <a:srgbClr val="463443"/>
                </a:solidFill>
                <a:latin typeface="Avenir Next LT Pro"/>
              </a:rPr>
              <a:t>Adds parameter norm penalty, shrinking weights toward zero</a:t>
            </a:r>
          </a:p>
          <a:p>
            <a:pPr>
              <a:buNone/>
            </a:pPr>
            <a:r>
              <a:rPr lang="en-US" sz="1100" b="1" dirty="0">
                <a:solidFill>
                  <a:srgbClr val="BF873A"/>
                </a:solidFill>
                <a:latin typeface="Georgia Pro Semibold"/>
              </a:rPr>
              <a:t>Effect on Training</a:t>
            </a:r>
          </a:p>
          <a:p>
            <a:pPr marL="171450" indent="-171450">
              <a:spcBef>
                <a:spcPts val="100"/>
              </a:spcBef>
              <a:buFont typeface="Arial"/>
              <a:buChar char="•"/>
            </a:pPr>
            <a:r>
              <a:rPr lang="en-US" sz="1050" dirty="0">
                <a:solidFill>
                  <a:srgbClr val="463443"/>
                </a:solidFill>
                <a:latin typeface="Avenir Next LT Pro"/>
              </a:rPr>
              <a:t>Limits model capacity by penalizing large weight magnitudes</a:t>
            </a:r>
          </a:p>
          <a:p>
            <a:pPr>
              <a:buNone/>
            </a:pPr>
            <a:r>
              <a:rPr lang="en-US" sz="1100" b="1" dirty="0">
                <a:solidFill>
                  <a:srgbClr val="BF873A"/>
                </a:solidFill>
                <a:latin typeface="Georgia Pro Semibold"/>
              </a:rPr>
              <a:t>Impact on Interactions</a:t>
            </a:r>
          </a:p>
          <a:p>
            <a:pPr marL="171450" indent="-171450">
              <a:spcBef>
                <a:spcPts val="100"/>
              </a:spcBef>
              <a:buFont typeface="Arial"/>
              <a:buChar char="•"/>
            </a:pPr>
            <a:r>
              <a:rPr lang="en-US" sz="1050" dirty="0">
                <a:solidFill>
                  <a:srgbClr val="463443"/>
                </a:solidFill>
                <a:latin typeface="Avenir Next LT Pro"/>
              </a:rPr>
              <a:t>Does not specifically target interaction order — applies uniformly to all weights</a:t>
            </a:r>
          </a:p>
          <a:p>
            <a:pPr marL="171450" indent="-171450">
              <a:spcBef>
                <a:spcPts val="100"/>
              </a:spcBef>
              <a:buFont typeface="Arial"/>
              <a:buChar char="⚠"/>
            </a:pPr>
            <a:r>
              <a:rPr lang="en-US" sz="1000" i="1" dirty="0">
                <a:solidFill>
                  <a:srgbClr val="8F6B8A"/>
                </a:solidFill>
                <a:latin typeface="Avenir Next LT Pro"/>
              </a:rPr>
              <a:t>Strong L2 can cause instability, learning only constant functions</a:t>
            </a:r>
          </a:p>
        </p:txBody>
      </p:sp>
      <p:sp>
        <p:nvSpPr>
          <p:cNvPr id="40" name="Takeaway"/>
          <p:cNvSpPr/>
          <p:nvPr/>
        </p:nvSpPr>
        <p:spPr>
          <a:xfrm>
            <a:off x="635000" y="5461000"/>
            <a:ext cx="10922000" cy="635000"/>
          </a:xfrm>
          <a:prstGeom prst="roundRect">
            <a:avLst>
              <a:gd name="adj" fmla="val 8000"/>
            </a:avLst>
          </a:prstGeom>
          <a:solidFill>
            <a:srgbClr val="463443"/>
          </a:solidFill>
          <a:ln w="0">
            <a:noFill/>
          </a:ln>
        </p:spPr>
        <p:txBody>
          <a:bodyPr wrap="square" lIns="91440" tIns="36000" rIns="91440" bIns="36000" anchor="ctr"/>
          <a:lstStyle/>
          <a:p>
            <a:pPr algn="ctr">
              <a:buNone/>
            </a:pPr>
            <a:r>
              <a:rPr lang="en-US" sz="1200" b="1" dirty="0">
                <a:solidFill>
                  <a:srgbClr val="D45E5E"/>
                </a:solidFill>
                <a:latin typeface="Georgia Pro Semibold"/>
              </a:rPr>
              <a:t>Key difference: </a:t>
            </a:r>
            <a:r>
              <a:rPr lang="en-US" sz="1200" dirty="0">
                <a:solidFill>
                  <a:srgbClr val="FFFFFF"/>
                </a:solidFill>
                <a:latin typeface="Avenir Next LT Pro"/>
              </a:rPr>
              <a:t>Dropout selectively suppresses spurious high-order interactions that L2 cannot distinguish from genuine ones</a:t>
            </a:r>
          </a:p>
        </p:txBody>
      </p:sp>
      <p:pic>
        <p:nvPicPr>
          <p:cNvPr id="61" name="Graphic 61" descr="Dropout scissors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46400" y="2070100"/>
            <a:ext cx="279400" cy="279400"/>
          </a:xfrm>
          <a:prstGeom prst="rect">
            <a:avLst/>
          </a:prstGeom>
        </p:spPr>
      </p:pic>
      <p:pic>
        <p:nvPicPr>
          <p:cNvPr id="62" name="Graphic 62" descr="L2 weight scale icon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61400" y="2070100"/>
            <a:ext cx="279400" cy="279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9E840E-8619-CCC0-7A7C-DE6F0A77045B}"/>
              </a:ext>
            </a:extLst>
          </p:cNvPr>
          <p:cNvSpPr txBox="1"/>
          <p:nvPr/>
        </p:nvSpPr>
        <p:spPr>
          <a:xfrm>
            <a:off x="762000" y="6477000"/>
            <a:ext cx="10287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solidFill>
                  <a:srgbClr val="8F6B8A"/>
                </a:solidFill>
                <a:latin typeface="Avenir Next LT Pro"/>
              </a:rPr>
              <a:t>[6] Srivastava et al., 2014  [7] Goodfellow et al., 2016  [8] Lengerich et al., 2022</a:t>
            </a:r>
          </a:p>
        </p:txBody>
      </p:sp>
    </p:spTree>
    <p:extLst>
      <p:ext uri="{BB962C8B-B14F-4D97-AF65-F5344CB8AC3E}">
        <p14:creationId xmlns:p14="http://schemas.microsoft.com/office/powerpoint/2010/main" val="1870221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658F-B35D-4AFF-CE03-6BB24EA56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411956"/>
            <a:ext cx="10077557" cy="1325563"/>
          </a:xfrm>
        </p:spPr>
        <p:txBody>
          <a:bodyPr/>
          <a:lstStyle/>
          <a:p>
            <a:r>
              <a:rPr lang="en-US" dirty="0"/>
              <a:t>Synthetic Data and GT Interactions</a:t>
            </a:r>
          </a:p>
        </p:txBody>
      </p:sp>
      <p:sp>
        <p:nvSpPr>
          <p:cNvPr id="10" name="Card 10"/>
          <p:cNvSpPr/>
          <p:nvPr/>
        </p:nvSpPr>
        <p:spPr>
          <a:xfrm>
            <a:off x="698500" y="2286000"/>
            <a:ext cx="3429000" cy="3619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DD6"/>
            </a:solidFill>
          </a:ln>
          <a:effectLst>
            <a:outerShdw blurRad="38100" dist="19050" dir="5400000" algn="t" rotWithShape="0">
              <a:srgbClr val="000000">
                <a:alpha val="15000"/>
              </a:srgbClr>
            </a:outerShdw>
          </a:effectLst>
        </p:spPr>
        <p:txBody>
          <a:bodyPr lIns="0" tIns="0" rIns="0" bIns="0" anchor="t"/>
          <a:lstStyle/>
          <a:p>
            <a:endParaRPr lang="en-US"/>
          </a:p>
        </p:txBody>
      </p:sp>
      <p:sp>
        <p:nvSpPr>
          <p:cNvPr id="11" name="Header 10"/>
          <p:cNvSpPr/>
          <p:nvPr/>
        </p:nvSpPr>
        <p:spPr>
          <a:xfrm>
            <a:off x="698500" y="2286000"/>
            <a:ext cx="3429000" cy="571500"/>
          </a:xfrm>
          <a:prstGeom prst="roundRect">
            <a:avLst>
              <a:gd name="adj" fmla="val 5000"/>
            </a:avLst>
          </a:prstGeom>
          <a:solidFill>
            <a:srgbClr val="D45E5E"/>
          </a:solidFill>
          <a:ln w="0">
            <a:noFill/>
          </a:ln>
        </p:spPr>
        <p:txBody>
          <a:bodyPr lIns="91440" tIns="0" rIns="91440" bIns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Georgia Pro Semibold"/>
              </a:rPr>
              <a:t>Synthetic Data</a:t>
            </a:r>
          </a:p>
        </p:txBody>
      </p:sp>
      <p:sp>
        <p:nvSpPr>
          <p:cNvPr id="12" name="Body 10"/>
          <p:cNvSpPr txBox="1"/>
          <p:nvPr/>
        </p:nvSpPr>
        <p:spPr>
          <a:xfrm>
            <a:off x="850900" y="2984500"/>
            <a:ext cx="3124200" cy="3111500"/>
          </a:xfrm>
          <a:prstGeom prst="rect">
            <a:avLst/>
          </a:prstGeom>
          <a:noFill/>
        </p:spPr>
        <p:txBody>
          <a:bodyPr wrap="square" lIns="36000" tIns="36000" rIns="36000" bIns="36000" anchor="t"/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en-US" sz="1100" dirty="0">
                <a:solidFill>
                  <a:srgbClr val="463443"/>
                </a:solidFill>
                <a:latin typeface="Avenir Next LT Pro"/>
              </a:rPr>
              <a:t>10 functions, each with 10 input features (x₁ ... x₁₀)</a:t>
            </a:r>
          </a:p>
          <a:p>
            <a:pPr marL="171450" indent="-171450">
              <a:spcBef>
                <a:spcPts val="200"/>
              </a:spcBef>
              <a:buFont typeface="Arial"/>
              <a:buChar char="•"/>
            </a:pPr>
            <a:r>
              <a:rPr lang="en-US" sz="1100" dirty="0">
                <a:solidFill>
                  <a:srgbClr val="463443"/>
                </a:solidFill>
                <a:latin typeface="Avenir Next LT Pro"/>
              </a:rPr>
              <a:t>Designed with known mathematical structure</a:t>
            </a:r>
          </a:p>
          <a:p>
            <a:pPr marL="171450" indent="-171450">
              <a:spcBef>
                <a:spcPts val="200"/>
              </a:spcBef>
              <a:buFont typeface="Arial"/>
              <a:buChar char="•"/>
            </a:pPr>
            <a:r>
              <a:rPr lang="en-US" sz="1100" dirty="0">
                <a:solidFill>
                  <a:srgbClr val="463443"/>
                </a:solidFill>
                <a:latin typeface="Avenir Next LT Pro"/>
              </a:rPr>
              <a:t>30 000 samples per function from uniform distribution</a:t>
            </a:r>
          </a:p>
          <a:p>
            <a:pPr marL="171450" indent="-171450">
              <a:spcBef>
                <a:spcPts val="200"/>
              </a:spcBef>
              <a:buFont typeface="Arial"/>
              <a:buChar char="•"/>
            </a:pPr>
            <a:r>
              <a:rPr lang="en-US" sz="1100" dirty="0">
                <a:solidFill>
                  <a:srgbClr val="463443"/>
                </a:solidFill>
                <a:latin typeface="Avenir Next LT Pro"/>
              </a:rPr>
              <a:t>Controlled complexity across functions</a:t>
            </a:r>
          </a:p>
        </p:txBody>
      </p:sp>
      <p:sp>
        <p:nvSpPr>
          <p:cNvPr id="20" name="Card 20"/>
          <p:cNvSpPr/>
          <p:nvPr/>
        </p:nvSpPr>
        <p:spPr>
          <a:xfrm>
            <a:off x="4381500" y="2286000"/>
            <a:ext cx="3429000" cy="3619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DD6"/>
            </a:solidFill>
          </a:ln>
          <a:effectLst>
            <a:outerShdw blurRad="38100" dist="19050" dir="5400000" algn="t" rotWithShape="0">
              <a:srgbClr val="000000">
                <a:alpha val="15000"/>
              </a:srgbClr>
            </a:outerShdw>
          </a:effectLst>
        </p:spPr>
        <p:txBody>
          <a:bodyPr lIns="0" tIns="0" rIns="0" bIns="0" anchor="t"/>
          <a:lstStyle/>
          <a:p>
            <a:endParaRPr lang="en-US"/>
          </a:p>
        </p:txBody>
      </p:sp>
      <p:sp>
        <p:nvSpPr>
          <p:cNvPr id="21" name="Header 20"/>
          <p:cNvSpPr/>
          <p:nvPr/>
        </p:nvSpPr>
        <p:spPr>
          <a:xfrm>
            <a:off x="4381500" y="2286000"/>
            <a:ext cx="3429000" cy="571500"/>
          </a:xfrm>
          <a:prstGeom prst="roundRect">
            <a:avLst>
              <a:gd name="adj" fmla="val 5000"/>
            </a:avLst>
          </a:prstGeom>
          <a:solidFill>
            <a:srgbClr val="BF873A"/>
          </a:solidFill>
          <a:ln w="0">
            <a:noFill/>
          </a:ln>
        </p:spPr>
        <p:txBody>
          <a:bodyPr lIns="91440" tIns="0" rIns="91440" bIns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Georgia Pro Semibold"/>
              </a:rPr>
              <a:t>Ground Truth</a:t>
            </a:r>
          </a:p>
        </p:txBody>
      </p:sp>
      <p:sp>
        <p:nvSpPr>
          <p:cNvPr id="22" name="Body 20"/>
          <p:cNvSpPr txBox="1"/>
          <p:nvPr/>
        </p:nvSpPr>
        <p:spPr>
          <a:xfrm>
            <a:off x="4533900" y="2984500"/>
            <a:ext cx="3124200" cy="3111500"/>
          </a:xfrm>
          <a:prstGeom prst="rect">
            <a:avLst/>
          </a:prstGeom>
          <a:noFill/>
        </p:spPr>
        <p:txBody>
          <a:bodyPr wrap="square" lIns="36000" tIns="36000" rIns="36000" bIns="36000" anchor="t"/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en-US" sz="1100" dirty="0">
                <a:solidFill>
                  <a:srgbClr val="463443"/>
                </a:solidFill>
                <a:latin typeface="Avenir Next LT Pro"/>
              </a:rPr>
              <a:t>Interactions = non-additive effects between features</a:t>
            </a:r>
          </a:p>
          <a:p>
            <a:pPr marL="171450" indent="-171450">
              <a:spcBef>
                <a:spcPts val="200"/>
              </a:spcBef>
              <a:buFont typeface="Arial"/>
              <a:buChar char="•"/>
            </a:pPr>
            <a:r>
              <a:rPr lang="en-US" sz="1100" dirty="0">
                <a:solidFill>
                  <a:srgbClr val="463443"/>
                </a:solidFill>
                <a:latin typeface="Avenir Next LT Pro"/>
              </a:rPr>
              <a:t>Derived from functional decomposition of each f(x)</a:t>
            </a:r>
          </a:p>
          <a:p>
            <a:pPr marL="171450" indent="-171450">
              <a:spcBef>
                <a:spcPts val="200"/>
              </a:spcBef>
              <a:buFont typeface="Arial"/>
              <a:buChar char="•"/>
            </a:pPr>
            <a:r>
              <a:rPr lang="en-US" sz="1100" dirty="0">
                <a:solidFill>
                  <a:srgbClr val="463443"/>
                </a:solidFill>
                <a:latin typeface="Avenir Next LT Pro"/>
              </a:rPr>
              <a:t>4–7 interaction groups per function</a:t>
            </a:r>
          </a:p>
          <a:p>
            <a:pPr marL="171450" indent="-171450">
              <a:spcBef>
                <a:spcPts val="200"/>
              </a:spcBef>
              <a:buFont typeface="Arial"/>
              <a:buChar char="•"/>
            </a:pPr>
            <a:r>
              <a:rPr lang="en-US" sz="1100" dirty="0">
                <a:solidFill>
                  <a:srgbClr val="463443"/>
                </a:solidFill>
                <a:latin typeface="Avenir Next LT Pro"/>
              </a:rPr>
              <a:t>Groups range from pairs to 5-way interactions</a:t>
            </a:r>
          </a:p>
        </p:txBody>
      </p:sp>
      <p:sp>
        <p:nvSpPr>
          <p:cNvPr id="30" name="Card 30"/>
          <p:cNvSpPr/>
          <p:nvPr/>
        </p:nvSpPr>
        <p:spPr>
          <a:xfrm>
            <a:off x="8064500" y="2286000"/>
            <a:ext cx="3429000" cy="3619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DD6"/>
            </a:solidFill>
          </a:ln>
          <a:effectLst>
            <a:outerShdw blurRad="38100" dist="19050" dir="5400000" algn="t" rotWithShape="0">
              <a:srgbClr val="000000">
                <a:alpha val="15000"/>
              </a:srgbClr>
            </a:outerShdw>
          </a:effectLst>
        </p:spPr>
        <p:txBody>
          <a:bodyPr lIns="0" tIns="0" rIns="0" bIns="0" anchor="t"/>
          <a:lstStyle/>
          <a:p>
            <a:endParaRPr lang="en-US"/>
          </a:p>
        </p:txBody>
      </p:sp>
      <p:sp>
        <p:nvSpPr>
          <p:cNvPr id="31" name="Header 30"/>
          <p:cNvSpPr/>
          <p:nvPr/>
        </p:nvSpPr>
        <p:spPr>
          <a:xfrm>
            <a:off x="8064500" y="2286000"/>
            <a:ext cx="3429000" cy="571500"/>
          </a:xfrm>
          <a:prstGeom prst="roundRect">
            <a:avLst>
              <a:gd name="adj" fmla="val 5000"/>
            </a:avLst>
          </a:prstGeom>
          <a:solidFill>
            <a:srgbClr val="463443"/>
          </a:solidFill>
          <a:ln w="0">
            <a:noFill/>
          </a:ln>
        </p:spPr>
        <p:txBody>
          <a:bodyPr lIns="91440" tIns="0" rIns="91440" bIns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Georgia Pro Semibold"/>
              </a:rPr>
              <a:t>Why Synthetic?</a:t>
            </a:r>
          </a:p>
        </p:txBody>
      </p:sp>
      <p:sp>
        <p:nvSpPr>
          <p:cNvPr id="32" name="Body 30"/>
          <p:cNvSpPr txBox="1"/>
          <p:nvPr/>
        </p:nvSpPr>
        <p:spPr>
          <a:xfrm>
            <a:off x="8216900" y="2984500"/>
            <a:ext cx="3124200" cy="3111500"/>
          </a:xfrm>
          <a:prstGeom prst="rect">
            <a:avLst/>
          </a:prstGeom>
          <a:noFill/>
        </p:spPr>
        <p:txBody>
          <a:bodyPr wrap="square" lIns="36000" tIns="36000" rIns="36000" bIns="36000" anchor="t"/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en-US" sz="1100" dirty="0">
                <a:solidFill>
                  <a:srgbClr val="463443"/>
                </a:solidFill>
                <a:latin typeface="Avenir Next LT Pro"/>
              </a:rPr>
              <a:t>Real datasets lack known ground truth interactions</a:t>
            </a:r>
          </a:p>
          <a:p>
            <a:pPr marL="171450" indent="-171450">
              <a:spcBef>
                <a:spcPts val="200"/>
              </a:spcBef>
              <a:buFont typeface="Arial"/>
              <a:buChar char="•"/>
            </a:pPr>
            <a:r>
              <a:rPr lang="en-US" sz="1100" dirty="0">
                <a:solidFill>
                  <a:srgbClr val="463443"/>
                </a:solidFill>
                <a:latin typeface="Avenir Next LT Pro"/>
              </a:rPr>
              <a:t>Enables exact measurement of recovery rate and fidelity</a:t>
            </a:r>
          </a:p>
          <a:p>
            <a:pPr marL="171450" indent="-171450">
              <a:spcBef>
                <a:spcPts val="200"/>
              </a:spcBef>
              <a:buFont typeface="Arial"/>
              <a:buChar char="•"/>
            </a:pPr>
            <a:r>
              <a:rPr lang="en-US" sz="1100" dirty="0">
                <a:solidFill>
                  <a:srgbClr val="463443"/>
                </a:solidFill>
                <a:latin typeface="Avenir Next LT Pro"/>
              </a:rPr>
              <a:t>Controlled comparison across regularization conditions</a:t>
            </a:r>
          </a:p>
          <a:p>
            <a:pPr marL="171450" indent="-171450">
              <a:spcBef>
                <a:spcPts val="200"/>
              </a:spcBef>
              <a:buFont typeface="Arial"/>
              <a:buChar char="•"/>
            </a:pPr>
            <a:r>
              <a:rPr lang="en-US" sz="1100" dirty="0">
                <a:solidFill>
                  <a:srgbClr val="463443"/>
                </a:solidFill>
                <a:latin typeface="Avenir Next LT Pro"/>
              </a:rPr>
              <a:t>Reproducible benchmarking of NID methods</a:t>
            </a:r>
          </a:p>
        </p:txBody>
      </p:sp>
      <p:sp>
        <p:nvSpPr>
          <p:cNvPr id="50" name="References"/>
          <p:cNvSpPr txBox="1"/>
          <p:nvPr/>
        </p:nvSpPr>
        <p:spPr>
          <a:xfrm>
            <a:off x="762000" y="6477000"/>
            <a:ext cx="102870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900" i="1" dirty="0">
                <a:solidFill>
                  <a:srgbClr val="8F6B8A"/>
                </a:solidFill>
                <a:latin typeface="Avenir Next LT Pro"/>
              </a:rPr>
              <a:t>[1] Enouen &amp; Liu, 2022  [2] Wong, Wang &amp; Hryniowski, 2020</a:t>
            </a:r>
          </a:p>
        </p:txBody>
      </p:sp>
      <p:pic>
        <p:nvPicPr>
          <p:cNvPr id="51" name="Graphic 51" descr="Flask icon for Synthetic Data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5500" y="1905000"/>
            <a:ext cx="381000" cy="381000"/>
          </a:xfrm>
          <a:prstGeom prst="rect">
            <a:avLst/>
          </a:prstGeom>
        </p:spPr>
      </p:pic>
      <p:pic>
        <p:nvPicPr>
          <p:cNvPr id="52" name="Graphic 52" descr="Target icon for Ground Truth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8500" y="1905000"/>
            <a:ext cx="381000" cy="381000"/>
          </a:xfrm>
          <a:prstGeom prst="rect">
            <a:avLst/>
          </a:prstGeom>
        </p:spPr>
      </p:pic>
      <p:pic>
        <p:nvPicPr>
          <p:cNvPr id="53" name="Graphic 53" descr="Checklist icon for Why Synthetic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61500" y="19050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150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E0211-6CA9-5DFC-0156-78E76D945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330231-0874-DDF9-196D-AF8D5750A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586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D7FD5-D303-A6F3-173F-D3A357223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1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BAC57B1-3259-DCC3-C54F-7EE7D1087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4668" y="439047"/>
            <a:ext cx="8532128" cy="696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0C13B7-1FA3-C95D-481D-2E62626A5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889" y="1206502"/>
            <a:ext cx="6391659" cy="5289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007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8ED5B-1F05-8AC1-0FF9-7EE631DAA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2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AE65990B-123E-4E1E-669E-2D0913841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057" y="588564"/>
            <a:ext cx="7936272" cy="647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0D8199-A5E4-BD4E-C66D-D9514DAC6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865" y="1349381"/>
            <a:ext cx="6107382" cy="550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242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C5076-3A7A-6EBB-8B73-51FFE27FB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3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1E6941-1B32-17B8-7CF4-39D48353F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897" y="1303730"/>
            <a:ext cx="6367953" cy="555427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7D5A1C24-BFAF-E387-30BF-557687DB1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8039" y="486697"/>
            <a:ext cx="7281882" cy="49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7601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75B60-3923-163C-7545-628D9F3DE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4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2C79D403-235D-7094-F662-1F1AC9E64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098" y="521148"/>
            <a:ext cx="8938326" cy="531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DACC53-DDD4-E74C-7941-3F56E911E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3228" y="1094154"/>
            <a:ext cx="6717907" cy="534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071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78408-8E04-5656-CB0C-0021444DD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5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65FC93-7A50-4A18-B210-ECDFCBECF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136" y="1210438"/>
            <a:ext cx="6702648" cy="5451370"/>
          </a:xfrm>
          <a:prstGeom prst="rect">
            <a:avLst/>
          </a:prstGeom>
        </p:spPr>
      </p:pic>
      <p:pic>
        <p:nvPicPr>
          <p:cNvPr id="6" name="Picture 10">
            <a:extLst>
              <a:ext uri="{FF2B5EF4-FFF2-40B4-BE49-F238E27FC236}">
                <a16:creationId xmlns:a16="http://schemas.microsoft.com/office/drawing/2014/main" id="{2B0CCDA6-2E39-1EA7-6408-B2CF2DFDA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204" y="289847"/>
            <a:ext cx="5629825" cy="49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5609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85ED3-0EE8-E822-92F2-854455755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6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4C4B6D-38A6-B97D-BF32-54D5279B4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870" y="1191052"/>
            <a:ext cx="6372627" cy="5422399"/>
          </a:xfrm>
          <a:prstGeom prst="rect">
            <a:avLst/>
          </a:prstGeom>
        </p:spPr>
      </p:pic>
      <p:pic>
        <p:nvPicPr>
          <p:cNvPr id="6" name="Picture 12">
            <a:extLst>
              <a:ext uri="{FF2B5EF4-FFF2-40B4-BE49-F238E27FC236}">
                <a16:creationId xmlns:a16="http://schemas.microsoft.com/office/drawing/2014/main" id="{7BFA685A-2BCF-D831-3C7D-DC00D2011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6026" y="393368"/>
            <a:ext cx="6616700" cy="39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4314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78A45-BAE2-343F-ED83-AA916D1F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7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BE7726-4B2E-1BCF-7E3D-8A047155D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652" y="1155074"/>
            <a:ext cx="6689659" cy="5405245"/>
          </a:xfrm>
          <a:prstGeom prst="rect">
            <a:avLst/>
          </a:prstGeom>
        </p:spPr>
      </p:pic>
      <p:pic>
        <p:nvPicPr>
          <p:cNvPr id="6" name="Picture 14">
            <a:extLst>
              <a:ext uri="{FF2B5EF4-FFF2-40B4-BE49-F238E27FC236}">
                <a16:creationId xmlns:a16="http://schemas.microsoft.com/office/drawing/2014/main" id="{AFF27847-E48B-9222-7F06-81BFF17A5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744" y="297681"/>
            <a:ext cx="7656539" cy="489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1614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03806-F716-4F3B-C7B0-D2D612348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459" y="801817"/>
            <a:ext cx="10077557" cy="1325563"/>
          </a:xfrm>
        </p:spPr>
        <p:txBody>
          <a:bodyPr/>
          <a:lstStyle/>
          <a:p>
            <a:r>
              <a:rPr lang="en-US" dirty="0"/>
              <a:t>Function 8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FAFD20-3E22-C8EE-F4F5-32A7B6ED0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605" y="1297859"/>
            <a:ext cx="6457375" cy="5359182"/>
          </a:xfrm>
          <a:prstGeom prst="rect">
            <a:avLst/>
          </a:prstGeom>
        </p:spPr>
      </p:pic>
      <p:pic>
        <p:nvPicPr>
          <p:cNvPr id="6" name="Picture 16">
            <a:extLst>
              <a:ext uri="{FF2B5EF4-FFF2-40B4-BE49-F238E27FC236}">
                <a16:creationId xmlns:a16="http://schemas.microsoft.com/office/drawing/2014/main" id="{75A2CB63-3B5C-B8F7-7CF4-D16E7EB32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8103" y="407746"/>
            <a:ext cx="9398000" cy="29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351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A0CD0-D7D3-DC0A-6A77-3AAC6FCC1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9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E9961D-51A9-3E60-F813-C45D792E3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897" y="1273684"/>
            <a:ext cx="6315010" cy="5455093"/>
          </a:xfrm>
          <a:prstGeom prst="rect">
            <a:avLst/>
          </a:prstGeom>
        </p:spPr>
      </p:pic>
      <p:pic>
        <p:nvPicPr>
          <p:cNvPr id="6" name="Picture 18">
            <a:extLst>
              <a:ext uri="{FF2B5EF4-FFF2-40B4-BE49-F238E27FC236}">
                <a16:creationId xmlns:a16="http://schemas.microsoft.com/office/drawing/2014/main" id="{FD03062B-E255-3740-EC4F-476A6B432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529" y="368710"/>
            <a:ext cx="7542014" cy="464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1235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4D633-E754-57AD-AA05-CA4699D71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10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F0FEB9-D1DD-01EF-F68B-12BBDD0E1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387" y="1017580"/>
            <a:ext cx="6600292" cy="5730127"/>
          </a:xfrm>
          <a:prstGeom prst="rect">
            <a:avLst/>
          </a:prstGeom>
        </p:spPr>
      </p:pic>
      <p:pic>
        <p:nvPicPr>
          <p:cNvPr id="6" name="Picture 20">
            <a:extLst>
              <a:ext uri="{FF2B5EF4-FFF2-40B4-BE49-F238E27FC236}">
                <a16:creationId xmlns:a16="http://schemas.microsoft.com/office/drawing/2014/main" id="{3F11C52C-F1EA-3964-1BE4-BE4D3016D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249" y="368710"/>
            <a:ext cx="8348477" cy="533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50398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333B2-1AB8-ECDC-ECF6-8DC78C87F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CAA0F56-5280-D180-8BB1-1108A2FA802E}"/>
              </a:ext>
            </a:extLst>
          </p:cNvPr>
          <p:cNvSpPr/>
          <p:nvPr/>
        </p:nvSpPr>
        <p:spPr>
          <a:xfrm>
            <a:off x="192505" y="2803358"/>
            <a:ext cx="2947737" cy="346008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AD60D4A-200B-4F4B-9272-1C4DB2304269}"/>
              </a:ext>
            </a:extLst>
          </p:cNvPr>
          <p:cNvSpPr/>
          <p:nvPr/>
        </p:nvSpPr>
        <p:spPr>
          <a:xfrm>
            <a:off x="6499059" y="2803358"/>
            <a:ext cx="5364077" cy="346008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335D83B-6B9A-376C-6733-6C7741D9437C}"/>
              </a:ext>
            </a:extLst>
          </p:cNvPr>
          <p:cNvSpPr/>
          <p:nvPr/>
        </p:nvSpPr>
        <p:spPr>
          <a:xfrm>
            <a:off x="3281614" y="2803358"/>
            <a:ext cx="2947737" cy="346008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461364-181F-43F3-5BD6-AF005AFCDF69}"/>
              </a:ext>
            </a:extLst>
          </p:cNvPr>
          <p:cNvSpPr txBox="1"/>
          <p:nvPr/>
        </p:nvSpPr>
        <p:spPr>
          <a:xfrm>
            <a:off x="3050005" y="2726703"/>
            <a:ext cx="19190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1F184E-B3CA-8607-002C-B017B68C8B11}"/>
              </a:ext>
            </a:extLst>
          </p:cNvPr>
          <p:cNvSpPr txBox="1"/>
          <p:nvPr/>
        </p:nvSpPr>
        <p:spPr>
          <a:xfrm>
            <a:off x="800099" y="2916017"/>
            <a:ext cx="1732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Noise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079633-8E8B-85F1-CE86-3A02D09870F9}"/>
              </a:ext>
            </a:extLst>
          </p:cNvPr>
          <p:cNvSpPr txBox="1"/>
          <p:nvPr/>
        </p:nvSpPr>
        <p:spPr>
          <a:xfrm>
            <a:off x="4102768" y="2951213"/>
            <a:ext cx="1732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Optimizer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85DE2D-38E5-4511-DC6C-EC4A7540B528}"/>
              </a:ext>
            </a:extLst>
          </p:cNvPr>
          <p:cNvSpPr txBox="1"/>
          <p:nvPr/>
        </p:nvSpPr>
        <p:spPr>
          <a:xfrm>
            <a:off x="8495797" y="3003702"/>
            <a:ext cx="1732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Regularization 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C6814C2-FFEA-3ADB-AF11-FF3FCE424970}"/>
              </a:ext>
            </a:extLst>
          </p:cNvPr>
          <p:cNvSpPr/>
          <p:nvPr/>
        </p:nvSpPr>
        <p:spPr>
          <a:xfrm>
            <a:off x="328864" y="3362004"/>
            <a:ext cx="2683042" cy="270892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8E06667-4BC3-70C1-37E9-2809F73D1E22}"/>
              </a:ext>
            </a:extLst>
          </p:cNvPr>
          <p:cNvSpPr/>
          <p:nvPr/>
        </p:nvSpPr>
        <p:spPr>
          <a:xfrm>
            <a:off x="3413961" y="3419200"/>
            <a:ext cx="2683042" cy="270892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3B40E67-21D4-B922-743D-9D7166EF03D7}"/>
              </a:ext>
            </a:extLst>
          </p:cNvPr>
          <p:cNvSpPr/>
          <p:nvPr/>
        </p:nvSpPr>
        <p:spPr>
          <a:xfrm>
            <a:off x="6656470" y="3484966"/>
            <a:ext cx="2391277" cy="25859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2F52499-20BE-48D3-2D72-B31C05B0B671}"/>
              </a:ext>
            </a:extLst>
          </p:cNvPr>
          <p:cNvSpPr/>
          <p:nvPr/>
        </p:nvSpPr>
        <p:spPr>
          <a:xfrm>
            <a:off x="9125951" y="3480681"/>
            <a:ext cx="2658981" cy="258596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A6395AB-E7D6-359C-B7B7-7A5908723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664" y="4263661"/>
            <a:ext cx="912894" cy="912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0C9555F-5932-BE93-FFBD-42353DB22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8008" y="3994819"/>
            <a:ext cx="2328994" cy="1646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A47C2B5-4F65-AB97-E026-5C91C9F27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6167" y="4251080"/>
            <a:ext cx="1038548" cy="1038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E2ED87D-50B7-7A51-5FA5-E560B1EB7D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4103" y="4315861"/>
            <a:ext cx="860694" cy="86069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917F7BE-1019-863D-15A6-0A1C04BACDA0}"/>
              </a:ext>
            </a:extLst>
          </p:cNvPr>
          <p:cNvSpPr txBox="1"/>
          <p:nvPr/>
        </p:nvSpPr>
        <p:spPr>
          <a:xfrm>
            <a:off x="800099" y="3609474"/>
            <a:ext cx="184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Gaussian noise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33F6C6-F8A9-94AC-D0B1-E2C7170A3A0C}"/>
              </a:ext>
            </a:extLst>
          </p:cNvPr>
          <p:cNvSpPr txBox="1"/>
          <p:nvPr/>
        </p:nvSpPr>
        <p:spPr>
          <a:xfrm>
            <a:off x="3865358" y="3633537"/>
            <a:ext cx="184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Adam / SDG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BF12E2-9226-0854-EEA6-AC6467DC7236}"/>
              </a:ext>
            </a:extLst>
          </p:cNvPr>
          <p:cNvSpPr txBox="1"/>
          <p:nvPr/>
        </p:nvSpPr>
        <p:spPr>
          <a:xfrm>
            <a:off x="6877047" y="3601635"/>
            <a:ext cx="184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Dropout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83FAD5-A1F7-50D9-765C-F3F062126A60}"/>
              </a:ext>
            </a:extLst>
          </p:cNvPr>
          <p:cNvSpPr txBox="1"/>
          <p:nvPr/>
        </p:nvSpPr>
        <p:spPr>
          <a:xfrm>
            <a:off x="9461330" y="3596061"/>
            <a:ext cx="184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L2</a:t>
            </a:r>
          </a:p>
        </p:txBody>
      </p:sp>
    </p:spTree>
    <p:extLst>
      <p:ext uri="{BB962C8B-B14F-4D97-AF65-F5344CB8AC3E}">
        <p14:creationId xmlns:p14="http://schemas.microsoft.com/office/powerpoint/2010/main" val="3001126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20E93-EC5D-E58D-B1DC-D65385416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787068"/>
            <a:ext cx="10077556" cy="698500"/>
          </a:xfrm>
        </p:spPr>
        <p:txBody>
          <a:bodyPr/>
          <a:lstStyle/>
          <a:p>
            <a:r>
              <a:rPr lang="en-US" dirty="0"/>
              <a:t>Experimental Design</a:t>
            </a:r>
          </a:p>
        </p:txBody>
      </p:sp>
      <p:sp>
        <p:nvSpPr>
          <p:cNvPr id="100" name="T100"/>
          <p:cNvSpPr txBox="1"/>
          <p:nvPr/>
        </p:nvSpPr>
        <p:spPr>
          <a:xfrm>
            <a:off x="825500" y="1549400"/>
            <a:ext cx="8890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8F6B8A"/>
                </a:solidFill>
                <a:latin typeface="Avenir Next LT Pro"/>
              </a:rPr>
              <a:t>Full factorial: 5 noise levels × 4 regularization settings × 2 optimizers</a:t>
            </a:r>
          </a:p>
        </p:txBody>
      </p:sp>
      <p:sp>
        <p:nvSpPr>
          <p:cNvPr id="101" name="T101"/>
          <p:cNvSpPr txBox="1"/>
          <p:nvPr/>
        </p:nvSpPr>
        <p:spPr>
          <a:xfrm>
            <a:off x="2667000" y="1676400"/>
            <a:ext cx="8128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463443"/>
                </a:solidFill>
                <a:latin typeface="Georgia Pro Semibold"/>
              </a:rPr>
              <a:t>Input Noise Level</a:t>
            </a:r>
          </a:p>
        </p:txBody>
      </p:sp>
      <p:sp>
        <p:nvSpPr>
          <p:cNvPr id="102" name="R102"/>
          <p:cNvSpPr/>
          <p:nvPr/>
        </p:nvSpPr>
        <p:spPr>
          <a:xfrm>
            <a:off x="2692400" y="1905000"/>
            <a:ext cx="1574800" cy="279400"/>
          </a:xfrm>
          <a:prstGeom prst="roundRect">
            <a:avLst>
              <a:gd name="adj" fmla="val 3000"/>
            </a:avLst>
          </a:prstGeom>
          <a:solidFill>
            <a:srgbClr val="46344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2692400" y="1905000"/>
            <a:ext cx="15748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  <a:latin typeface="Georgia Pro Semibold"/>
              </a:rPr>
              <a:t>Baseline</a:t>
            </a:r>
          </a:p>
        </p:txBody>
      </p:sp>
      <p:sp>
        <p:nvSpPr>
          <p:cNvPr id="104" name="R104"/>
          <p:cNvSpPr/>
          <p:nvPr/>
        </p:nvSpPr>
        <p:spPr>
          <a:xfrm>
            <a:off x="4318000" y="1905000"/>
            <a:ext cx="1574800" cy="279400"/>
          </a:xfrm>
          <a:prstGeom prst="roundRect">
            <a:avLst>
              <a:gd name="adj" fmla="val 3000"/>
            </a:avLst>
          </a:prstGeom>
          <a:solidFill>
            <a:srgbClr val="46344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T105"/>
          <p:cNvSpPr txBox="1"/>
          <p:nvPr/>
        </p:nvSpPr>
        <p:spPr>
          <a:xfrm>
            <a:off x="4318000" y="1905000"/>
            <a:ext cx="15748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  <a:latin typeface="Georgia Pro Semibold"/>
              </a:rPr>
              <a:t>σ = 0.1</a:t>
            </a:r>
          </a:p>
        </p:txBody>
      </p:sp>
      <p:sp>
        <p:nvSpPr>
          <p:cNvPr id="106" name="R106"/>
          <p:cNvSpPr/>
          <p:nvPr/>
        </p:nvSpPr>
        <p:spPr>
          <a:xfrm>
            <a:off x="5943600" y="1905000"/>
            <a:ext cx="1574800" cy="279400"/>
          </a:xfrm>
          <a:prstGeom prst="roundRect">
            <a:avLst>
              <a:gd name="adj" fmla="val 3000"/>
            </a:avLst>
          </a:prstGeom>
          <a:solidFill>
            <a:srgbClr val="46344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5943600" y="1905000"/>
            <a:ext cx="15748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  <a:latin typeface="Georgia Pro Semibold"/>
              </a:rPr>
              <a:t>σ = 0.2</a:t>
            </a:r>
          </a:p>
        </p:txBody>
      </p:sp>
      <p:sp>
        <p:nvSpPr>
          <p:cNvPr id="108" name="R108"/>
          <p:cNvSpPr/>
          <p:nvPr/>
        </p:nvSpPr>
        <p:spPr>
          <a:xfrm>
            <a:off x="7569200" y="1905000"/>
            <a:ext cx="1574800" cy="279400"/>
          </a:xfrm>
          <a:prstGeom prst="roundRect">
            <a:avLst>
              <a:gd name="adj" fmla="val 3000"/>
            </a:avLst>
          </a:prstGeom>
          <a:solidFill>
            <a:srgbClr val="46344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7569200" y="1905000"/>
            <a:ext cx="15748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  <a:latin typeface="Georgia Pro Semibold"/>
              </a:rPr>
              <a:t>σ = 0.5</a:t>
            </a:r>
          </a:p>
        </p:txBody>
      </p:sp>
      <p:sp>
        <p:nvSpPr>
          <p:cNvPr id="110" name="R110"/>
          <p:cNvSpPr/>
          <p:nvPr/>
        </p:nvSpPr>
        <p:spPr>
          <a:xfrm>
            <a:off x="9194800" y="1905000"/>
            <a:ext cx="1574800" cy="279400"/>
          </a:xfrm>
          <a:prstGeom prst="roundRect">
            <a:avLst>
              <a:gd name="adj" fmla="val 3000"/>
            </a:avLst>
          </a:prstGeom>
          <a:solidFill>
            <a:srgbClr val="46344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9194800" y="1905000"/>
            <a:ext cx="15748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  <a:latin typeface="Georgia Pro Semibold"/>
              </a:rPr>
              <a:t>σ = 1.0</a:t>
            </a:r>
          </a:p>
        </p:txBody>
      </p:sp>
      <p:sp>
        <p:nvSpPr>
          <p:cNvPr id="113" name="R113"/>
          <p:cNvSpPr/>
          <p:nvPr/>
        </p:nvSpPr>
        <p:spPr>
          <a:xfrm>
            <a:off x="2641600" y="2260600"/>
            <a:ext cx="8178800" cy="609600"/>
          </a:xfrm>
          <a:prstGeom prst="roundRect">
            <a:avLst>
              <a:gd name="adj" fmla="val 3000"/>
            </a:avLst>
          </a:prstGeom>
          <a:solidFill>
            <a:srgbClr val="F3F0E9"/>
          </a:solidFill>
          <a:ln w="6350">
            <a:solidFill>
              <a:srgbClr val="E0DDD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889000" y="2260600"/>
            <a:ext cx="11684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950" b="1" dirty="0">
                <a:solidFill>
                  <a:srgbClr val="463443"/>
                </a:solidFill>
                <a:latin typeface="Avenir Next LT Pro"/>
              </a:rPr>
              <a:t>No regularization</a:t>
            </a:r>
          </a:p>
        </p:txBody>
      </p:sp>
      <p:sp>
        <p:nvSpPr>
          <p:cNvPr id="117" name="C117"/>
          <p:cNvSpPr/>
          <p:nvPr/>
        </p:nvSpPr>
        <p:spPr>
          <a:xfrm>
            <a:off x="3378200" y="2336800"/>
            <a:ext cx="152400" cy="152400"/>
          </a:xfrm>
          <a:prstGeom prst="ellipse">
            <a:avLst/>
          </a:prstGeom>
          <a:solidFill>
            <a:srgbClr val="D45E5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C118"/>
          <p:cNvSpPr/>
          <p:nvPr/>
        </p:nvSpPr>
        <p:spPr>
          <a:xfrm>
            <a:off x="3378200" y="2641600"/>
            <a:ext cx="152400" cy="152400"/>
          </a:xfrm>
          <a:prstGeom prst="ellipse">
            <a:avLst/>
          </a:prstGeom>
          <a:solidFill>
            <a:srgbClr val="BF873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C119"/>
          <p:cNvSpPr/>
          <p:nvPr/>
        </p:nvSpPr>
        <p:spPr>
          <a:xfrm>
            <a:off x="5003800" y="2336800"/>
            <a:ext cx="152400" cy="152400"/>
          </a:xfrm>
          <a:prstGeom prst="ellipse">
            <a:avLst/>
          </a:prstGeom>
          <a:solidFill>
            <a:srgbClr val="D45E5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C120"/>
          <p:cNvSpPr/>
          <p:nvPr/>
        </p:nvSpPr>
        <p:spPr>
          <a:xfrm>
            <a:off x="5003800" y="2641600"/>
            <a:ext cx="152400" cy="152400"/>
          </a:xfrm>
          <a:prstGeom prst="ellipse">
            <a:avLst/>
          </a:prstGeom>
          <a:solidFill>
            <a:srgbClr val="BF873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C121"/>
          <p:cNvSpPr/>
          <p:nvPr/>
        </p:nvSpPr>
        <p:spPr>
          <a:xfrm>
            <a:off x="6629400" y="2336800"/>
            <a:ext cx="152400" cy="152400"/>
          </a:xfrm>
          <a:prstGeom prst="ellipse">
            <a:avLst/>
          </a:prstGeom>
          <a:solidFill>
            <a:srgbClr val="D45E5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C122"/>
          <p:cNvSpPr/>
          <p:nvPr/>
        </p:nvSpPr>
        <p:spPr>
          <a:xfrm>
            <a:off x="6629400" y="2641600"/>
            <a:ext cx="152400" cy="152400"/>
          </a:xfrm>
          <a:prstGeom prst="ellipse">
            <a:avLst/>
          </a:prstGeom>
          <a:solidFill>
            <a:srgbClr val="BF873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C123"/>
          <p:cNvSpPr/>
          <p:nvPr/>
        </p:nvSpPr>
        <p:spPr>
          <a:xfrm>
            <a:off x="8255000" y="2336800"/>
            <a:ext cx="152400" cy="152400"/>
          </a:xfrm>
          <a:prstGeom prst="ellipse">
            <a:avLst/>
          </a:prstGeom>
          <a:solidFill>
            <a:srgbClr val="D45E5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C124"/>
          <p:cNvSpPr/>
          <p:nvPr/>
        </p:nvSpPr>
        <p:spPr>
          <a:xfrm>
            <a:off x="8255000" y="2641600"/>
            <a:ext cx="152400" cy="152400"/>
          </a:xfrm>
          <a:prstGeom prst="ellipse">
            <a:avLst/>
          </a:prstGeom>
          <a:solidFill>
            <a:srgbClr val="BF873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C125"/>
          <p:cNvSpPr/>
          <p:nvPr/>
        </p:nvSpPr>
        <p:spPr>
          <a:xfrm>
            <a:off x="9880600" y="2336800"/>
            <a:ext cx="152400" cy="152400"/>
          </a:xfrm>
          <a:prstGeom prst="ellipse">
            <a:avLst/>
          </a:prstGeom>
          <a:solidFill>
            <a:srgbClr val="D45E5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C126"/>
          <p:cNvSpPr/>
          <p:nvPr/>
        </p:nvSpPr>
        <p:spPr>
          <a:xfrm>
            <a:off x="9880600" y="2641600"/>
            <a:ext cx="152400" cy="152400"/>
          </a:xfrm>
          <a:prstGeom prst="ellipse">
            <a:avLst/>
          </a:prstGeom>
          <a:solidFill>
            <a:srgbClr val="BF873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R127"/>
          <p:cNvSpPr/>
          <p:nvPr/>
        </p:nvSpPr>
        <p:spPr>
          <a:xfrm>
            <a:off x="2641600" y="2946400"/>
            <a:ext cx="8178800" cy="609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0DDD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889000" y="2946400"/>
            <a:ext cx="11684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950" b="1" dirty="0">
                <a:solidFill>
                  <a:srgbClr val="463443"/>
                </a:solidFill>
                <a:latin typeface="Avenir Next LT Pro"/>
              </a:rPr>
              <a:t>Dropout (p = 0.2)</a:t>
            </a:r>
          </a:p>
        </p:txBody>
      </p:sp>
      <p:sp>
        <p:nvSpPr>
          <p:cNvPr id="131" name="C131"/>
          <p:cNvSpPr/>
          <p:nvPr/>
        </p:nvSpPr>
        <p:spPr>
          <a:xfrm>
            <a:off x="3390900" y="3035300"/>
            <a:ext cx="127000" cy="127000"/>
          </a:xfrm>
          <a:prstGeom prst="ellipse">
            <a:avLst/>
          </a:prstGeom>
          <a:noFill/>
          <a:ln w="6350">
            <a:solidFill>
              <a:srgbClr val="D0CC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" name="C132"/>
          <p:cNvSpPr/>
          <p:nvPr/>
        </p:nvSpPr>
        <p:spPr>
          <a:xfrm>
            <a:off x="3390900" y="3340100"/>
            <a:ext cx="127000" cy="127000"/>
          </a:xfrm>
          <a:prstGeom prst="ellipse">
            <a:avLst/>
          </a:prstGeom>
          <a:noFill/>
          <a:ln w="6350">
            <a:solidFill>
              <a:srgbClr val="D0CC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C133"/>
          <p:cNvSpPr/>
          <p:nvPr/>
        </p:nvSpPr>
        <p:spPr>
          <a:xfrm>
            <a:off x="5003800" y="3022600"/>
            <a:ext cx="152400" cy="152400"/>
          </a:xfrm>
          <a:prstGeom prst="ellipse">
            <a:avLst/>
          </a:prstGeom>
          <a:solidFill>
            <a:srgbClr val="D45E5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C134"/>
          <p:cNvSpPr/>
          <p:nvPr/>
        </p:nvSpPr>
        <p:spPr>
          <a:xfrm>
            <a:off x="5003800" y="3327400"/>
            <a:ext cx="152400" cy="152400"/>
          </a:xfrm>
          <a:prstGeom prst="ellipse">
            <a:avLst/>
          </a:prstGeom>
          <a:solidFill>
            <a:srgbClr val="BF873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C135"/>
          <p:cNvSpPr/>
          <p:nvPr/>
        </p:nvSpPr>
        <p:spPr>
          <a:xfrm>
            <a:off x="6629400" y="3022600"/>
            <a:ext cx="152400" cy="152400"/>
          </a:xfrm>
          <a:prstGeom prst="ellipse">
            <a:avLst/>
          </a:prstGeom>
          <a:solidFill>
            <a:srgbClr val="D45E5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C136"/>
          <p:cNvSpPr/>
          <p:nvPr/>
        </p:nvSpPr>
        <p:spPr>
          <a:xfrm>
            <a:off x="6629400" y="3327400"/>
            <a:ext cx="152400" cy="152400"/>
          </a:xfrm>
          <a:prstGeom prst="ellipse">
            <a:avLst/>
          </a:prstGeom>
          <a:solidFill>
            <a:srgbClr val="BF873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C137"/>
          <p:cNvSpPr/>
          <p:nvPr/>
        </p:nvSpPr>
        <p:spPr>
          <a:xfrm>
            <a:off x="8255000" y="3022600"/>
            <a:ext cx="152400" cy="152400"/>
          </a:xfrm>
          <a:prstGeom prst="ellipse">
            <a:avLst/>
          </a:prstGeom>
          <a:solidFill>
            <a:srgbClr val="D45E5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C138"/>
          <p:cNvSpPr/>
          <p:nvPr/>
        </p:nvSpPr>
        <p:spPr>
          <a:xfrm>
            <a:off x="8255000" y="3327400"/>
            <a:ext cx="152400" cy="152400"/>
          </a:xfrm>
          <a:prstGeom prst="ellipse">
            <a:avLst/>
          </a:prstGeom>
          <a:solidFill>
            <a:srgbClr val="BF873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C139"/>
          <p:cNvSpPr/>
          <p:nvPr/>
        </p:nvSpPr>
        <p:spPr>
          <a:xfrm>
            <a:off x="9880600" y="3022600"/>
            <a:ext cx="152400" cy="152400"/>
          </a:xfrm>
          <a:prstGeom prst="ellipse">
            <a:avLst/>
          </a:prstGeom>
          <a:solidFill>
            <a:srgbClr val="D45E5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C140"/>
          <p:cNvSpPr/>
          <p:nvPr/>
        </p:nvSpPr>
        <p:spPr>
          <a:xfrm>
            <a:off x="9880600" y="3327400"/>
            <a:ext cx="152400" cy="152400"/>
          </a:xfrm>
          <a:prstGeom prst="ellipse">
            <a:avLst/>
          </a:prstGeom>
          <a:solidFill>
            <a:srgbClr val="BF873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R141"/>
          <p:cNvSpPr/>
          <p:nvPr/>
        </p:nvSpPr>
        <p:spPr>
          <a:xfrm>
            <a:off x="2641600" y="3632200"/>
            <a:ext cx="8178800" cy="609600"/>
          </a:xfrm>
          <a:prstGeom prst="roundRect">
            <a:avLst>
              <a:gd name="adj" fmla="val 3000"/>
            </a:avLst>
          </a:prstGeom>
          <a:solidFill>
            <a:srgbClr val="F3F0E9"/>
          </a:solidFill>
          <a:ln w="6350">
            <a:solidFill>
              <a:srgbClr val="E0DDD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889000" y="3632200"/>
            <a:ext cx="11684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950" b="1" dirty="0">
                <a:solidFill>
                  <a:srgbClr val="463443"/>
                </a:solidFill>
                <a:latin typeface="Avenir Next LT Pro"/>
              </a:rPr>
              <a:t>Weight Decay (L2)</a:t>
            </a:r>
          </a:p>
        </p:txBody>
      </p:sp>
      <p:sp>
        <p:nvSpPr>
          <p:cNvPr id="145" name="C145"/>
          <p:cNvSpPr/>
          <p:nvPr/>
        </p:nvSpPr>
        <p:spPr>
          <a:xfrm>
            <a:off x="3390900" y="3721100"/>
            <a:ext cx="127000" cy="127000"/>
          </a:xfrm>
          <a:prstGeom prst="ellipse">
            <a:avLst/>
          </a:prstGeom>
          <a:noFill/>
          <a:ln w="6350">
            <a:solidFill>
              <a:srgbClr val="D0CC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C146"/>
          <p:cNvSpPr/>
          <p:nvPr/>
        </p:nvSpPr>
        <p:spPr>
          <a:xfrm>
            <a:off x="3390900" y="4025900"/>
            <a:ext cx="127000" cy="127000"/>
          </a:xfrm>
          <a:prstGeom prst="ellipse">
            <a:avLst/>
          </a:prstGeom>
          <a:noFill/>
          <a:ln w="6350">
            <a:solidFill>
              <a:srgbClr val="D0CC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7" name="C147"/>
          <p:cNvSpPr/>
          <p:nvPr/>
        </p:nvSpPr>
        <p:spPr>
          <a:xfrm>
            <a:off x="5003800" y="3708400"/>
            <a:ext cx="152400" cy="152400"/>
          </a:xfrm>
          <a:prstGeom prst="ellipse">
            <a:avLst/>
          </a:prstGeom>
          <a:solidFill>
            <a:srgbClr val="D45E5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C148"/>
          <p:cNvSpPr/>
          <p:nvPr/>
        </p:nvSpPr>
        <p:spPr>
          <a:xfrm>
            <a:off x="5016500" y="4025900"/>
            <a:ext cx="127000" cy="127000"/>
          </a:xfrm>
          <a:prstGeom prst="ellipse">
            <a:avLst/>
          </a:prstGeom>
          <a:noFill/>
          <a:ln w="6350">
            <a:solidFill>
              <a:srgbClr val="D0CC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9" name="C149"/>
          <p:cNvSpPr/>
          <p:nvPr/>
        </p:nvSpPr>
        <p:spPr>
          <a:xfrm>
            <a:off x="6629400" y="3708400"/>
            <a:ext cx="152400" cy="152400"/>
          </a:xfrm>
          <a:prstGeom prst="ellipse">
            <a:avLst/>
          </a:prstGeom>
          <a:solidFill>
            <a:srgbClr val="D45E5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C150"/>
          <p:cNvSpPr/>
          <p:nvPr/>
        </p:nvSpPr>
        <p:spPr>
          <a:xfrm>
            <a:off x="6642100" y="4025900"/>
            <a:ext cx="127000" cy="127000"/>
          </a:xfrm>
          <a:prstGeom prst="ellipse">
            <a:avLst/>
          </a:prstGeom>
          <a:noFill/>
          <a:ln w="6350">
            <a:solidFill>
              <a:srgbClr val="D0CC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1" name="C151"/>
          <p:cNvSpPr/>
          <p:nvPr/>
        </p:nvSpPr>
        <p:spPr>
          <a:xfrm>
            <a:off x="8255000" y="3708400"/>
            <a:ext cx="152400" cy="152400"/>
          </a:xfrm>
          <a:prstGeom prst="ellipse">
            <a:avLst/>
          </a:prstGeom>
          <a:solidFill>
            <a:srgbClr val="D45E5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C152"/>
          <p:cNvSpPr/>
          <p:nvPr/>
        </p:nvSpPr>
        <p:spPr>
          <a:xfrm>
            <a:off x="8267700" y="4025900"/>
            <a:ext cx="127000" cy="127000"/>
          </a:xfrm>
          <a:prstGeom prst="ellipse">
            <a:avLst/>
          </a:prstGeom>
          <a:noFill/>
          <a:ln w="6350">
            <a:solidFill>
              <a:srgbClr val="D0CC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3" name="C153"/>
          <p:cNvSpPr/>
          <p:nvPr/>
        </p:nvSpPr>
        <p:spPr>
          <a:xfrm>
            <a:off x="9880600" y="3708400"/>
            <a:ext cx="152400" cy="152400"/>
          </a:xfrm>
          <a:prstGeom prst="ellipse">
            <a:avLst/>
          </a:prstGeom>
          <a:solidFill>
            <a:srgbClr val="D45E5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C154"/>
          <p:cNvSpPr/>
          <p:nvPr/>
        </p:nvSpPr>
        <p:spPr>
          <a:xfrm>
            <a:off x="9893300" y="4025900"/>
            <a:ext cx="127000" cy="127000"/>
          </a:xfrm>
          <a:prstGeom prst="ellipse">
            <a:avLst/>
          </a:prstGeom>
          <a:noFill/>
          <a:ln w="6350">
            <a:solidFill>
              <a:srgbClr val="D0CC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5" name="R155"/>
          <p:cNvSpPr/>
          <p:nvPr/>
        </p:nvSpPr>
        <p:spPr>
          <a:xfrm>
            <a:off x="2641600" y="4318000"/>
            <a:ext cx="8178800" cy="609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0DDD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889000" y="4318000"/>
            <a:ext cx="11684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950" b="1" dirty="0">
                <a:solidFill>
                  <a:srgbClr val="463443"/>
                </a:solidFill>
                <a:latin typeface="Avenir Next LT Pro"/>
              </a:rPr>
              <a:t>Dropout + L2</a:t>
            </a:r>
          </a:p>
        </p:txBody>
      </p:sp>
      <p:sp>
        <p:nvSpPr>
          <p:cNvPr id="159" name="C159"/>
          <p:cNvSpPr/>
          <p:nvPr/>
        </p:nvSpPr>
        <p:spPr>
          <a:xfrm>
            <a:off x="3390900" y="4406900"/>
            <a:ext cx="127000" cy="127000"/>
          </a:xfrm>
          <a:prstGeom prst="ellipse">
            <a:avLst/>
          </a:prstGeom>
          <a:noFill/>
          <a:ln w="6350">
            <a:solidFill>
              <a:srgbClr val="D0CC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" name="C160"/>
          <p:cNvSpPr/>
          <p:nvPr/>
        </p:nvSpPr>
        <p:spPr>
          <a:xfrm>
            <a:off x="3390900" y="4711700"/>
            <a:ext cx="127000" cy="127000"/>
          </a:xfrm>
          <a:prstGeom prst="ellipse">
            <a:avLst/>
          </a:prstGeom>
          <a:noFill/>
          <a:ln w="6350">
            <a:solidFill>
              <a:srgbClr val="D0CC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" name="C161"/>
          <p:cNvSpPr/>
          <p:nvPr/>
        </p:nvSpPr>
        <p:spPr>
          <a:xfrm>
            <a:off x="5003800" y="4394200"/>
            <a:ext cx="152400" cy="152400"/>
          </a:xfrm>
          <a:prstGeom prst="ellipse">
            <a:avLst/>
          </a:prstGeom>
          <a:solidFill>
            <a:srgbClr val="D45E5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C162"/>
          <p:cNvSpPr/>
          <p:nvPr/>
        </p:nvSpPr>
        <p:spPr>
          <a:xfrm>
            <a:off x="5003800" y="4699000"/>
            <a:ext cx="152400" cy="152400"/>
          </a:xfrm>
          <a:prstGeom prst="ellipse">
            <a:avLst/>
          </a:prstGeom>
          <a:solidFill>
            <a:srgbClr val="BF873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C163"/>
          <p:cNvSpPr/>
          <p:nvPr/>
        </p:nvSpPr>
        <p:spPr>
          <a:xfrm>
            <a:off x="6629400" y="4394200"/>
            <a:ext cx="152400" cy="152400"/>
          </a:xfrm>
          <a:prstGeom prst="ellipse">
            <a:avLst/>
          </a:prstGeom>
          <a:solidFill>
            <a:srgbClr val="D45E5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C164"/>
          <p:cNvSpPr/>
          <p:nvPr/>
        </p:nvSpPr>
        <p:spPr>
          <a:xfrm>
            <a:off x="6629400" y="4699000"/>
            <a:ext cx="152400" cy="152400"/>
          </a:xfrm>
          <a:prstGeom prst="ellipse">
            <a:avLst/>
          </a:prstGeom>
          <a:solidFill>
            <a:srgbClr val="BF873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C165"/>
          <p:cNvSpPr/>
          <p:nvPr/>
        </p:nvSpPr>
        <p:spPr>
          <a:xfrm>
            <a:off x="8255000" y="4394200"/>
            <a:ext cx="152400" cy="152400"/>
          </a:xfrm>
          <a:prstGeom prst="ellipse">
            <a:avLst/>
          </a:prstGeom>
          <a:solidFill>
            <a:srgbClr val="D45E5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C166"/>
          <p:cNvSpPr/>
          <p:nvPr/>
        </p:nvSpPr>
        <p:spPr>
          <a:xfrm>
            <a:off x="8255000" y="4699000"/>
            <a:ext cx="152400" cy="152400"/>
          </a:xfrm>
          <a:prstGeom prst="ellipse">
            <a:avLst/>
          </a:prstGeom>
          <a:solidFill>
            <a:srgbClr val="BF873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C167"/>
          <p:cNvSpPr/>
          <p:nvPr/>
        </p:nvSpPr>
        <p:spPr>
          <a:xfrm>
            <a:off x="9880600" y="4394200"/>
            <a:ext cx="152400" cy="152400"/>
          </a:xfrm>
          <a:prstGeom prst="ellipse">
            <a:avLst/>
          </a:prstGeom>
          <a:solidFill>
            <a:srgbClr val="D45E5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C168"/>
          <p:cNvSpPr/>
          <p:nvPr/>
        </p:nvSpPr>
        <p:spPr>
          <a:xfrm>
            <a:off x="9880600" y="4699000"/>
            <a:ext cx="152400" cy="152400"/>
          </a:xfrm>
          <a:prstGeom prst="ellipse">
            <a:avLst/>
          </a:prstGeom>
          <a:solidFill>
            <a:srgbClr val="BF873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C169"/>
          <p:cNvSpPr/>
          <p:nvPr/>
        </p:nvSpPr>
        <p:spPr>
          <a:xfrm>
            <a:off x="1016000" y="5156200"/>
            <a:ext cx="127000" cy="127000"/>
          </a:xfrm>
          <a:prstGeom prst="ellipse">
            <a:avLst/>
          </a:prstGeom>
          <a:solidFill>
            <a:srgbClr val="D45E5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T170"/>
          <p:cNvSpPr txBox="1"/>
          <p:nvPr/>
        </p:nvSpPr>
        <p:spPr>
          <a:xfrm>
            <a:off x="1193800" y="5130800"/>
            <a:ext cx="10160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dirty="0">
                <a:solidFill>
                  <a:srgbClr val="463443"/>
                </a:solidFill>
                <a:latin typeface="Avenir Next LT Pro"/>
              </a:rPr>
              <a:t>Adam</a:t>
            </a:r>
          </a:p>
        </p:txBody>
      </p:sp>
      <p:sp>
        <p:nvSpPr>
          <p:cNvPr id="171" name="C171"/>
          <p:cNvSpPr/>
          <p:nvPr/>
        </p:nvSpPr>
        <p:spPr>
          <a:xfrm>
            <a:off x="2286000" y="5156200"/>
            <a:ext cx="127000" cy="127000"/>
          </a:xfrm>
          <a:prstGeom prst="ellipse">
            <a:avLst/>
          </a:prstGeom>
          <a:solidFill>
            <a:srgbClr val="BF873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2" name="T172"/>
          <p:cNvSpPr txBox="1"/>
          <p:nvPr/>
        </p:nvSpPr>
        <p:spPr>
          <a:xfrm>
            <a:off x="2463800" y="5130800"/>
            <a:ext cx="10160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dirty="0">
                <a:solidFill>
                  <a:srgbClr val="463443"/>
                </a:solidFill>
                <a:latin typeface="Avenir Next LT Pro"/>
              </a:rPr>
              <a:t>SGD</a:t>
            </a:r>
          </a:p>
        </p:txBody>
      </p:sp>
      <p:sp>
        <p:nvSpPr>
          <p:cNvPr id="173" name="C173"/>
          <p:cNvSpPr/>
          <p:nvPr/>
        </p:nvSpPr>
        <p:spPr>
          <a:xfrm>
            <a:off x="3314700" y="5168900"/>
            <a:ext cx="101600" cy="101600"/>
          </a:xfrm>
          <a:prstGeom prst="ellipse">
            <a:avLst/>
          </a:prstGeom>
          <a:noFill/>
          <a:ln w="6350">
            <a:solidFill>
              <a:srgbClr val="D0CC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4" name="T174"/>
          <p:cNvSpPr txBox="1"/>
          <p:nvPr/>
        </p:nvSpPr>
        <p:spPr>
          <a:xfrm>
            <a:off x="3492500" y="5130800"/>
            <a:ext cx="12700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dirty="0">
                <a:solidFill>
                  <a:srgbClr val="999999"/>
                </a:solidFill>
                <a:latin typeface="Avenir Next LT Pro"/>
              </a:rPr>
              <a:t>Not tested</a:t>
            </a:r>
          </a:p>
        </p:txBody>
      </p:sp>
      <p:sp>
        <p:nvSpPr>
          <p:cNvPr id="175" name="R175"/>
          <p:cNvSpPr/>
          <p:nvPr/>
        </p:nvSpPr>
        <p:spPr>
          <a:xfrm>
            <a:off x="9906000" y="5092700"/>
            <a:ext cx="1397000" cy="254000"/>
          </a:xfrm>
          <a:prstGeom prst="roundRect">
            <a:avLst>
              <a:gd name="adj" fmla="val 3000"/>
            </a:avLst>
          </a:prstGeom>
          <a:solidFill>
            <a:srgbClr val="D45E5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6" name="T176"/>
          <p:cNvSpPr txBox="1"/>
          <p:nvPr/>
        </p:nvSpPr>
        <p:spPr>
          <a:xfrm>
            <a:off x="9906000" y="5105400"/>
            <a:ext cx="1397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 Pro Semibold"/>
              </a:rPr>
              <a:t>30 experiments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825500" y="5359400"/>
            <a:ext cx="63500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dirty="0">
                <a:solidFill>
                  <a:srgbClr val="8F6B8A"/>
                </a:solidFill>
                <a:latin typeface="Avenir Next LT Pro"/>
              </a:rPr>
              <a:t>Each experiment runs on all 10 test functions → 300 total training runs</a:t>
            </a:r>
          </a:p>
        </p:txBody>
      </p:sp>
      <p:sp>
        <p:nvSpPr>
          <p:cNvPr id="200" name="F200"/>
          <p:cNvSpPr txBox="1"/>
          <p:nvPr/>
        </p:nvSpPr>
        <p:spPr>
          <a:xfrm>
            <a:off x="2133600" y="2286000"/>
            <a:ext cx="444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D45E5E"/>
                </a:solidFill>
                <a:latin typeface="Georgia Pro Semibold"/>
              </a:rPr>
              <a:t>A</a:t>
            </a:r>
          </a:p>
        </p:txBody>
      </p:sp>
      <p:sp>
        <p:nvSpPr>
          <p:cNvPr id="201" name="F201"/>
          <p:cNvSpPr txBox="1"/>
          <p:nvPr/>
        </p:nvSpPr>
        <p:spPr>
          <a:xfrm>
            <a:off x="2133600" y="2590800"/>
            <a:ext cx="444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BF873A"/>
                </a:solidFill>
                <a:latin typeface="Georgia Pro Semibold"/>
              </a:rPr>
              <a:t>S</a:t>
            </a:r>
          </a:p>
        </p:txBody>
      </p:sp>
      <p:sp>
        <p:nvSpPr>
          <p:cNvPr id="202" name="F202"/>
          <p:cNvSpPr txBox="1"/>
          <p:nvPr/>
        </p:nvSpPr>
        <p:spPr>
          <a:xfrm>
            <a:off x="2133600" y="2971800"/>
            <a:ext cx="444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D45E5E"/>
                </a:solidFill>
                <a:latin typeface="Georgia Pro Semibold"/>
              </a:rPr>
              <a:t>A</a:t>
            </a:r>
          </a:p>
        </p:txBody>
      </p:sp>
      <p:sp>
        <p:nvSpPr>
          <p:cNvPr id="203" name="F203"/>
          <p:cNvSpPr txBox="1"/>
          <p:nvPr/>
        </p:nvSpPr>
        <p:spPr>
          <a:xfrm>
            <a:off x="2133600" y="3276600"/>
            <a:ext cx="444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BF873A"/>
                </a:solidFill>
                <a:latin typeface="Georgia Pro Semibold"/>
              </a:rPr>
              <a:t>S</a:t>
            </a:r>
          </a:p>
        </p:txBody>
      </p:sp>
      <p:sp>
        <p:nvSpPr>
          <p:cNvPr id="204" name="F204"/>
          <p:cNvSpPr txBox="1"/>
          <p:nvPr/>
        </p:nvSpPr>
        <p:spPr>
          <a:xfrm>
            <a:off x="2133600" y="3657600"/>
            <a:ext cx="444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D45E5E"/>
                </a:solidFill>
                <a:latin typeface="Georgia Pro Semibold"/>
              </a:rPr>
              <a:t>A</a:t>
            </a:r>
          </a:p>
        </p:txBody>
      </p:sp>
      <p:sp>
        <p:nvSpPr>
          <p:cNvPr id="205" name="F205"/>
          <p:cNvSpPr txBox="1"/>
          <p:nvPr/>
        </p:nvSpPr>
        <p:spPr>
          <a:xfrm>
            <a:off x="2133600" y="3962400"/>
            <a:ext cx="444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BF873A"/>
                </a:solidFill>
                <a:latin typeface="Georgia Pro Semibold"/>
              </a:rPr>
              <a:t>S</a:t>
            </a:r>
          </a:p>
        </p:txBody>
      </p:sp>
      <p:sp>
        <p:nvSpPr>
          <p:cNvPr id="206" name="F206"/>
          <p:cNvSpPr txBox="1"/>
          <p:nvPr/>
        </p:nvSpPr>
        <p:spPr>
          <a:xfrm>
            <a:off x="2133600" y="4343400"/>
            <a:ext cx="444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D45E5E"/>
                </a:solidFill>
                <a:latin typeface="Georgia Pro Semibold"/>
              </a:rPr>
              <a:t>A</a:t>
            </a:r>
          </a:p>
        </p:txBody>
      </p:sp>
      <p:sp>
        <p:nvSpPr>
          <p:cNvPr id="207" name="F207"/>
          <p:cNvSpPr txBox="1"/>
          <p:nvPr/>
        </p:nvSpPr>
        <p:spPr>
          <a:xfrm>
            <a:off x="2133600" y="4648200"/>
            <a:ext cx="444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BF873A"/>
                </a:solidFill>
                <a:latin typeface="Georgia Pro Semibold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1029239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290B2-CEFB-154D-C152-8B7366BC2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22" y="723900"/>
            <a:ext cx="10077556" cy="1325563"/>
          </a:xfrm>
        </p:spPr>
        <p:txBody>
          <a:bodyPr/>
          <a:lstStyle/>
          <a:p>
            <a:r>
              <a:rPr lang="en-US" dirty="0"/>
              <a:t>MLP Architecture</a:t>
            </a:r>
          </a:p>
        </p:txBody>
      </p:sp>
      <p:sp>
        <p:nvSpPr>
          <p:cNvPr id="100" name="Subtitle"/>
          <p:cNvSpPr/>
          <p:nvPr/>
        </p:nvSpPr>
        <p:spPr>
          <a:xfrm>
            <a:off x="825500" y="18796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/>
          <a:lstStyle/>
          <a:p>
            <a:pPr algn="l"/>
            <a:r>
              <a:rPr lang="en-US" sz="1200" i="1" dirty="0">
                <a:solidFill>
                  <a:srgbClr val="8F6B8A"/>
                </a:solidFill>
              </a:rPr>
              <a:t>Interaction-only MLP — single branch, no main effect nets</a:t>
            </a:r>
          </a:p>
        </p:txBody>
      </p:sp>
      <p:sp>
        <p:nvSpPr>
          <p:cNvPr id="300" name="Input0"/>
          <p:cNvSpPr/>
          <p:nvPr/>
        </p:nvSpPr>
        <p:spPr>
          <a:xfrm>
            <a:off x="990600" y="2413000"/>
            <a:ext cx="304800" cy="304800"/>
          </a:xfrm>
          <a:prstGeom prst="ellipse">
            <a:avLst/>
          </a:prstGeom>
          <a:solidFill>
            <a:srgbClr val="D45E5E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x₁</a:t>
            </a:r>
          </a:p>
        </p:txBody>
      </p:sp>
      <p:sp>
        <p:nvSpPr>
          <p:cNvPr id="301" name="Input1"/>
          <p:cNvSpPr/>
          <p:nvPr/>
        </p:nvSpPr>
        <p:spPr>
          <a:xfrm>
            <a:off x="990600" y="2984500"/>
            <a:ext cx="304800" cy="304800"/>
          </a:xfrm>
          <a:prstGeom prst="ellipse">
            <a:avLst/>
          </a:prstGeom>
          <a:solidFill>
            <a:srgbClr val="D45E5E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x₂</a:t>
            </a:r>
          </a:p>
        </p:txBody>
      </p:sp>
      <p:sp>
        <p:nvSpPr>
          <p:cNvPr id="302" name="Input2"/>
          <p:cNvSpPr/>
          <p:nvPr/>
        </p:nvSpPr>
        <p:spPr>
          <a:xfrm>
            <a:off x="990600" y="3556000"/>
            <a:ext cx="304800" cy="304800"/>
          </a:xfrm>
          <a:prstGeom prst="ellipse">
            <a:avLst/>
          </a:prstGeom>
          <a:solidFill>
            <a:srgbClr val="D45E5E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x₃</a:t>
            </a:r>
          </a:p>
        </p:txBody>
      </p:sp>
      <p:sp>
        <p:nvSpPr>
          <p:cNvPr id="303" name="Input3"/>
          <p:cNvSpPr/>
          <p:nvPr/>
        </p:nvSpPr>
        <p:spPr>
          <a:xfrm>
            <a:off x="1041400" y="4127500"/>
            <a:ext cx="203200" cy="254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600" b="1" dirty="0">
                <a:solidFill>
                  <a:srgbClr val="463443"/>
                </a:solidFill>
              </a:rPr>
              <a:t>⋮</a:t>
            </a:r>
          </a:p>
        </p:txBody>
      </p:sp>
      <p:sp>
        <p:nvSpPr>
          <p:cNvPr id="304" name="Input4"/>
          <p:cNvSpPr/>
          <p:nvPr/>
        </p:nvSpPr>
        <p:spPr>
          <a:xfrm>
            <a:off x="990600" y="4699000"/>
            <a:ext cx="304800" cy="304800"/>
          </a:xfrm>
          <a:prstGeom prst="ellipse">
            <a:avLst/>
          </a:prstGeom>
          <a:solidFill>
            <a:srgbClr val="D45E5E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x₁₀</a:t>
            </a:r>
          </a:p>
        </p:txBody>
      </p:sp>
      <p:sp>
        <p:nvSpPr>
          <p:cNvPr id="305" name="H1_0"/>
          <p:cNvSpPr/>
          <p:nvPr/>
        </p:nvSpPr>
        <p:spPr>
          <a:xfrm>
            <a:off x="3149600" y="2286000"/>
            <a:ext cx="304800" cy="304800"/>
          </a:xfrm>
          <a:prstGeom prst="ellipse">
            <a:avLst/>
          </a:prstGeom>
          <a:solidFill>
            <a:srgbClr val="BF873A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306" name="H1_1"/>
          <p:cNvSpPr/>
          <p:nvPr/>
        </p:nvSpPr>
        <p:spPr>
          <a:xfrm>
            <a:off x="3149600" y="2921000"/>
            <a:ext cx="304800" cy="304800"/>
          </a:xfrm>
          <a:prstGeom prst="ellipse">
            <a:avLst/>
          </a:prstGeom>
          <a:solidFill>
            <a:srgbClr val="BF873A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307" name="H1_2"/>
          <p:cNvSpPr/>
          <p:nvPr/>
        </p:nvSpPr>
        <p:spPr>
          <a:xfrm>
            <a:off x="3149600" y="3556000"/>
            <a:ext cx="304800" cy="304800"/>
          </a:xfrm>
          <a:prstGeom prst="ellipse">
            <a:avLst/>
          </a:prstGeom>
          <a:solidFill>
            <a:srgbClr val="BF873A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308" name="H1_3"/>
          <p:cNvSpPr/>
          <p:nvPr/>
        </p:nvSpPr>
        <p:spPr>
          <a:xfrm>
            <a:off x="3200400" y="4127500"/>
            <a:ext cx="203200" cy="254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600" b="1" dirty="0">
                <a:solidFill>
                  <a:srgbClr val="463443"/>
                </a:solidFill>
              </a:rPr>
              <a:t>⋮</a:t>
            </a:r>
          </a:p>
        </p:txBody>
      </p:sp>
      <p:sp>
        <p:nvSpPr>
          <p:cNvPr id="309" name="H1_4"/>
          <p:cNvSpPr/>
          <p:nvPr/>
        </p:nvSpPr>
        <p:spPr>
          <a:xfrm>
            <a:off x="3149600" y="4826000"/>
            <a:ext cx="304800" cy="304800"/>
          </a:xfrm>
          <a:prstGeom prst="ellipse">
            <a:avLst/>
          </a:prstGeom>
          <a:solidFill>
            <a:srgbClr val="BF873A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310" name="H2_0"/>
          <p:cNvSpPr/>
          <p:nvPr/>
        </p:nvSpPr>
        <p:spPr>
          <a:xfrm>
            <a:off x="5308600" y="2286000"/>
            <a:ext cx="304800" cy="304800"/>
          </a:xfrm>
          <a:prstGeom prst="ellipse">
            <a:avLst/>
          </a:prstGeom>
          <a:solidFill>
            <a:srgbClr val="BF873A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311" name="H2_1"/>
          <p:cNvSpPr/>
          <p:nvPr/>
        </p:nvSpPr>
        <p:spPr>
          <a:xfrm>
            <a:off x="5308600" y="2921000"/>
            <a:ext cx="304800" cy="304800"/>
          </a:xfrm>
          <a:prstGeom prst="ellipse">
            <a:avLst/>
          </a:prstGeom>
          <a:solidFill>
            <a:srgbClr val="BF873A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312" name="H2_2"/>
          <p:cNvSpPr/>
          <p:nvPr/>
        </p:nvSpPr>
        <p:spPr>
          <a:xfrm>
            <a:off x="5308600" y="3556000"/>
            <a:ext cx="304800" cy="304800"/>
          </a:xfrm>
          <a:prstGeom prst="ellipse">
            <a:avLst/>
          </a:prstGeom>
          <a:solidFill>
            <a:srgbClr val="BF873A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313" name="H2_3"/>
          <p:cNvSpPr/>
          <p:nvPr/>
        </p:nvSpPr>
        <p:spPr>
          <a:xfrm>
            <a:off x="5359400" y="4127500"/>
            <a:ext cx="203200" cy="254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600" b="1" dirty="0">
                <a:solidFill>
                  <a:srgbClr val="463443"/>
                </a:solidFill>
              </a:rPr>
              <a:t>⋮</a:t>
            </a:r>
          </a:p>
        </p:txBody>
      </p:sp>
      <p:sp>
        <p:nvSpPr>
          <p:cNvPr id="314" name="H2_4"/>
          <p:cNvSpPr/>
          <p:nvPr/>
        </p:nvSpPr>
        <p:spPr>
          <a:xfrm>
            <a:off x="5308600" y="4826000"/>
            <a:ext cx="304800" cy="304800"/>
          </a:xfrm>
          <a:prstGeom prst="ellipse">
            <a:avLst/>
          </a:prstGeom>
          <a:solidFill>
            <a:srgbClr val="BF873A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315" name="Output"/>
          <p:cNvSpPr/>
          <p:nvPr/>
        </p:nvSpPr>
        <p:spPr>
          <a:xfrm>
            <a:off x="7467600" y="3429000"/>
            <a:ext cx="304800" cy="304800"/>
          </a:xfrm>
          <a:prstGeom prst="ellipse">
            <a:avLst/>
          </a:prstGeom>
          <a:solidFill>
            <a:srgbClr val="463443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ŷ</a:t>
            </a:r>
          </a:p>
        </p:txBody>
      </p:sp>
      <p:sp>
        <p:nvSpPr>
          <p:cNvPr id="316" name="InputLabel"/>
          <p:cNvSpPr/>
          <p:nvPr/>
        </p:nvSpPr>
        <p:spPr>
          <a:xfrm>
            <a:off x="635000" y="54610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200" b="1" dirty="0">
                <a:solidFill>
                  <a:srgbClr val="D45E5E"/>
                </a:solidFill>
              </a:rPr>
              <a:t>Input</a:t>
            </a:r>
          </a:p>
        </p:txBody>
      </p:sp>
      <p:sp>
        <p:nvSpPr>
          <p:cNvPr id="317" name="H1Label"/>
          <p:cNvSpPr/>
          <p:nvPr/>
        </p:nvSpPr>
        <p:spPr>
          <a:xfrm>
            <a:off x="2794000" y="54610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200" b="1" dirty="0">
                <a:solidFill>
                  <a:srgbClr val="BF873A"/>
                </a:solidFill>
              </a:rPr>
              <a:t>Hidden 1</a:t>
            </a:r>
          </a:p>
        </p:txBody>
      </p:sp>
      <p:sp>
        <p:nvSpPr>
          <p:cNvPr id="318" name="H2Label"/>
          <p:cNvSpPr/>
          <p:nvPr/>
        </p:nvSpPr>
        <p:spPr>
          <a:xfrm>
            <a:off x="4953000" y="54610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200" b="1" dirty="0">
                <a:solidFill>
                  <a:srgbClr val="BF873A"/>
                </a:solidFill>
              </a:rPr>
              <a:t>Hidden 2</a:t>
            </a:r>
          </a:p>
        </p:txBody>
      </p:sp>
      <p:sp>
        <p:nvSpPr>
          <p:cNvPr id="319" name="OutLabel"/>
          <p:cNvSpPr/>
          <p:nvPr/>
        </p:nvSpPr>
        <p:spPr>
          <a:xfrm>
            <a:off x="7112000" y="54610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200" b="1" dirty="0">
                <a:solidFill>
                  <a:srgbClr val="463443"/>
                </a:solidFill>
              </a:rPr>
              <a:t>Output</a:t>
            </a:r>
          </a:p>
        </p:txBody>
      </p:sp>
      <p:sp>
        <p:nvSpPr>
          <p:cNvPr id="320" name="Dim1"/>
          <p:cNvSpPr/>
          <p:nvPr/>
        </p:nvSpPr>
        <p:spPr>
          <a:xfrm>
            <a:off x="762000" y="56896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100" dirty="0">
                <a:solidFill>
                  <a:srgbClr val="8F6B8A"/>
                </a:solidFill>
              </a:rPr>
              <a:t>10</a:t>
            </a:r>
          </a:p>
        </p:txBody>
      </p:sp>
      <p:sp>
        <p:nvSpPr>
          <p:cNvPr id="321" name="Dim2"/>
          <p:cNvSpPr/>
          <p:nvPr/>
        </p:nvSpPr>
        <p:spPr>
          <a:xfrm>
            <a:off x="2921000" y="56896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100" dirty="0">
                <a:solidFill>
                  <a:srgbClr val="8F6B8A"/>
                </a:solidFill>
              </a:rPr>
              <a:t>64</a:t>
            </a:r>
          </a:p>
        </p:txBody>
      </p:sp>
      <p:sp>
        <p:nvSpPr>
          <p:cNvPr id="322" name="Dim3"/>
          <p:cNvSpPr/>
          <p:nvPr/>
        </p:nvSpPr>
        <p:spPr>
          <a:xfrm>
            <a:off x="5080000" y="56896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100" dirty="0">
                <a:solidFill>
                  <a:srgbClr val="8F6B8A"/>
                </a:solidFill>
              </a:rPr>
              <a:t>64</a:t>
            </a:r>
          </a:p>
        </p:txBody>
      </p:sp>
      <p:sp>
        <p:nvSpPr>
          <p:cNvPr id="323" name="Dim4"/>
          <p:cNvSpPr/>
          <p:nvPr/>
        </p:nvSpPr>
        <p:spPr>
          <a:xfrm>
            <a:off x="7239000" y="56896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100" dirty="0">
                <a:solidFill>
                  <a:srgbClr val="8F6B8A"/>
                </a:solidFill>
              </a:rPr>
              <a:t>1</a:t>
            </a:r>
          </a:p>
        </p:txBody>
      </p:sp>
      <p:sp>
        <p:nvSpPr>
          <p:cNvPr id="324" name="Arrow1"/>
          <p:cNvSpPr/>
          <p:nvPr/>
        </p:nvSpPr>
        <p:spPr>
          <a:xfrm>
            <a:off x="1460500" y="3530600"/>
            <a:ext cx="3810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49D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5" name="Arrow2"/>
          <p:cNvSpPr/>
          <p:nvPr/>
        </p:nvSpPr>
        <p:spPr>
          <a:xfrm>
            <a:off x="3619500" y="3530600"/>
            <a:ext cx="3810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49D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6" name="Arrow3"/>
          <p:cNvSpPr/>
          <p:nvPr/>
        </p:nvSpPr>
        <p:spPr>
          <a:xfrm>
            <a:off x="5778500" y="3530600"/>
            <a:ext cx="3810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49D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7" name="Act1"/>
          <p:cNvSpPr/>
          <p:nvPr/>
        </p:nvSpPr>
        <p:spPr>
          <a:xfrm>
            <a:off x="1879600" y="3238500"/>
            <a:ext cx="139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100" b="1" dirty="0">
                <a:solidFill>
                  <a:srgbClr val="BF873A"/>
                </a:solidFill>
              </a:rPr>
              <a:t>ReLU</a:t>
            </a:r>
          </a:p>
        </p:txBody>
      </p:sp>
      <p:sp>
        <p:nvSpPr>
          <p:cNvPr id="328" name="Drop1"/>
          <p:cNvSpPr/>
          <p:nvPr/>
        </p:nvSpPr>
        <p:spPr>
          <a:xfrm>
            <a:off x="1879600" y="3454400"/>
            <a:ext cx="139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000" i="1" dirty="0">
                <a:solidFill>
                  <a:srgbClr val="D45E5E"/>
                </a:solidFill>
              </a:rPr>
              <a:t>+ Dropout</a:t>
            </a:r>
          </a:p>
        </p:txBody>
      </p:sp>
      <p:sp>
        <p:nvSpPr>
          <p:cNvPr id="329" name="Act2"/>
          <p:cNvSpPr/>
          <p:nvPr/>
        </p:nvSpPr>
        <p:spPr>
          <a:xfrm>
            <a:off x="4038600" y="3238500"/>
            <a:ext cx="139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100" b="1" dirty="0">
                <a:solidFill>
                  <a:srgbClr val="BF873A"/>
                </a:solidFill>
              </a:rPr>
              <a:t>ReLU</a:t>
            </a:r>
          </a:p>
        </p:txBody>
      </p:sp>
      <p:sp>
        <p:nvSpPr>
          <p:cNvPr id="330" name="Drop2"/>
          <p:cNvSpPr/>
          <p:nvPr/>
        </p:nvSpPr>
        <p:spPr>
          <a:xfrm>
            <a:off x="4038600" y="3454400"/>
            <a:ext cx="139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000" i="1" dirty="0">
                <a:solidFill>
                  <a:srgbClr val="D45E5E"/>
                </a:solidFill>
              </a:rPr>
              <a:t>+ Dropout</a:t>
            </a:r>
          </a:p>
        </p:txBody>
      </p:sp>
      <p:sp>
        <p:nvSpPr>
          <p:cNvPr id="331" name="ActOut"/>
          <p:cNvSpPr/>
          <p:nvPr/>
        </p:nvSpPr>
        <p:spPr>
          <a:xfrm>
            <a:off x="6223000" y="3365500"/>
            <a:ext cx="139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000" i="1" dirty="0">
                <a:solidFill>
                  <a:srgbClr val="463443"/>
                </a:solidFill>
              </a:rPr>
              <a:t>Linear (MSE)</a:t>
            </a:r>
          </a:p>
        </p:txBody>
      </p:sp>
      <p:sp>
        <p:nvSpPr>
          <p:cNvPr id="332" name="TrainConfig"/>
          <p:cNvSpPr/>
          <p:nvPr/>
        </p:nvSpPr>
        <p:spPr>
          <a:xfrm>
            <a:off x="8382000" y="2184400"/>
            <a:ext cx="3238500" cy="1460500"/>
          </a:xfrm>
          <a:prstGeom prst="roundRect">
            <a:avLst/>
          </a:prstGeom>
          <a:solidFill>
            <a:srgbClr val="463443"/>
          </a:solidFill>
          <a:ln>
            <a:noFill/>
          </a:ln>
        </p:spPr>
        <p:txBody>
          <a:bodyPr wrap="square" lIns="54000" tIns="36000" rIns="54000" bIns="36000" anchor="t"/>
          <a:lstStyle/>
          <a:p>
            <a:pPr algn="l"/>
            <a:r>
              <a:rPr lang="en-US" sz="1300" b="1" dirty="0">
                <a:solidFill>
                  <a:srgbClr val="FFFFFF"/>
                </a:solidFill>
              </a:rPr>
              <a:t>Training</a:t>
            </a:r>
          </a:p>
          <a:p>
            <a:pPr algn="l"/>
            <a:r>
              <a:rPr lang="en-US" sz="1100" dirty="0">
                <a:solidFill>
                  <a:srgbClr val="FFFFFF"/>
                </a:solidFill>
              </a:rPr>
              <a:t>Observations : 30 000</a:t>
            </a:r>
          </a:p>
          <a:p>
            <a:pPr algn="l">
              <a:spcBef>
                <a:spcPts val="200"/>
              </a:spcBef>
            </a:pPr>
            <a:r>
              <a:rPr lang="en-US" sz="1100" dirty="0">
                <a:solidFill>
                  <a:srgbClr val="F3F0E9"/>
                </a:solidFill>
              </a:rPr>
              <a:t>Loss: MSE</a:t>
            </a:r>
          </a:p>
          <a:p>
            <a:pPr algn="l">
              <a:spcBef>
                <a:spcPts val="100"/>
              </a:spcBef>
            </a:pPr>
            <a:r>
              <a:rPr lang="en-US" sz="1100" dirty="0">
                <a:solidFill>
                  <a:srgbClr val="F3F0E9"/>
                </a:solidFill>
              </a:rPr>
              <a:t>Batch: 64  |  Epochs: 100</a:t>
            </a:r>
          </a:p>
          <a:p>
            <a:pPr algn="l">
              <a:spcBef>
                <a:spcPts val="100"/>
              </a:spcBef>
            </a:pPr>
            <a:r>
              <a:rPr lang="en-US" sz="1100" dirty="0">
                <a:solidFill>
                  <a:srgbClr val="F3F0E9"/>
                </a:solidFill>
              </a:rPr>
              <a:t>LR: 0.01  |  Val: 20%</a:t>
            </a:r>
          </a:p>
          <a:p>
            <a:pPr algn="l">
              <a:spcBef>
                <a:spcPts val="100"/>
              </a:spcBef>
            </a:pPr>
            <a:r>
              <a:rPr lang="en-US" sz="1100" b="1" dirty="0">
                <a:solidFill>
                  <a:srgbClr val="D49D8C"/>
                </a:solidFill>
              </a:rPr>
              <a:t>Optimizers: Adam / SGD</a:t>
            </a:r>
          </a:p>
        </p:txBody>
      </p:sp>
      <p:sp>
        <p:nvSpPr>
          <p:cNvPr id="333" name="RegConfig"/>
          <p:cNvSpPr/>
          <p:nvPr/>
        </p:nvSpPr>
        <p:spPr>
          <a:xfrm>
            <a:off x="8382000" y="3784600"/>
            <a:ext cx="3238500" cy="1206500"/>
          </a:xfrm>
          <a:prstGeom prst="roundRect">
            <a:avLst/>
          </a:prstGeom>
          <a:noFill/>
          <a:ln w="12700">
            <a:solidFill>
              <a:srgbClr val="D45E5E"/>
            </a:solidFill>
          </a:ln>
        </p:spPr>
        <p:txBody>
          <a:bodyPr wrap="square" lIns="54000" tIns="36000" rIns="54000" bIns="36000" anchor="t"/>
          <a:lstStyle/>
          <a:p>
            <a:pPr algn="l"/>
            <a:r>
              <a:rPr lang="en-US" sz="1300" b="1" dirty="0">
                <a:solidFill>
                  <a:srgbClr val="D45E5E"/>
                </a:solidFill>
              </a:rPr>
              <a:t>Regularization</a:t>
            </a:r>
          </a:p>
          <a:p>
            <a:pPr algn="l">
              <a:spcBef>
                <a:spcPts val="200"/>
              </a:spcBef>
            </a:pPr>
            <a:r>
              <a:rPr lang="en-US" sz="1100" dirty="0">
                <a:solidFill>
                  <a:srgbClr val="463443"/>
                </a:solidFill>
              </a:rPr>
              <a:t>L1: 1e-4 (interaction weights)</a:t>
            </a:r>
          </a:p>
          <a:p>
            <a:pPr algn="l">
              <a:spcBef>
                <a:spcPts val="100"/>
              </a:spcBef>
            </a:pPr>
            <a:r>
              <a:rPr lang="en-US" sz="1100" dirty="0">
                <a:solidFill>
                  <a:srgbClr val="463443"/>
                </a:solidFill>
              </a:rPr>
              <a:t>L2: 0.1 (weight decay, conditional)</a:t>
            </a:r>
          </a:p>
          <a:p>
            <a:pPr algn="l">
              <a:spcBef>
                <a:spcPts val="100"/>
              </a:spcBef>
            </a:pPr>
            <a:r>
              <a:rPr lang="en-US" sz="1100" dirty="0">
                <a:solidFill>
                  <a:srgbClr val="463443"/>
                </a:solidFill>
              </a:rPr>
              <a:t>Dropout: 0.0 / 0.1 / 0.2 / 0.5</a:t>
            </a:r>
          </a:p>
        </p:txBody>
      </p:sp>
      <p:sp>
        <p:nvSpPr>
          <p:cNvPr id="334" name="NIDCard"/>
          <p:cNvSpPr/>
          <p:nvPr/>
        </p:nvSpPr>
        <p:spPr>
          <a:xfrm>
            <a:off x="8382000" y="5143500"/>
            <a:ext cx="3238500" cy="990600"/>
          </a:xfrm>
          <a:prstGeom prst="roundRect">
            <a:avLst/>
          </a:prstGeom>
          <a:noFill/>
          <a:ln w="12700">
            <a:solidFill>
              <a:srgbClr val="BF873A"/>
            </a:solidFill>
          </a:ln>
        </p:spPr>
        <p:txBody>
          <a:bodyPr wrap="square" lIns="54000" tIns="36000" rIns="54000" bIns="36000" anchor="t"/>
          <a:lstStyle/>
          <a:p>
            <a:pPr algn="l"/>
            <a:r>
              <a:rPr lang="en-US" sz="1200" b="1" dirty="0">
                <a:solidFill>
                  <a:srgbClr val="BF873A"/>
                </a:solidFill>
              </a:rPr>
              <a:t>NID Weight Extraction</a:t>
            </a:r>
          </a:p>
          <a:p>
            <a:pPr algn="l">
              <a:spcBef>
                <a:spcPts val="200"/>
              </a:spcBef>
            </a:pPr>
            <a:r>
              <a:rPr lang="en-US" sz="1100" dirty="0">
                <a:solidFill>
                  <a:srgbClr val="463443"/>
                </a:solidFill>
              </a:rPr>
              <a:t>W₁: 10×64  |  W₂: 64×64</a:t>
            </a:r>
          </a:p>
          <a:p>
            <a:pPr algn="l">
              <a:spcBef>
                <a:spcPts val="100"/>
              </a:spcBef>
            </a:pPr>
            <a:r>
              <a:rPr lang="en-US" sz="1100" dirty="0">
                <a:solidFill>
                  <a:srgbClr val="463443"/>
                </a:solidFill>
              </a:rPr>
              <a:t>W₃: 64×1  (output)</a:t>
            </a:r>
          </a:p>
          <a:p>
            <a:pPr algn="l">
              <a:spcBef>
                <a:spcPts val="100"/>
              </a:spcBef>
            </a:pPr>
            <a:r>
              <a:rPr lang="en-US" sz="1000" i="1" dirty="0">
                <a:solidFill>
                  <a:srgbClr val="8F6B8A"/>
                </a:solidFill>
              </a:rPr>
              <a:t>Interaction-only branch</a:t>
            </a:r>
          </a:p>
        </p:txBody>
      </p:sp>
      <p:sp>
        <p:nvSpPr>
          <p:cNvPr id="335" name="Note"/>
          <p:cNvSpPr/>
          <p:nvPr/>
        </p:nvSpPr>
        <p:spPr>
          <a:xfrm>
            <a:off x="635000" y="62865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/>
          <a:lstStyle/>
          <a:p>
            <a:pPr algn="l"/>
            <a:r>
              <a:rPr lang="en-US" sz="1000" i="1" dirty="0">
                <a:solidFill>
                  <a:srgbClr val="8F6B8A"/>
                </a:solidFill>
              </a:rPr>
              <a:t>Main effect nets disabled — all learned weights from interaction MLP only</a:t>
            </a:r>
          </a:p>
        </p:txBody>
      </p:sp>
    </p:spTree>
    <p:extLst>
      <p:ext uri="{BB962C8B-B14F-4D97-AF65-F5344CB8AC3E}">
        <p14:creationId xmlns:p14="http://schemas.microsoft.com/office/powerpoint/2010/main" val="312103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0CAB-FA64-A324-57CF-A31517A87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AUROC Evaluation: Binary Classification Setup</a:t>
            </a:r>
          </a:p>
        </p:txBody>
      </p:sp>
      <p:sp>
        <p:nvSpPr>
          <p:cNvPr id="50" name="GT Box"/>
          <p:cNvSpPr/>
          <p:nvPr/>
        </p:nvSpPr>
        <p:spPr>
          <a:xfrm>
            <a:off x="609600" y="2184400"/>
            <a:ext cx="2476500" cy="1651000"/>
          </a:xfrm>
          <a:prstGeom prst="roundRect">
            <a:avLst>
              <a:gd name="adj" fmla="val 10000"/>
            </a:avLst>
          </a:prstGeom>
          <a:solidFill>
            <a:srgbClr val="D45E5E"/>
          </a:solidFill>
          <a:ln>
            <a:noFill/>
          </a:ln>
        </p:spPr>
        <p:txBody>
          <a:bodyPr wrap="square" lIns="45720" tIns="54000" rIns="45720" bIns="36000" anchor="t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Ground Truth</a:t>
            </a:r>
          </a:p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Interactions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/>
              </a:rPr>
              <a:t>{1,2,3}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/>
              </a:rPr>
              <a:t>{4,5,6}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/>
              </a:rPr>
              <a:t>{7,8,9}</a:t>
            </a:r>
          </a:p>
        </p:txBody>
      </p:sp>
      <p:sp>
        <p:nvSpPr>
          <p:cNvPr id="51" name="NID Box"/>
          <p:cNvSpPr/>
          <p:nvPr/>
        </p:nvSpPr>
        <p:spPr>
          <a:xfrm>
            <a:off x="9105900" y="2184400"/>
            <a:ext cx="2476500" cy="1651000"/>
          </a:xfrm>
          <a:prstGeom prst="roundRect">
            <a:avLst>
              <a:gd name="adj" fmla="val 10000"/>
            </a:avLst>
          </a:prstGeom>
          <a:solidFill>
            <a:srgbClr val="BF873A"/>
          </a:solidFill>
          <a:ln>
            <a:noFill/>
          </a:ln>
        </p:spPr>
        <p:txBody>
          <a:bodyPr wrap="square" lIns="45720" tIns="54000" rIns="45720" bIns="36000" anchor="t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NID Detections</a:t>
            </a:r>
          </a:p>
          <a:p>
            <a:pPr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(with strengths)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/>
              </a:rPr>
              <a:t>{1,2,3} s=0.8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/>
              </a:rPr>
              <a:t>{4,5}   s=0.6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/>
              </a:rPr>
              <a:t>{5,6,7} s=0.7</a:t>
            </a:r>
          </a:p>
        </p:txBody>
      </p:sp>
      <p:sp>
        <p:nvSpPr>
          <p:cNvPr id="52" name="Match Box"/>
          <p:cNvSpPr/>
          <p:nvPr/>
        </p:nvSpPr>
        <p:spPr>
          <a:xfrm>
            <a:off x="3937000" y="2184400"/>
            <a:ext cx="4318000" cy="1651000"/>
          </a:xfrm>
          <a:prstGeom prst="roundRect">
            <a:avLst>
              <a:gd name="adj" fmla="val 10000"/>
            </a:avLst>
          </a:prstGeom>
          <a:solidFill>
            <a:srgbClr val="463443"/>
          </a:solidFill>
          <a:ln>
            <a:noFill/>
          </a:ln>
        </p:spPr>
        <p:txBody>
          <a:bodyPr wrap="square" lIns="45720" tIns="54000" rIns="45720" bIns="36000" anchor="t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Matching Logic</a:t>
            </a:r>
          </a:p>
          <a:p>
            <a:pPr algn="l">
              <a:buNone/>
            </a:pPr>
            <a:r>
              <a:rPr lang="en-US" sz="1050" dirty="0">
                <a:solidFill>
                  <a:srgbClr val="D49D8C"/>
                </a:solidFill>
              </a:rPr>
              <a:t>For each GT interaction:</a:t>
            </a:r>
          </a:p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  <a:latin typeface="Consolas"/>
              </a:rPr>
              <a:t>  Exact NID match? → score = strength</a:t>
            </a:r>
          </a:p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  <a:latin typeface="Consolas"/>
              </a:rPr>
              <a:t>  No match? → score = 0.0</a:t>
            </a:r>
          </a:p>
          <a:p>
            <a:pPr algn="l">
              <a:buNone/>
            </a:pPr>
            <a:r>
              <a:rPr lang="en-US" sz="1050" dirty="0">
                <a:solidFill>
                  <a:srgbClr val="D49D8C"/>
                </a:solidFill>
              </a:rPr>
              <a:t>Unmatched NID (not subset of GT):</a:t>
            </a:r>
          </a:p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  <a:latin typeface="Consolas"/>
              </a:rPr>
              <a:t>  → negative sample</a:t>
            </a:r>
          </a:p>
        </p:txBody>
      </p:sp>
      <p:sp>
        <p:nvSpPr>
          <p:cNvPr id="60" name="Arrow GT to Match"/>
          <p:cNvSpPr/>
          <p:nvPr/>
        </p:nvSpPr>
        <p:spPr>
          <a:xfrm>
            <a:off x="3149600" y="2921000"/>
            <a:ext cx="698500" cy="203200"/>
          </a:xfrm>
          <a:prstGeom prst="rightArrow">
            <a:avLst/>
          </a:prstGeom>
          <a:solidFill>
            <a:srgbClr val="D45E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Arrow NID to Match"/>
          <p:cNvSpPr/>
          <p:nvPr/>
        </p:nvSpPr>
        <p:spPr>
          <a:xfrm>
            <a:off x="8343900" y="2921000"/>
            <a:ext cx="698500" cy="203200"/>
          </a:xfrm>
          <a:prstGeom prst="leftArrow">
            <a:avLst/>
          </a:prstGeom>
          <a:solidFill>
            <a:srgbClr val="BF87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Arrow Down"/>
          <p:cNvSpPr/>
          <p:nvPr/>
        </p:nvSpPr>
        <p:spPr>
          <a:xfrm>
            <a:off x="5994400" y="3860800"/>
            <a:ext cx="203200" cy="355600"/>
          </a:xfrm>
          <a:prstGeom prst="downArrow">
            <a:avLst/>
          </a:prstGeom>
          <a:solidFill>
            <a:srgbClr val="46344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Positives Card"/>
          <p:cNvSpPr/>
          <p:nvPr/>
        </p:nvSpPr>
        <p:spPr>
          <a:xfrm>
            <a:off x="1016000" y="4318000"/>
            <a:ext cx="3492500" cy="14605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558B2F"/>
            </a:solidFill>
          </a:ln>
        </p:spPr>
        <p:txBody>
          <a:bodyPr wrap="square" lIns="45720" tIns="45720" rIns="45720" bIns="36000" anchor="t"/>
          <a:lstStyle/>
          <a:p>
            <a:pPr algn="ctr">
              <a:buNone/>
            </a:pPr>
            <a:r>
              <a:rPr lang="en-US" sz="1150" b="1" dirty="0">
                <a:solidFill>
                  <a:srgbClr val="558B2F"/>
                </a:solidFill>
              </a:rPr>
              <a:t>✓  Positive Samples (label=1)</a:t>
            </a:r>
          </a:p>
          <a:p>
            <a:pPr algn="l">
              <a:buNone/>
            </a:pPr>
            <a:r>
              <a:rPr lang="en-US" sz="1050" dirty="0">
                <a:solidFill>
                  <a:srgbClr val="463443"/>
                </a:solidFill>
                <a:latin typeface="Consolas"/>
              </a:rPr>
              <a:t>GT {1,2,3} → score 0.8</a:t>
            </a:r>
          </a:p>
          <a:p>
            <a:pPr algn="l">
              <a:buNone/>
            </a:pPr>
            <a:r>
              <a:rPr lang="en-US" sz="1050" dirty="0">
                <a:solidFill>
                  <a:srgbClr val="463443"/>
                </a:solidFill>
                <a:latin typeface="Consolas"/>
              </a:rPr>
              <a:t>GT {4,5,6} → score 0.0</a:t>
            </a:r>
          </a:p>
          <a:p>
            <a:pPr algn="l">
              <a:buNone/>
            </a:pPr>
            <a:r>
              <a:rPr lang="en-US" sz="1050" dirty="0">
                <a:solidFill>
                  <a:srgbClr val="463443"/>
                </a:solidFill>
                <a:latin typeface="Consolas"/>
              </a:rPr>
              <a:t>GT {7,8,9} → score 0.0</a:t>
            </a:r>
          </a:p>
          <a:p>
            <a:pPr algn="ctr">
              <a:buNone/>
            </a:pPr>
            <a:r>
              <a:rPr lang="en-US" sz="900" i="1" dirty="0">
                <a:solidFill>
                  <a:srgbClr val="8F6B8A"/>
                </a:solidFill>
              </a:rPr>
              <a:t>One per GT interaction, always</a:t>
            </a:r>
          </a:p>
        </p:txBody>
      </p:sp>
      <p:sp>
        <p:nvSpPr>
          <p:cNvPr id="71" name="Negatives Card"/>
          <p:cNvSpPr/>
          <p:nvPr/>
        </p:nvSpPr>
        <p:spPr>
          <a:xfrm>
            <a:off x="7683500" y="4318000"/>
            <a:ext cx="3492500" cy="14605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D45E5E"/>
            </a:solidFill>
          </a:ln>
        </p:spPr>
        <p:txBody>
          <a:bodyPr wrap="square" lIns="45720" tIns="45720" rIns="45720" bIns="36000" anchor="t"/>
          <a:lstStyle/>
          <a:p>
            <a:pPr algn="ctr">
              <a:buNone/>
            </a:pPr>
            <a:r>
              <a:rPr lang="en-US" sz="1150" b="1" dirty="0">
                <a:solidFill>
                  <a:srgbClr val="D45E5E"/>
                </a:solidFill>
              </a:rPr>
              <a:t>✗  Negative Samples (label=0)</a:t>
            </a:r>
          </a:p>
          <a:p>
            <a:pPr algn="l">
              <a:buNone/>
            </a:pPr>
            <a:r>
              <a:rPr lang="en-US" sz="1050" dirty="0">
                <a:solidFill>
                  <a:srgbClr val="463443"/>
                </a:solidFill>
                <a:latin typeface="Consolas"/>
              </a:rPr>
              <a:t>NID {5,6,7} → score 0.7</a:t>
            </a:r>
          </a:p>
          <a:p>
            <a:pPr algn="ctr">
              <a:buNone/>
            </a:pPr>
            <a:endParaRPr lang="en-US" sz="1050" dirty="0">
              <a:solidFill>
                <a:srgbClr val="463443"/>
              </a:solidFill>
              <a:latin typeface="Consolas"/>
            </a:endParaRPr>
          </a:p>
          <a:p>
            <a:pPr algn="ctr">
              <a:buNone/>
            </a:pPr>
            <a:r>
              <a:rPr lang="en-US" sz="950" i="1" dirty="0">
                <a:solidFill>
                  <a:srgbClr val="8F6B8A"/>
                </a:solidFill>
              </a:rPr>
              <a:t>{4,5} excluded (subset of GT)</a:t>
            </a:r>
          </a:p>
          <a:p>
            <a:pPr algn="ctr">
              <a:buNone/>
            </a:pPr>
            <a:r>
              <a:rPr lang="en-US" sz="950" i="1" dirty="0">
                <a:solidFill>
                  <a:srgbClr val="8F6B8A"/>
                </a:solidFill>
              </a:rPr>
              <a:t>Unmatched + not subset of any GT</a:t>
            </a:r>
          </a:p>
        </p:txBody>
      </p:sp>
      <p:sp>
        <p:nvSpPr>
          <p:cNvPr id="63" name="Arrow to Pos"/>
          <p:cNvSpPr/>
          <p:nvPr/>
        </p:nvSpPr>
        <p:spPr>
          <a:xfrm>
            <a:off x="4826000" y="4292600"/>
            <a:ext cx="635000" cy="177800"/>
          </a:xfrm>
          <a:prstGeom prst="leftArrow">
            <a:avLst/>
          </a:prstGeom>
          <a:solidFill>
            <a:srgbClr val="558B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Arrow to Neg"/>
          <p:cNvSpPr/>
          <p:nvPr/>
        </p:nvSpPr>
        <p:spPr>
          <a:xfrm>
            <a:off x="6731000" y="4292600"/>
            <a:ext cx="635000" cy="177800"/>
          </a:xfrm>
          <a:prstGeom prst="rightArrow">
            <a:avLst/>
          </a:prstGeom>
          <a:solidFill>
            <a:srgbClr val="D45E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" name="Output Bar"/>
          <p:cNvSpPr/>
          <p:nvPr/>
        </p:nvSpPr>
        <p:spPr>
          <a:xfrm>
            <a:off x="2095500" y="5880100"/>
            <a:ext cx="8001000" cy="431800"/>
          </a:xfrm>
          <a:prstGeom prst="roundRect">
            <a:avLst>
              <a:gd name="adj" fmla="val 10000"/>
            </a:avLst>
          </a:prstGeom>
          <a:solidFill>
            <a:srgbClr val="F3F0E9"/>
          </a:solidFill>
          <a:ln w="12700">
            <a:solidFill>
              <a:srgbClr val="D49D8C"/>
            </a:solidFill>
          </a:ln>
        </p:spPr>
        <p:txBody>
          <a:bodyPr wrap="square" lIns="45720" tIns="36000" rIns="45720" bIns="36000" anchor="ctr"/>
          <a:lstStyle/>
          <a:p>
            <a:pPr algn="ctr">
              <a:buNone/>
            </a:pPr>
            <a:r>
              <a:rPr lang="en-US" sz="1050" b="1" dirty="0">
                <a:solidFill>
                  <a:srgbClr val="463443"/>
                </a:solidFill>
              </a:rPr>
              <a:t>Output:  </a:t>
            </a:r>
            <a:r>
              <a:rPr lang="en-US" sz="1050" dirty="0">
                <a:solidFill>
                  <a:srgbClr val="463443"/>
                </a:solidFill>
                <a:latin typeface="Consolas"/>
              </a:rPr>
              <a:t>scores = [0.8, 0.0, 0.0, 0.7]    labels = [1, 1, 1, 0]</a:t>
            </a:r>
          </a:p>
        </p:txBody>
      </p:sp>
    </p:spTree>
    <p:extLst>
      <p:ext uri="{BB962C8B-B14F-4D97-AF65-F5344CB8AC3E}">
        <p14:creationId xmlns:p14="http://schemas.microsoft.com/office/powerpoint/2010/main" val="5083252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8DE6C-4D9B-6A44-7969-FE524A0E4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AUROC Computation: Concordant Pairs</a:t>
            </a:r>
          </a:p>
        </p:txBody>
      </p:sp>
      <p:sp>
        <p:nvSpPr>
          <p:cNvPr id="50" name="Formula"/>
          <p:cNvSpPr/>
          <p:nvPr/>
        </p:nvSpPr>
        <p:spPr>
          <a:xfrm>
            <a:off x="1016000" y="2159000"/>
            <a:ext cx="10160000" cy="533400"/>
          </a:xfrm>
          <a:prstGeom prst="roundRect">
            <a:avLst>
              <a:gd name="adj" fmla="val 10000"/>
            </a:avLst>
          </a:prstGeom>
          <a:solidFill>
            <a:srgbClr val="463443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AUROC = </a:t>
            </a:r>
            <a:r>
              <a:rPr lang="en-US" sz="1300" dirty="0">
                <a:solidFill>
                  <a:srgbClr val="D49D8C"/>
                </a:solidFill>
                <a:latin typeface="Consolas"/>
              </a:rPr>
              <a:t>( # concordant + 0.5 × # tied )  /  ( # positives × # negatives )</a:t>
            </a:r>
          </a:p>
        </p:txBody>
      </p:sp>
      <p:sp>
        <p:nvSpPr>
          <p:cNvPr id="51" name="Example Label"/>
          <p:cNvSpPr/>
          <p:nvPr/>
        </p:nvSpPr>
        <p:spPr>
          <a:xfrm>
            <a:off x="1016000" y="28575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/>
          <a:lstStyle/>
          <a:p>
            <a:pPr algn="l">
              <a:buNone/>
            </a:pPr>
            <a:r>
              <a:rPr lang="en-US" sz="1200" b="1" dirty="0">
                <a:solidFill>
                  <a:srgbClr val="D45E5E"/>
                </a:solidFill>
              </a:rPr>
              <a:t>Worked Example</a:t>
            </a:r>
          </a:p>
        </p:txBody>
      </p:sp>
      <p:sp>
        <p:nvSpPr>
          <p:cNvPr id="52" name="Pos Scores"/>
          <p:cNvSpPr/>
          <p:nvPr/>
        </p:nvSpPr>
        <p:spPr>
          <a:xfrm>
            <a:off x="1016000" y="3238500"/>
            <a:ext cx="3302000" cy="863600"/>
          </a:xfrm>
          <a:prstGeom prst="roundRect">
            <a:avLst>
              <a:gd name="adj" fmla="val 10000"/>
            </a:avLst>
          </a:prstGeom>
          <a:noFill/>
          <a:ln w="15240">
            <a:solidFill>
              <a:srgbClr val="558B2F"/>
            </a:solidFill>
          </a:ln>
        </p:spPr>
        <p:txBody>
          <a:bodyPr wrap="square" lIns="45720" tIns="36000" rIns="45720" bIns="36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558B2F"/>
                </a:solidFill>
              </a:rPr>
              <a:t>Positive scores (label=1)</a:t>
            </a:r>
          </a:p>
          <a:p>
            <a:pPr algn="ctr">
              <a:buNone/>
            </a:pPr>
            <a:r>
              <a:rPr lang="en-US" sz="1200" dirty="0">
                <a:solidFill>
                  <a:srgbClr val="463443"/>
                </a:solidFill>
                <a:latin typeface="Consolas"/>
              </a:rPr>
              <a:t>[ 0.8,  0.0,  0.0 ]</a:t>
            </a:r>
          </a:p>
        </p:txBody>
      </p:sp>
      <p:sp>
        <p:nvSpPr>
          <p:cNvPr id="53" name="Neg Scores"/>
          <p:cNvSpPr/>
          <p:nvPr/>
        </p:nvSpPr>
        <p:spPr>
          <a:xfrm>
            <a:off x="4572000" y="3238500"/>
            <a:ext cx="3302000" cy="863600"/>
          </a:xfrm>
          <a:prstGeom prst="roundRect">
            <a:avLst>
              <a:gd name="adj" fmla="val 10000"/>
            </a:avLst>
          </a:prstGeom>
          <a:noFill/>
          <a:ln w="15240">
            <a:solidFill>
              <a:srgbClr val="D45E5E"/>
            </a:solidFill>
          </a:ln>
        </p:spPr>
        <p:txBody>
          <a:bodyPr wrap="square" lIns="45720" tIns="36000" rIns="45720" bIns="36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D45E5E"/>
                </a:solidFill>
              </a:rPr>
              <a:t>Negative scores (label=0)</a:t>
            </a:r>
          </a:p>
          <a:p>
            <a:pPr algn="ctr">
              <a:buNone/>
            </a:pPr>
            <a:r>
              <a:rPr lang="en-US" sz="1200" dirty="0">
                <a:solidFill>
                  <a:srgbClr val="463443"/>
                </a:solidFill>
                <a:latin typeface="Consolas"/>
              </a:rPr>
              <a:t>[ 0.7 ]</a:t>
            </a:r>
          </a:p>
        </p:txBody>
      </p:sp>
      <p:sp>
        <p:nvSpPr>
          <p:cNvPr id="54" name="Count Header"/>
          <p:cNvSpPr/>
          <p:nvPr/>
        </p:nvSpPr>
        <p:spPr>
          <a:xfrm>
            <a:off x="1016000" y="4254500"/>
            <a:ext cx="685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/>
          <a:lstStyle/>
          <a:p>
            <a:pPr algn="l">
              <a:buNone/>
            </a:pPr>
            <a:r>
              <a:rPr lang="en-US" sz="1050" i="1" dirty="0">
                <a:solidFill>
                  <a:srgbClr val="8F6B8A"/>
                </a:solidFill>
              </a:rPr>
              <a:t>Count concordant pairs: positive score &gt; negative score</a:t>
            </a:r>
          </a:p>
        </p:txBody>
      </p:sp>
      <p:sp>
        <p:nvSpPr>
          <p:cNvPr id="55" name="Row1"/>
          <p:cNvSpPr/>
          <p:nvPr/>
        </p:nvSpPr>
        <p:spPr>
          <a:xfrm>
            <a:off x="1016000" y="4610100"/>
            <a:ext cx="6858000" cy="304800"/>
          </a:xfrm>
          <a:prstGeom prst="roundRect">
            <a:avLst>
              <a:gd name="adj" fmla="val 10000"/>
            </a:avLst>
          </a:prstGeom>
          <a:solidFill>
            <a:srgbClr val="F3F0E9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pPr algn="ctr">
              <a:buNone/>
            </a:pPr>
            <a:r>
              <a:rPr lang="en-US" sz="1100" b="1" dirty="0">
                <a:solidFill>
                  <a:srgbClr val="558B2F"/>
                </a:solidFill>
                <a:latin typeface="Consolas"/>
              </a:rPr>
              <a:t>0.8</a:t>
            </a:r>
            <a:r>
              <a:rPr lang="en-US" sz="1100" dirty="0">
                <a:solidFill>
                  <a:srgbClr val="463443"/>
                </a:solidFill>
              </a:rPr>
              <a:t>  &gt;  </a:t>
            </a:r>
            <a:r>
              <a:rPr lang="en-US" sz="1100" dirty="0">
                <a:solidFill>
                  <a:srgbClr val="D45E5E"/>
                </a:solidFill>
                <a:latin typeface="Consolas"/>
              </a:rPr>
              <a:t>0.7</a:t>
            </a:r>
            <a:r>
              <a:rPr lang="en-US" sz="1050" dirty="0">
                <a:solidFill>
                  <a:srgbClr val="463443"/>
                </a:solidFill>
              </a:rPr>
              <a:t>   →  concordant  </a:t>
            </a:r>
            <a:r>
              <a:rPr lang="en-US" sz="1100" b="1" dirty="0">
                <a:solidFill>
                  <a:srgbClr val="558B2F"/>
                </a:solidFill>
              </a:rPr>
              <a:t>✓</a:t>
            </a:r>
          </a:p>
        </p:txBody>
      </p:sp>
      <p:sp>
        <p:nvSpPr>
          <p:cNvPr id="56" name="Row2"/>
          <p:cNvSpPr/>
          <p:nvPr/>
        </p:nvSpPr>
        <p:spPr>
          <a:xfrm>
            <a:off x="1016000" y="4965700"/>
            <a:ext cx="6858000" cy="30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49D8C"/>
            </a:solidFill>
          </a:ln>
        </p:spPr>
        <p:txBody>
          <a:bodyPr wrap="square" lIns="45720" tIns="36000" rIns="45720" bIns="36000" anchor="ctr"/>
          <a:lstStyle/>
          <a:p>
            <a:pPr algn="ctr">
              <a:buNone/>
            </a:pPr>
            <a:r>
              <a:rPr lang="en-US" sz="1100" b="1" dirty="0">
                <a:solidFill>
                  <a:srgbClr val="558B2F"/>
                </a:solidFill>
                <a:latin typeface="Consolas"/>
              </a:rPr>
              <a:t>0.0</a:t>
            </a:r>
            <a:r>
              <a:rPr lang="en-US" sz="1100" dirty="0">
                <a:solidFill>
                  <a:srgbClr val="463443"/>
                </a:solidFill>
              </a:rPr>
              <a:t>  &lt;  </a:t>
            </a:r>
            <a:r>
              <a:rPr lang="en-US" sz="1100" dirty="0">
                <a:solidFill>
                  <a:srgbClr val="D45E5E"/>
                </a:solidFill>
                <a:latin typeface="Consolas"/>
              </a:rPr>
              <a:t>0.7</a:t>
            </a:r>
            <a:r>
              <a:rPr lang="en-US" sz="1050" dirty="0">
                <a:solidFill>
                  <a:srgbClr val="463443"/>
                </a:solidFill>
              </a:rPr>
              <a:t>   →  discordant  </a:t>
            </a:r>
            <a:r>
              <a:rPr lang="en-US" sz="1100" b="1" dirty="0">
                <a:solidFill>
                  <a:srgbClr val="D45E5E"/>
                </a:solidFill>
              </a:rPr>
              <a:t>✗</a:t>
            </a:r>
          </a:p>
        </p:txBody>
      </p:sp>
      <p:sp>
        <p:nvSpPr>
          <p:cNvPr id="57" name="Row3"/>
          <p:cNvSpPr/>
          <p:nvPr/>
        </p:nvSpPr>
        <p:spPr>
          <a:xfrm>
            <a:off x="1016000" y="5321300"/>
            <a:ext cx="6858000" cy="304800"/>
          </a:xfrm>
          <a:prstGeom prst="roundRect">
            <a:avLst>
              <a:gd name="adj" fmla="val 10000"/>
            </a:avLst>
          </a:prstGeom>
          <a:solidFill>
            <a:srgbClr val="F3F0E9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pPr algn="ctr">
              <a:buNone/>
            </a:pPr>
            <a:r>
              <a:rPr lang="en-US" sz="1100" b="1" dirty="0">
                <a:solidFill>
                  <a:srgbClr val="558B2F"/>
                </a:solidFill>
                <a:latin typeface="Consolas"/>
              </a:rPr>
              <a:t>0.0</a:t>
            </a:r>
            <a:r>
              <a:rPr lang="en-US" sz="1100" dirty="0">
                <a:solidFill>
                  <a:srgbClr val="463443"/>
                </a:solidFill>
              </a:rPr>
              <a:t>  &lt;  </a:t>
            </a:r>
            <a:r>
              <a:rPr lang="en-US" sz="1100" dirty="0">
                <a:solidFill>
                  <a:srgbClr val="D45E5E"/>
                </a:solidFill>
                <a:latin typeface="Consolas"/>
              </a:rPr>
              <a:t>0.7</a:t>
            </a:r>
            <a:r>
              <a:rPr lang="en-US" sz="1050" dirty="0">
                <a:solidFill>
                  <a:srgbClr val="463443"/>
                </a:solidFill>
              </a:rPr>
              <a:t>   →  discordant  </a:t>
            </a:r>
            <a:r>
              <a:rPr lang="en-US" sz="1100" b="1" dirty="0">
                <a:solidFill>
                  <a:srgbClr val="D45E5E"/>
                </a:solidFill>
              </a:rPr>
              <a:t>✗</a:t>
            </a:r>
          </a:p>
        </p:txBody>
      </p:sp>
      <p:sp>
        <p:nvSpPr>
          <p:cNvPr id="58" name="Calc"/>
          <p:cNvSpPr/>
          <p:nvPr/>
        </p:nvSpPr>
        <p:spPr>
          <a:xfrm>
            <a:off x="1016000" y="5778500"/>
            <a:ext cx="6858000" cy="406400"/>
          </a:xfrm>
          <a:prstGeom prst="roundRect">
            <a:avLst>
              <a:gd name="adj" fmla="val 10000"/>
            </a:avLst>
          </a:prstGeom>
          <a:solidFill>
            <a:srgbClr val="463443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AUROC = </a:t>
            </a:r>
            <a:r>
              <a:rPr lang="en-US" sz="1200" dirty="0">
                <a:solidFill>
                  <a:srgbClr val="D49D8C"/>
                </a:solidFill>
                <a:latin typeface="Consolas"/>
              </a:rPr>
              <a:t>1 concordant / (3 × 1) = </a:t>
            </a:r>
            <a:r>
              <a:rPr lang="en-US" sz="1400" b="1" dirty="0">
                <a:solidFill>
                  <a:srgbClr val="D45E5E"/>
                </a:solidFill>
              </a:rPr>
              <a:t>0.333</a:t>
            </a:r>
          </a:p>
        </p:txBody>
      </p:sp>
      <p:sp>
        <p:nvSpPr>
          <p:cNvPr id="70" name="Design Label"/>
          <p:cNvSpPr/>
          <p:nvPr/>
        </p:nvSpPr>
        <p:spPr>
          <a:xfrm>
            <a:off x="8255000" y="2857500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/>
          <a:lstStyle/>
          <a:p>
            <a:pPr algn="ctr">
              <a:buNone/>
            </a:pPr>
            <a:r>
              <a:rPr lang="en-US" sz="1200" b="1" dirty="0">
                <a:solidFill>
                  <a:srgbClr val="BF873A"/>
                </a:solidFill>
              </a:rPr>
              <a:t>Key Design Decisions</a:t>
            </a:r>
          </a:p>
        </p:txBody>
      </p:sp>
      <p:sp>
        <p:nvSpPr>
          <p:cNvPr id="71" name="Decision 1"/>
          <p:cNvSpPr/>
          <p:nvPr/>
        </p:nvSpPr>
        <p:spPr>
          <a:xfrm>
            <a:off x="8255000" y="3263900"/>
            <a:ext cx="3302000" cy="660400"/>
          </a:xfrm>
          <a:prstGeom prst="roundRect">
            <a:avLst>
              <a:gd name="adj" fmla="val 10000"/>
            </a:avLst>
          </a:prstGeom>
          <a:noFill/>
          <a:ln w="15240">
            <a:solidFill>
              <a:srgbClr val="D45E5E"/>
            </a:solidFill>
          </a:ln>
        </p:spPr>
        <p:txBody>
          <a:bodyPr wrap="square" lIns="45720" tIns="27000" rIns="45720" bIns="36000" anchor="t"/>
          <a:lstStyle/>
          <a:p>
            <a:pPr algn="ctr">
              <a:buNone/>
            </a:pPr>
            <a:r>
              <a:rPr lang="en-US" sz="1050" b="1" dirty="0">
                <a:solidFill>
                  <a:srgbClr val="D45E5E"/>
                </a:solidFill>
              </a:rPr>
              <a:t>Exact matching only</a:t>
            </a:r>
          </a:p>
          <a:p>
            <a:pPr algn="ctr">
              <a:buNone/>
            </a:pPr>
            <a:r>
              <a:rPr lang="en-US" sz="900" dirty="0">
                <a:solidFill>
                  <a:srgbClr val="463443"/>
                </a:solidFill>
              </a:rPr>
              <a:t>Only credits NID detections that exactly match a GT interaction</a:t>
            </a:r>
          </a:p>
        </p:txBody>
      </p:sp>
      <p:sp>
        <p:nvSpPr>
          <p:cNvPr id="72" name="Decision 2"/>
          <p:cNvSpPr/>
          <p:nvPr/>
        </p:nvSpPr>
        <p:spPr>
          <a:xfrm>
            <a:off x="8255000" y="4000500"/>
            <a:ext cx="3302000" cy="660400"/>
          </a:xfrm>
          <a:prstGeom prst="roundRect">
            <a:avLst>
              <a:gd name="adj" fmla="val 10000"/>
            </a:avLst>
          </a:prstGeom>
          <a:noFill/>
          <a:ln w="15240">
            <a:solidFill>
              <a:srgbClr val="BF873A"/>
            </a:solidFill>
          </a:ln>
        </p:spPr>
        <p:txBody>
          <a:bodyPr wrap="square" lIns="45720" tIns="27000" rIns="45720" bIns="36000" anchor="t"/>
          <a:lstStyle/>
          <a:p>
            <a:pPr algn="ctr">
              <a:buNone/>
            </a:pPr>
            <a:r>
              <a:rPr lang="en-US" sz="1050" b="1" dirty="0">
                <a:solidFill>
                  <a:srgbClr val="BF873A"/>
                </a:solidFill>
              </a:rPr>
              <a:t>Subset exclusion</a:t>
            </a:r>
          </a:p>
          <a:p>
            <a:pPr algn="ctr">
              <a:buNone/>
            </a:pPr>
            <a:r>
              <a:rPr lang="en-US" sz="900" dirty="0">
                <a:solidFill>
                  <a:srgbClr val="463443"/>
                </a:solidFill>
              </a:rPr>
              <a:t>Partial detections excluded from negatives (not penalized)</a:t>
            </a:r>
          </a:p>
        </p:txBody>
      </p:sp>
      <p:sp>
        <p:nvSpPr>
          <p:cNvPr id="73" name="Decision 3"/>
          <p:cNvSpPr/>
          <p:nvPr/>
        </p:nvSpPr>
        <p:spPr>
          <a:xfrm>
            <a:off x="8255000" y="4737100"/>
            <a:ext cx="3302000" cy="660400"/>
          </a:xfrm>
          <a:prstGeom prst="roundRect">
            <a:avLst>
              <a:gd name="adj" fmla="val 10000"/>
            </a:avLst>
          </a:prstGeom>
          <a:noFill/>
          <a:ln w="15240">
            <a:solidFill>
              <a:srgbClr val="463443"/>
            </a:solidFill>
          </a:ln>
        </p:spPr>
        <p:txBody>
          <a:bodyPr wrap="square" lIns="45720" tIns="27000" rIns="45720" bIns="36000" anchor="t"/>
          <a:lstStyle/>
          <a:p>
            <a:pPr algn="ctr">
              <a:buNone/>
            </a:pPr>
            <a:r>
              <a:rPr lang="en-US" sz="1050" b="1" dirty="0">
                <a:solidFill>
                  <a:srgbClr val="463443"/>
                </a:solidFill>
              </a:rPr>
              <a:t>Strength as confidence</a:t>
            </a:r>
          </a:p>
          <a:p>
            <a:pPr algn="ctr">
              <a:buNone/>
            </a:pPr>
            <a:r>
              <a:rPr lang="en-US" sz="900" dirty="0">
                <a:solidFill>
                  <a:srgbClr val="463443"/>
                </a:solidFill>
              </a:rPr>
              <a:t>NID strength = discrimination score for ranking</a:t>
            </a:r>
          </a:p>
        </p:txBody>
      </p:sp>
      <p:sp>
        <p:nvSpPr>
          <p:cNvPr id="74" name="Decision 4"/>
          <p:cNvSpPr/>
          <p:nvPr/>
        </p:nvSpPr>
        <p:spPr>
          <a:xfrm>
            <a:off x="8255000" y="5473700"/>
            <a:ext cx="3302000" cy="660400"/>
          </a:xfrm>
          <a:prstGeom prst="roundRect">
            <a:avLst>
              <a:gd name="adj" fmla="val 10000"/>
            </a:avLst>
          </a:prstGeom>
          <a:noFill/>
          <a:ln w="15240">
            <a:solidFill>
              <a:srgbClr val="8F6B8A"/>
            </a:solidFill>
          </a:ln>
        </p:spPr>
        <p:txBody>
          <a:bodyPr wrap="square" lIns="45720" tIns="27000" rIns="45720" bIns="36000" anchor="t"/>
          <a:lstStyle/>
          <a:p>
            <a:pPr algn="ctr">
              <a:buNone/>
            </a:pPr>
            <a:r>
              <a:rPr lang="en-US" sz="1050" b="1" dirty="0">
                <a:solidFill>
                  <a:srgbClr val="8F6B8A"/>
                </a:solidFill>
              </a:rPr>
              <a:t>Fail-safe</a:t>
            </a:r>
          </a:p>
          <a:p>
            <a:pPr algn="ctr">
              <a:buNone/>
            </a:pPr>
            <a:r>
              <a:rPr lang="en-US" sz="900" dirty="0">
                <a:solidFill>
                  <a:srgbClr val="463443"/>
                </a:solidFill>
              </a:rPr>
              <a:t>Returns None if &lt; 2 samples (no pos or no neg)</a:t>
            </a:r>
          </a:p>
        </p:txBody>
      </p:sp>
      <p:sp>
        <p:nvSpPr>
          <p:cNvPr id="90" name="Interp Bar"/>
          <p:cNvSpPr/>
          <p:nvPr/>
        </p:nvSpPr>
        <p:spPr>
          <a:xfrm>
            <a:off x="1016000" y="6223000"/>
            <a:ext cx="10160000" cy="406400"/>
          </a:xfrm>
          <a:prstGeom prst="roundRect">
            <a:avLst>
              <a:gd name="adj" fmla="val 10000"/>
            </a:avLst>
          </a:prstGeom>
          <a:solidFill>
            <a:srgbClr val="F3F0E9"/>
          </a:solidFill>
          <a:ln w="10160">
            <a:solidFill>
              <a:srgbClr val="D49D8C"/>
            </a:solidFill>
          </a:ln>
        </p:spPr>
        <p:txBody>
          <a:bodyPr wrap="square" lIns="45720" tIns="36000" rIns="45720" bIns="36000" anchor="ctr"/>
          <a:lstStyle/>
          <a:p>
            <a:pPr algn="ctr">
              <a:buNone/>
            </a:pPr>
            <a:r>
              <a:rPr lang="en-US" sz="1000" dirty="0">
                <a:solidFill>
                  <a:srgbClr val="D45E5E"/>
                </a:solidFill>
                <a:latin typeface="Consolas"/>
              </a:rPr>
              <a:t>AUROC = 0.5 </a:t>
            </a:r>
            <a:r>
              <a:rPr lang="en-US" sz="1000" dirty="0">
                <a:solidFill>
                  <a:srgbClr val="463443"/>
                </a:solidFill>
              </a:rPr>
              <a:t>random  |  </a:t>
            </a:r>
            <a:r>
              <a:rPr lang="en-US" sz="1000" dirty="0">
                <a:solidFill>
                  <a:srgbClr val="558B2F"/>
                </a:solidFill>
                <a:latin typeface="Consolas"/>
              </a:rPr>
              <a:t>AUROC = 1.0 </a:t>
            </a:r>
            <a:r>
              <a:rPr lang="en-US" sz="1000" dirty="0">
                <a:solidFill>
                  <a:srgbClr val="463443"/>
                </a:solidFill>
              </a:rPr>
              <a:t>perfect separation  |  </a:t>
            </a:r>
            <a:r>
              <a:rPr lang="en-US" sz="1000" i="1" dirty="0">
                <a:solidFill>
                  <a:srgbClr val="8F6B8A"/>
                </a:solidFill>
              </a:rPr>
              <a:t>Higher = NID better distinguishes real from spurious interactions</a:t>
            </a:r>
          </a:p>
        </p:txBody>
      </p:sp>
    </p:spTree>
    <p:extLst>
      <p:ext uri="{BB962C8B-B14F-4D97-AF65-F5344CB8AC3E}">
        <p14:creationId xmlns:p14="http://schemas.microsoft.com/office/powerpoint/2010/main" val="34844544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EEF879-4C87-A1FB-6505-F45FD5CBD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8A529D2-FB01-F6B4-029A-444E9E781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Experimental Results</a:t>
            </a:r>
          </a:p>
        </p:txBody>
      </p:sp>
    </p:spTree>
    <p:extLst>
      <p:ext uri="{BB962C8B-B14F-4D97-AF65-F5344CB8AC3E}">
        <p14:creationId xmlns:p14="http://schemas.microsoft.com/office/powerpoint/2010/main" val="41807885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C67A4-DD5D-73FF-D6BC-A9D8CFF30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21" y="543719"/>
            <a:ext cx="10077557" cy="1325563"/>
          </a:xfrm>
        </p:spPr>
        <p:txBody>
          <a:bodyPr/>
          <a:lstStyle/>
          <a:p>
            <a:r>
              <a:rPr lang="en-US" dirty="0"/>
              <a:t>General Findings</a:t>
            </a:r>
          </a:p>
        </p:txBody>
      </p:sp>
      <p:sp>
        <p:nvSpPr>
          <p:cNvPr id="10" name="Subtitle"/>
          <p:cNvSpPr/>
          <p:nvPr/>
        </p:nvSpPr>
        <p:spPr>
          <a:xfrm>
            <a:off x="762000" y="1815586"/>
            <a:ext cx="889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ctr"/>
          <a:lstStyle/>
          <a:p>
            <a:pPr algn="l"/>
            <a:r>
              <a:rPr lang="en-US" sz="1200" i="1" dirty="0">
                <a:solidFill>
                  <a:srgbClr val="8F6B8A"/>
                </a:solidFill>
              </a:rPr>
              <a:t>AUROC performance across all 300 training runs (30 configurations × 10 test functions)</a:t>
            </a:r>
          </a:p>
        </p:txBody>
      </p:sp>
      <p:sp>
        <p:nvSpPr>
          <p:cNvPr id="20" name="MeanCard"/>
          <p:cNvSpPr/>
          <p:nvPr/>
        </p:nvSpPr>
        <p:spPr>
          <a:xfrm>
            <a:off x="762000" y="2362200"/>
            <a:ext cx="2286000" cy="1371600"/>
          </a:xfrm>
          <a:prstGeom prst="roundRect">
            <a:avLst/>
          </a:prstGeom>
          <a:solidFill>
            <a:srgbClr val="D45E5E"/>
          </a:solidFill>
          <a:ln>
            <a:noFill/>
          </a:ln>
        </p:spPr>
        <p:txBody>
          <a:bodyPr wrap="square" lIns="54000" tIns="36000" rIns="54000" bIns="36000" anchor="ctr"/>
          <a:lstStyle/>
          <a:p>
            <a:pPr algn="ctr"/>
            <a:r>
              <a:rPr lang="en-US" sz="1100" dirty="0">
                <a:solidFill>
                  <a:srgbClr val="FFFFFF"/>
                </a:solidFill>
              </a:rPr>
              <a:t>MEAN AUROC</a:t>
            </a:r>
          </a:p>
          <a:p>
            <a:pPr algn="ctr">
              <a:spcBef>
                <a:spcPts val="200"/>
              </a:spcBef>
            </a:pPr>
            <a:r>
              <a:rPr lang="en-US" sz="3600" b="1" dirty="0">
                <a:solidFill>
                  <a:srgbClr val="FFFFFF"/>
                </a:solidFill>
              </a:rPr>
              <a:t>0.61</a:t>
            </a:r>
          </a:p>
        </p:txBody>
      </p:sp>
      <p:sp>
        <p:nvSpPr>
          <p:cNvPr id="30" name="MedianCard"/>
          <p:cNvSpPr/>
          <p:nvPr/>
        </p:nvSpPr>
        <p:spPr>
          <a:xfrm>
            <a:off x="3238500" y="2362200"/>
            <a:ext cx="2286000" cy="1371600"/>
          </a:xfrm>
          <a:prstGeom prst="roundRect">
            <a:avLst/>
          </a:prstGeom>
          <a:solidFill>
            <a:srgbClr val="BF873A"/>
          </a:solidFill>
          <a:ln>
            <a:noFill/>
          </a:ln>
        </p:spPr>
        <p:txBody>
          <a:bodyPr wrap="square" lIns="54000" tIns="36000" rIns="54000" bIns="36000" anchor="ctr"/>
          <a:lstStyle/>
          <a:p>
            <a:pPr algn="ctr"/>
            <a:r>
              <a:rPr lang="en-US" sz="1100" dirty="0">
                <a:solidFill>
                  <a:srgbClr val="FFFFFF"/>
                </a:solidFill>
              </a:rPr>
              <a:t>MEDIAN AUROC</a:t>
            </a:r>
          </a:p>
          <a:p>
            <a:pPr algn="ctr">
              <a:spcBef>
                <a:spcPts val="200"/>
              </a:spcBef>
            </a:pPr>
            <a:r>
              <a:rPr lang="en-US" sz="3600" b="1" dirty="0">
                <a:solidFill>
                  <a:srgbClr val="FFFFFF"/>
                </a:solidFill>
              </a:rPr>
              <a:t>0.55</a:t>
            </a:r>
          </a:p>
        </p:txBody>
      </p:sp>
      <p:sp>
        <p:nvSpPr>
          <p:cNvPr id="40" name="MinCard"/>
          <p:cNvSpPr/>
          <p:nvPr/>
        </p:nvSpPr>
        <p:spPr>
          <a:xfrm>
            <a:off x="5715000" y="2362200"/>
            <a:ext cx="2286000" cy="1371600"/>
          </a:xfrm>
          <a:prstGeom prst="roundRect">
            <a:avLst/>
          </a:prstGeom>
          <a:noFill/>
          <a:ln w="19050">
            <a:solidFill>
              <a:srgbClr val="D45E5E"/>
            </a:solidFill>
          </a:ln>
        </p:spPr>
        <p:txBody>
          <a:bodyPr wrap="square" lIns="54000" tIns="36000" rIns="54000" bIns="36000" anchor="ctr"/>
          <a:lstStyle/>
          <a:p>
            <a:pPr algn="ctr"/>
            <a:r>
              <a:rPr lang="en-US" sz="1100" dirty="0">
                <a:solidFill>
                  <a:srgbClr val="D45E5E"/>
                </a:solidFill>
              </a:rPr>
              <a:t>MIN AUROC</a:t>
            </a:r>
          </a:p>
          <a:p>
            <a:pPr algn="ctr">
              <a:spcBef>
                <a:spcPts val="200"/>
              </a:spcBef>
            </a:pPr>
            <a:r>
              <a:rPr lang="en-US" sz="3600" b="1" dirty="0">
                <a:solidFill>
                  <a:srgbClr val="463443"/>
                </a:solidFill>
              </a:rPr>
              <a:t>0.00</a:t>
            </a:r>
          </a:p>
        </p:txBody>
      </p:sp>
      <p:sp>
        <p:nvSpPr>
          <p:cNvPr id="50" name="MaxCard"/>
          <p:cNvSpPr/>
          <p:nvPr/>
        </p:nvSpPr>
        <p:spPr>
          <a:xfrm>
            <a:off x="8191500" y="2362200"/>
            <a:ext cx="2286000" cy="1371600"/>
          </a:xfrm>
          <a:prstGeom prst="roundRect">
            <a:avLst/>
          </a:prstGeom>
          <a:noFill/>
          <a:ln w="19050">
            <a:solidFill>
              <a:srgbClr val="558B2F"/>
            </a:solidFill>
          </a:ln>
        </p:spPr>
        <p:txBody>
          <a:bodyPr wrap="square" lIns="54000" tIns="36000" rIns="54000" bIns="36000" anchor="ctr"/>
          <a:lstStyle/>
          <a:p>
            <a:pPr algn="ctr"/>
            <a:r>
              <a:rPr lang="en-US" sz="1100" dirty="0">
                <a:solidFill>
                  <a:srgbClr val="558B2F"/>
                </a:solidFill>
              </a:rPr>
              <a:t>MAX AUROC</a:t>
            </a:r>
          </a:p>
          <a:p>
            <a:pPr algn="ctr">
              <a:spcBef>
                <a:spcPts val="200"/>
              </a:spcBef>
            </a:pPr>
            <a:r>
              <a:rPr lang="en-US" sz="3600" b="1" dirty="0">
                <a:solidFill>
                  <a:srgbClr val="463443"/>
                </a:solidFill>
              </a:rPr>
              <a:t>1.00</a:t>
            </a:r>
          </a:p>
        </p:txBody>
      </p:sp>
      <p:sp>
        <p:nvSpPr>
          <p:cNvPr id="55" name="Divider"/>
          <p:cNvSpPr/>
          <p:nvPr/>
        </p:nvSpPr>
        <p:spPr>
          <a:xfrm>
            <a:off x="762000" y="3886200"/>
            <a:ext cx="9906000" cy="25400"/>
          </a:xfrm>
          <a:prstGeom prst="rect">
            <a:avLst/>
          </a:prstGeom>
          <a:solidFill>
            <a:srgbClr val="D49D8C"/>
          </a:solidFill>
          <a:ln>
            <a:noFill/>
          </a:ln>
        </p:spPr>
        <p:txBody>
          <a:bodyPr wrap="square" lIns="54000" tIns="36000" rIns="54000" bIns="36000" anchor="ctr"/>
          <a:lstStyle/>
          <a:p>
            <a:endParaRPr lang="en-US" dirty="0"/>
          </a:p>
        </p:txBody>
      </p:sp>
      <p:sp>
        <p:nvSpPr>
          <p:cNvPr id="56" name="InterpLabel"/>
          <p:cNvSpPr/>
          <p:nvPr/>
        </p:nvSpPr>
        <p:spPr>
          <a:xfrm>
            <a:off x="762000" y="39878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ctr"/>
          <a:lstStyle/>
          <a:p>
            <a:pPr algn="l"/>
            <a:r>
              <a:rPr lang="en-US" sz="1200" b="1" dirty="0">
                <a:solidFill>
                  <a:srgbClr val="D45E5E"/>
                </a:solidFill>
              </a:rPr>
              <a:t>What These Numbers Mean</a:t>
            </a:r>
          </a:p>
        </p:txBody>
      </p:sp>
      <p:sp>
        <p:nvSpPr>
          <p:cNvPr id="60" name="Insight1"/>
          <p:cNvSpPr/>
          <p:nvPr/>
        </p:nvSpPr>
        <p:spPr>
          <a:xfrm>
            <a:off x="762000" y="4318000"/>
            <a:ext cx="3175000" cy="1295400"/>
          </a:xfrm>
          <a:prstGeom prst="roundRect">
            <a:avLst/>
          </a:prstGeom>
          <a:noFill/>
          <a:ln w="9525">
            <a:solidFill>
              <a:srgbClr val="D49D8C"/>
            </a:solidFill>
          </a:ln>
        </p:spPr>
        <p:txBody>
          <a:bodyPr wrap="square" lIns="54000" tIns="36000" rIns="54000" bIns="36000" anchor="t"/>
          <a:lstStyle/>
          <a:p>
            <a:pPr algn="l"/>
            <a:r>
              <a:rPr lang="en-US" sz="1100" b="1" dirty="0">
                <a:solidFill>
                  <a:srgbClr val="D45E5E"/>
                </a:solidFill>
              </a:rPr>
              <a:t>Right-Skewed Distribution</a:t>
            </a:r>
          </a:p>
          <a:p>
            <a:pPr algn="l">
              <a:spcBef>
                <a:spcPts val="150"/>
              </a:spcBef>
            </a:pPr>
            <a:r>
              <a:rPr lang="en-US" sz="1000" dirty="0">
                <a:solidFill>
                  <a:srgbClr val="463443"/>
                </a:solidFill>
              </a:rPr>
              <a:t>Mean (0.61) &gt; Median (0.55) suggests a few configurations achieve high AUROC while most are moderate</a:t>
            </a:r>
          </a:p>
        </p:txBody>
      </p:sp>
      <p:sp>
        <p:nvSpPr>
          <p:cNvPr id="61" name="Insight2"/>
          <p:cNvSpPr/>
          <p:nvPr/>
        </p:nvSpPr>
        <p:spPr>
          <a:xfrm>
            <a:off x="4127500" y="4318000"/>
            <a:ext cx="3175000" cy="1295400"/>
          </a:xfrm>
          <a:prstGeom prst="roundRect">
            <a:avLst/>
          </a:prstGeom>
          <a:noFill/>
          <a:ln w="9525">
            <a:solidFill>
              <a:srgbClr val="D49D8C"/>
            </a:solidFill>
          </a:ln>
        </p:spPr>
        <p:txBody>
          <a:bodyPr wrap="square" lIns="54000" tIns="36000" rIns="54000" bIns="36000" anchor="t"/>
          <a:lstStyle/>
          <a:p>
            <a:pPr algn="l"/>
            <a:r>
              <a:rPr lang="en-US" sz="1100" b="1" dirty="0">
                <a:solidFill>
                  <a:srgbClr val="BF873A"/>
                </a:solidFill>
              </a:rPr>
              <a:t>Full Range [0.0 – 1.0]</a:t>
            </a:r>
          </a:p>
          <a:p>
            <a:pPr algn="l">
              <a:spcBef>
                <a:spcPts val="150"/>
              </a:spcBef>
            </a:pPr>
            <a:r>
              <a:rPr lang="en-US" sz="1000" dirty="0">
                <a:solidFill>
                  <a:srgbClr val="463443"/>
                </a:solidFill>
              </a:rPr>
              <a:t>Some configurations achieve perfect detection while others perform at chance level — training setup matters enormously</a:t>
            </a:r>
          </a:p>
        </p:txBody>
      </p:sp>
      <p:sp>
        <p:nvSpPr>
          <p:cNvPr id="62" name="Insight3"/>
          <p:cNvSpPr/>
          <p:nvPr/>
        </p:nvSpPr>
        <p:spPr>
          <a:xfrm>
            <a:off x="7493000" y="4318000"/>
            <a:ext cx="3175000" cy="1295400"/>
          </a:xfrm>
          <a:prstGeom prst="roundRect">
            <a:avLst/>
          </a:prstGeom>
          <a:noFill/>
          <a:ln w="9525">
            <a:solidFill>
              <a:srgbClr val="D49D8C"/>
            </a:solidFill>
          </a:ln>
        </p:spPr>
        <p:txBody>
          <a:bodyPr wrap="square" lIns="54000" tIns="36000" rIns="54000" bIns="36000" anchor="t"/>
          <a:lstStyle/>
          <a:p>
            <a:pPr algn="l"/>
            <a:r>
              <a:rPr lang="en-US" sz="1100" b="1" dirty="0">
                <a:solidFill>
                  <a:srgbClr val="8F6B8A"/>
                </a:solidFill>
              </a:rPr>
              <a:t>Key Implication</a:t>
            </a:r>
          </a:p>
          <a:p>
            <a:pPr algn="l">
              <a:spcBef>
                <a:spcPts val="150"/>
              </a:spcBef>
            </a:pPr>
            <a:r>
              <a:rPr lang="en-US" sz="1000" dirty="0">
                <a:solidFill>
                  <a:srgbClr val="463443"/>
                </a:solidFill>
              </a:rPr>
              <a:t>Regularization and noise choices create a wide performance landscape — the next slides break down which factors drive this variance</a:t>
            </a:r>
          </a:p>
        </p:txBody>
      </p:sp>
      <p:sp>
        <p:nvSpPr>
          <p:cNvPr id="70" name="ContextBar"/>
          <p:cNvSpPr/>
          <p:nvPr/>
        </p:nvSpPr>
        <p:spPr>
          <a:xfrm>
            <a:off x="762000" y="5791200"/>
            <a:ext cx="9906000" cy="406400"/>
          </a:xfrm>
          <a:prstGeom prst="roundRect">
            <a:avLst/>
          </a:prstGeom>
          <a:solidFill>
            <a:srgbClr val="463443"/>
          </a:solidFill>
          <a:ln>
            <a:noFill/>
          </a:ln>
        </p:spPr>
        <p:txBody>
          <a:bodyPr wrap="square" lIns="54000" tIns="36000" rIns="54000" bIns="36000" anchor="ctr"/>
          <a:lstStyle/>
          <a:p>
            <a:pPr algn="ctr"/>
            <a:r>
              <a:rPr lang="en-US" sz="1100" dirty="0">
                <a:solidFill>
                  <a:srgbClr val="D49D8C"/>
                </a:solidFill>
              </a:rPr>
              <a:t>AUROC = 0.5 is random guessing  •  AUROC = 1.0 is perfect interaction detection  •  n = 300 runs</a:t>
            </a:r>
          </a:p>
        </p:txBody>
      </p:sp>
    </p:spTree>
    <p:extLst>
      <p:ext uri="{BB962C8B-B14F-4D97-AF65-F5344CB8AC3E}">
        <p14:creationId xmlns:p14="http://schemas.microsoft.com/office/powerpoint/2010/main" val="16647366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35959F4-53DA-47FF-BC24-1E5B75C69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7CF83E8-F6F0-41E3-B580-7412A04DD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9226104-0061-4319-8237-9C001BF85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2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24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grpSp>
        <p:nvGrpSpPr>
          <p:cNvPr id="31" name="Graphic 78">
            <a:extLst>
              <a:ext uri="{FF2B5EF4-FFF2-40B4-BE49-F238E27FC236}">
                <a16:creationId xmlns:a16="http://schemas.microsoft.com/office/drawing/2014/main" id="{06B4C967-D337-479B-87CA-7587B7FCF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352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2" name="Graphic 78">
              <a:extLst>
                <a:ext uri="{FF2B5EF4-FFF2-40B4-BE49-F238E27FC236}">
                  <a16:creationId xmlns:a16="http://schemas.microsoft.com/office/drawing/2014/main" id="{6EF1A9DB-7052-4254-8534-9AAED6F6B6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3" name="Graphic 78">
              <a:extLst>
                <a:ext uri="{FF2B5EF4-FFF2-40B4-BE49-F238E27FC236}">
                  <a16:creationId xmlns:a16="http://schemas.microsoft.com/office/drawing/2014/main" id="{55D44775-F9E3-4142-8CDB-277AEF2F38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4" name="Graphic 78">
                <a:extLst>
                  <a:ext uri="{FF2B5EF4-FFF2-40B4-BE49-F238E27FC236}">
                    <a16:creationId xmlns:a16="http://schemas.microsoft.com/office/drawing/2014/main" id="{93BB9C83-6DC3-450C-BFAD-0CB5EAD294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Graphic 78">
                <a:extLst>
                  <a:ext uri="{FF2B5EF4-FFF2-40B4-BE49-F238E27FC236}">
                    <a16:creationId xmlns:a16="http://schemas.microsoft.com/office/drawing/2014/main" id="{4E01AF91-A65B-4AE1-96C9-4168BD8F90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Graphic 78">
                <a:extLst>
                  <a:ext uri="{FF2B5EF4-FFF2-40B4-BE49-F238E27FC236}">
                    <a16:creationId xmlns:a16="http://schemas.microsoft.com/office/drawing/2014/main" id="{0AD45C08-DFB9-441F-A901-BCB9B03058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Graphic 78">
                <a:extLst>
                  <a:ext uri="{FF2B5EF4-FFF2-40B4-BE49-F238E27FC236}">
                    <a16:creationId xmlns:a16="http://schemas.microsoft.com/office/drawing/2014/main" id="{E05BEC0E-4EE4-42C4-BF0B-15F9AC5181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752C2BA4-3BBE-4D22-A0D9-8D2A7B8F1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5918708"/>
            <a:ext cx="4187283" cy="93929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82AA7049-B18D-49D6-AD7D-DBB9E19FB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0713190" y="-534982"/>
            <a:ext cx="943826" cy="2013794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850DB66-16D1-4953-A6E3-FCA3DC5F2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35690" y="349252"/>
            <a:ext cx="886142" cy="693398"/>
            <a:chOff x="10948005" y="3379098"/>
            <a:chExt cx="868640" cy="679702"/>
          </a:xfrm>
          <a:solidFill>
            <a:schemeClr val="accent6"/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698AB2F-1D17-4249-81CB-9A41D46B8E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301961-8687-4ADB-8043-4065F4707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6" name="Graphic 15">
              <a:extLst>
                <a:ext uri="{FF2B5EF4-FFF2-40B4-BE49-F238E27FC236}">
                  <a16:creationId xmlns:a16="http://schemas.microsoft.com/office/drawing/2014/main" id="{9DC20816-893A-4201-AA91-22F71E46F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Graphic 15">
              <a:extLst>
                <a:ext uri="{FF2B5EF4-FFF2-40B4-BE49-F238E27FC236}">
                  <a16:creationId xmlns:a16="http://schemas.microsoft.com/office/drawing/2014/main" id="{866D1F4E-BA21-44F3-A97A-E979C5FE78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35EADCB-1DB5-4B69-892B-14567F528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DA39F3E-CA0D-7694-6952-0BAB20A98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256728"/>
              </p:ext>
            </p:extLst>
          </p:nvPr>
        </p:nvGraphicFramePr>
        <p:xfrm>
          <a:off x="7620000" y="635000"/>
          <a:ext cx="3982720" cy="5117597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623601">
                  <a:extLst>
                    <a:ext uri="{9D8B030D-6E8A-4147-A177-3AD203B41FA5}">
                      <a16:colId xmlns:a16="http://schemas.microsoft.com/office/drawing/2014/main" val="2995578012"/>
                    </a:ext>
                  </a:extLst>
                </a:gridCol>
                <a:gridCol w="2359119">
                  <a:extLst>
                    <a:ext uri="{9D8B030D-6E8A-4147-A177-3AD203B41FA5}">
                      <a16:colId xmlns:a16="http://schemas.microsoft.com/office/drawing/2014/main" val="1766099526"/>
                    </a:ext>
                  </a:extLst>
                </a:gridCol>
              </a:tblGrid>
              <a:tr h="825967">
                <a:tc>
                  <a:txBody>
                    <a:bodyPr/>
                    <a:lstStyle/>
                    <a:p>
                      <a:r>
                        <a:rPr lang="en-US" sz="2100" b="1" cap="none" spc="0" dirty="0">
                          <a:solidFill>
                            <a:schemeClr val="tx1"/>
                          </a:solidFill>
                        </a:rPr>
                        <a:t>Function</a:t>
                      </a:r>
                    </a:p>
                  </a:txBody>
                  <a:tcPr marL="82585" marR="104041" marT="23596" marB="176967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100" b="1" cap="none" spc="0" dirty="0">
                          <a:solidFill>
                            <a:schemeClr val="tx1"/>
                          </a:solidFill>
                        </a:rPr>
                        <a:t>Mean AUROC</a:t>
                      </a:r>
                    </a:p>
                  </a:txBody>
                  <a:tcPr marL="82585" marR="104041" marT="23596" marB="17696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103789076"/>
                  </a:ext>
                </a:extLst>
              </a:tr>
              <a:tr h="421671">
                <a:tc>
                  <a:txBody>
                    <a:bodyPr/>
                    <a:lstStyle/>
                    <a:p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f1</a:t>
                      </a:r>
                    </a:p>
                  </a:txBody>
                  <a:tcPr marL="82585" marR="104041" marT="23596" marB="17696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0.536</a:t>
                      </a:r>
                    </a:p>
                  </a:txBody>
                  <a:tcPr marL="82585" marR="104041" marT="23596" marB="1769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64176680"/>
                  </a:ext>
                </a:extLst>
              </a:tr>
              <a:tr h="421671">
                <a:tc>
                  <a:txBody>
                    <a:bodyPr/>
                    <a:lstStyle/>
                    <a:p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f2</a:t>
                      </a:r>
                    </a:p>
                  </a:txBody>
                  <a:tcPr marL="82585" marR="104041" marT="23596" marB="17696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0.609</a:t>
                      </a:r>
                    </a:p>
                  </a:txBody>
                  <a:tcPr marL="82585" marR="104041" marT="23596" marB="1769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911889254"/>
                  </a:ext>
                </a:extLst>
              </a:tr>
              <a:tr h="421671">
                <a:tc>
                  <a:txBody>
                    <a:bodyPr/>
                    <a:lstStyle/>
                    <a:p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f3</a:t>
                      </a:r>
                    </a:p>
                  </a:txBody>
                  <a:tcPr marL="82585" marR="104041" marT="23596" marB="17696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0.451</a:t>
                      </a:r>
                    </a:p>
                  </a:txBody>
                  <a:tcPr marL="82585" marR="104041" marT="23596" marB="1769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63292186"/>
                  </a:ext>
                </a:extLst>
              </a:tr>
              <a:tr h="421671">
                <a:tc>
                  <a:txBody>
                    <a:bodyPr/>
                    <a:lstStyle/>
                    <a:p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f4</a:t>
                      </a:r>
                    </a:p>
                  </a:txBody>
                  <a:tcPr marL="82585" marR="104041" marT="23596" marB="17696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0.453</a:t>
                      </a:r>
                    </a:p>
                  </a:txBody>
                  <a:tcPr marL="82585" marR="104041" marT="23596" marB="1769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32586865"/>
                  </a:ext>
                </a:extLst>
              </a:tr>
              <a:tr h="421671">
                <a:tc>
                  <a:txBody>
                    <a:bodyPr/>
                    <a:lstStyle/>
                    <a:p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f5</a:t>
                      </a:r>
                    </a:p>
                  </a:txBody>
                  <a:tcPr marL="82585" marR="104041" marT="23596" marB="17696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0.748</a:t>
                      </a:r>
                    </a:p>
                  </a:txBody>
                  <a:tcPr marL="82585" marR="104041" marT="23596" marB="1769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61263057"/>
                  </a:ext>
                </a:extLst>
              </a:tr>
              <a:tr h="421671">
                <a:tc>
                  <a:txBody>
                    <a:bodyPr/>
                    <a:lstStyle/>
                    <a:p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f6</a:t>
                      </a:r>
                    </a:p>
                  </a:txBody>
                  <a:tcPr marL="82585" marR="104041" marT="23596" marB="17696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0.543</a:t>
                      </a:r>
                    </a:p>
                  </a:txBody>
                  <a:tcPr marL="82585" marR="104041" marT="23596" marB="1769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73160901"/>
                  </a:ext>
                </a:extLst>
              </a:tr>
              <a:tr h="421671">
                <a:tc>
                  <a:txBody>
                    <a:bodyPr/>
                    <a:lstStyle/>
                    <a:p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f7</a:t>
                      </a:r>
                    </a:p>
                  </a:txBody>
                  <a:tcPr marL="82585" marR="104041" marT="23596" marB="17696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0.639</a:t>
                      </a:r>
                    </a:p>
                  </a:txBody>
                  <a:tcPr marL="82585" marR="104041" marT="23596" marB="1769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69124871"/>
                  </a:ext>
                </a:extLst>
              </a:tr>
              <a:tr h="421671">
                <a:tc>
                  <a:txBody>
                    <a:bodyPr/>
                    <a:lstStyle/>
                    <a:p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f8</a:t>
                      </a:r>
                    </a:p>
                  </a:txBody>
                  <a:tcPr marL="82585" marR="104041" marT="23596" marB="17696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0.825</a:t>
                      </a:r>
                    </a:p>
                  </a:txBody>
                  <a:tcPr marL="82585" marR="104041" marT="23596" marB="1769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519388123"/>
                  </a:ext>
                </a:extLst>
              </a:tr>
              <a:tr h="421671">
                <a:tc>
                  <a:txBody>
                    <a:bodyPr/>
                    <a:lstStyle/>
                    <a:p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f9</a:t>
                      </a:r>
                    </a:p>
                  </a:txBody>
                  <a:tcPr marL="82585" marR="104041" marT="23596" marB="17696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0.501</a:t>
                      </a:r>
                    </a:p>
                  </a:txBody>
                  <a:tcPr marL="82585" marR="104041" marT="23596" marB="1769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030906716"/>
                  </a:ext>
                </a:extLst>
              </a:tr>
              <a:tr h="421671">
                <a:tc>
                  <a:txBody>
                    <a:bodyPr/>
                    <a:lstStyle/>
                    <a:p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f10</a:t>
                      </a:r>
                    </a:p>
                  </a:txBody>
                  <a:tcPr marL="82585" marR="104041" marT="23596" marB="17696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0.828</a:t>
                      </a:r>
                    </a:p>
                  </a:txBody>
                  <a:tcPr marL="82585" marR="104041" marT="23596" marB="1769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93905709"/>
                  </a:ext>
                </a:extLst>
              </a:tr>
            </a:tbl>
          </a:graphicData>
        </a:graphic>
      </p:graphicFrame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90A3C5E7-A209-B48C-68D5-BA03A982E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5000"/>
            <a:ext cx="6921500" cy="558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09E38B-69C6-DECB-7B83-4B4EA779D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01600"/>
            <a:ext cx="5715000" cy="4572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1800" b="1" dirty="0">
                <a:solidFill>
                  <a:srgbClr val="463443"/>
                </a:solidFill>
              </a:rPr>
              <a:t>AUROC by Test Function</a:t>
            </a:r>
          </a:p>
        </p:txBody>
      </p:sp>
    </p:spTree>
    <p:extLst>
      <p:ext uri="{BB962C8B-B14F-4D97-AF65-F5344CB8AC3E}">
        <p14:creationId xmlns:p14="http://schemas.microsoft.com/office/powerpoint/2010/main" val="3375284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35959F4-53DA-47FF-BC24-1E5B75C69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7CF83E8-F6F0-41E3-B580-7412A04DD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9226104-0061-4319-8237-9C001BF85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2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24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D505D40-32E9-4C48-81F8-AD80433BE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-7670"/>
            <a:ext cx="3129498" cy="888208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507BF36-B92B-4CAC-BCA7-8364B51E1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 flipV="1">
            <a:off x="1701611" y="285553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276237E-3A6D-452F-879C-FB8C77A18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8BC9243-F4BF-48A7-89AE-DFA5B37DE6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DE414EC-F3DF-412E-9B22-5328DAA99C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37" name="Graphic 12">
              <a:extLst>
                <a:ext uri="{FF2B5EF4-FFF2-40B4-BE49-F238E27FC236}">
                  <a16:creationId xmlns:a16="http://schemas.microsoft.com/office/drawing/2014/main" id="{039C06B1-FDEA-47B1-8222-7D622CD72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Graphic 15">
              <a:extLst>
                <a:ext uri="{FF2B5EF4-FFF2-40B4-BE49-F238E27FC236}">
                  <a16:creationId xmlns:a16="http://schemas.microsoft.com/office/drawing/2014/main" id="{B834C8C1-9BD1-4635-8E5B-65815F901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Graphic 15">
              <a:extLst>
                <a:ext uri="{FF2B5EF4-FFF2-40B4-BE49-F238E27FC236}">
                  <a16:creationId xmlns:a16="http://schemas.microsoft.com/office/drawing/2014/main" id="{2963D456-B3F4-4EDC-827E-645741F64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A58845-EFFB-4806-BC6D-47418C15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2" name="Graphic 78">
            <a:extLst>
              <a:ext uri="{FF2B5EF4-FFF2-40B4-BE49-F238E27FC236}">
                <a16:creationId xmlns:a16="http://schemas.microsoft.com/office/drawing/2014/main" id="{DBBA0A0D-8F6A-400A-9E49-8C008E2C7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43" name="Graphic 78">
              <a:extLst>
                <a:ext uri="{FF2B5EF4-FFF2-40B4-BE49-F238E27FC236}">
                  <a16:creationId xmlns:a16="http://schemas.microsoft.com/office/drawing/2014/main" id="{A5DD701E-4BC9-48E3-AF4F-013B52D63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4" name="Graphic 78">
              <a:extLst>
                <a:ext uri="{FF2B5EF4-FFF2-40B4-BE49-F238E27FC236}">
                  <a16:creationId xmlns:a16="http://schemas.microsoft.com/office/drawing/2014/main" id="{FB658B62-664D-4B3B-BBDA-235666290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45" name="Graphic 78">
                <a:extLst>
                  <a:ext uri="{FF2B5EF4-FFF2-40B4-BE49-F238E27FC236}">
                    <a16:creationId xmlns:a16="http://schemas.microsoft.com/office/drawing/2014/main" id="{B11F9D25-67B1-4BDB-A290-97B93A19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Graphic 78">
                <a:extLst>
                  <a:ext uri="{FF2B5EF4-FFF2-40B4-BE49-F238E27FC236}">
                    <a16:creationId xmlns:a16="http://schemas.microsoft.com/office/drawing/2014/main" id="{B9D5C40A-1B1B-4C25-9707-E8F1CF6EEC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Graphic 78">
                <a:extLst>
                  <a:ext uri="{FF2B5EF4-FFF2-40B4-BE49-F238E27FC236}">
                    <a16:creationId xmlns:a16="http://schemas.microsoft.com/office/drawing/2014/main" id="{2DD0C1D6-FF64-45AB-8775-83AB3C470B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Graphic 78">
                <a:extLst>
                  <a:ext uri="{FF2B5EF4-FFF2-40B4-BE49-F238E27FC236}">
                    <a16:creationId xmlns:a16="http://schemas.microsoft.com/office/drawing/2014/main" id="{15AFBB84-8485-4329-89FC-04663D985B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57476C5-E49C-4396-55D2-DB6CCF6E6B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480022"/>
              </p:ext>
            </p:extLst>
          </p:nvPr>
        </p:nvGraphicFramePr>
        <p:xfrm>
          <a:off x="7620000" y="635000"/>
          <a:ext cx="4572000" cy="535698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65396010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628679377"/>
                    </a:ext>
                  </a:extLst>
                </a:gridCol>
              </a:tblGrid>
              <a:tr h="890401">
                <a:tc>
                  <a:txBody>
                    <a:bodyPr/>
                    <a:lstStyle/>
                    <a:p>
                      <a:r>
                        <a:rPr lang="en-US" sz="4000" b="0" cap="none" spc="0" dirty="0">
                          <a:solidFill>
                            <a:schemeClr val="tx1"/>
                          </a:solidFill>
                        </a:rPr>
                        <a:t>Noise</a:t>
                      </a:r>
                    </a:p>
                  </a:txBody>
                  <a:tcPr marL="0" marR="230889" marT="46178" marB="230889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cap="none" spc="0" dirty="0">
                          <a:solidFill>
                            <a:schemeClr val="tx1"/>
                          </a:solidFill>
                        </a:rPr>
                        <a:t>Mean AUROC</a:t>
                      </a:r>
                    </a:p>
                  </a:txBody>
                  <a:tcPr marL="0" marR="230889" marT="46178" marB="23088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41476833"/>
                  </a:ext>
                </a:extLst>
              </a:tr>
              <a:tr h="772144">
                <a:tc>
                  <a:txBody>
                    <a:bodyPr/>
                    <a:lstStyle/>
                    <a:p>
                      <a:r>
                        <a:rPr lang="en-US" sz="3000" cap="none" spc="0" dirty="0">
                          <a:solidFill>
                            <a:schemeClr val="tx1"/>
                          </a:solidFill>
                        </a:rPr>
                        <a:t>0.0</a:t>
                      </a:r>
                    </a:p>
                  </a:txBody>
                  <a:tcPr marL="0" marR="230889" marT="69267" marB="230889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0.81</a:t>
                      </a:r>
                    </a:p>
                  </a:txBody>
                  <a:tcPr marL="0" marR="230889" marT="69267" marB="230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46004208"/>
                  </a:ext>
                </a:extLst>
              </a:tr>
              <a:tr h="772144">
                <a:tc>
                  <a:txBody>
                    <a:bodyPr/>
                    <a:lstStyle/>
                    <a:p>
                      <a:r>
                        <a:rPr lang="en-US" sz="3000" cap="none" spc="0" dirty="0">
                          <a:solidFill>
                            <a:schemeClr val="tx1"/>
                          </a:solidFill>
                        </a:rPr>
                        <a:t>0.1</a:t>
                      </a:r>
                    </a:p>
                  </a:txBody>
                  <a:tcPr marL="0" marR="230889" marT="69267" marB="230889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cap="none" spc="0" dirty="0">
                          <a:solidFill>
                            <a:schemeClr val="tx1"/>
                          </a:solidFill>
                        </a:rPr>
                        <a:t>0.67</a:t>
                      </a:r>
                    </a:p>
                  </a:txBody>
                  <a:tcPr marL="0" marR="230889" marT="69267" marB="230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170766422"/>
                  </a:ext>
                </a:extLst>
              </a:tr>
              <a:tr h="772144">
                <a:tc>
                  <a:txBody>
                    <a:bodyPr/>
                    <a:lstStyle/>
                    <a:p>
                      <a:r>
                        <a:rPr lang="en-US" sz="3000" cap="none" spc="0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marL="0" marR="230889" marT="69267" marB="230889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0.61</a:t>
                      </a:r>
                    </a:p>
                  </a:txBody>
                  <a:tcPr marL="0" marR="230889" marT="69267" marB="230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20214691"/>
                  </a:ext>
                </a:extLst>
              </a:tr>
              <a:tr h="772144">
                <a:tc>
                  <a:txBody>
                    <a:bodyPr/>
                    <a:lstStyle/>
                    <a:p>
                      <a:r>
                        <a:rPr lang="en-US" sz="3000" cap="none" spc="0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0" marR="230889" marT="69267" marB="230889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0.59</a:t>
                      </a:r>
                    </a:p>
                  </a:txBody>
                  <a:tcPr marL="0" marR="230889" marT="69267" marB="230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84268021"/>
                  </a:ext>
                </a:extLst>
              </a:tr>
              <a:tr h="772144">
                <a:tc>
                  <a:txBody>
                    <a:bodyPr/>
                    <a:lstStyle/>
                    <a:p>
                      <a:r>
                        <a:rPr lang="en-US" sz="3000" cap="none" spc="0" dirty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 marL="0" marR="230889" marT="69267" marB="230889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cap="none" spc="0" dirty="0">
                          <a:solidFill>
                            <a:schemeClr val="tx1"/>
                          </a:solidFill>
                        </a:rPr>
                        <a:t>0.49</a:t>
                      </a:r>
                    </a:p>
                  </a:txBody>
                  <a:tcPr marL="0" marR="230889" marT="69267" marB="230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75341375"/>
                  </a:ext>
                </a:extLst>
              </a:tr>
            </a:tbl>
          </a:graphicData>
        </a:graphic>
      </p:graphicFrame>
      <p:pic>
        <p:nvPicPr>
          <p:cNvPr id="5" name="Picture 4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50DF5F31-307D-741B-35FD-B77697731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5000"/>
            <a:ext cx="6921500" cy="558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D752AA-5258-DFFA-DA93-26FB93597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01600"/>
            <a:ext cx="5715000" cy="4572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1800" b="1" dirty="0">
                <a:solidFill>
                  <a:srgbClr val="463443"/>
                </a:solidFill>
              </a:rPr>
              <a:t>AUROC by Noise Level</a:t>
            </a:r>
          </a:p>
        </p:txBody>
      </p:sp>
    </p:spTree>
    <p:extLst>
      <p:ext uri="{BB962C8B-B14F-4D97-AF65-F5344CB8AC3E}">
        <p14:creationId xmlns:p14="http://schemas.microsoft.com/office/powerpoint/2010/main" val="601297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35959F4-53DA-47FF-BC24-1E5B75C69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7CF83E8-F6F0-41E3-B580-7412A04DD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9226104-0061-4319-8237-9C001BF85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2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24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972B65B-8AFA-4B5C-BFC6-E443F3777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1839951" cy="1423657"/>
          </a:xfrm>
          <a:custGeom>
            <a:avLst/>
            <a:gdLst>
              <a:gd name="connsiteX0" fmla="*/ 0 w 2331138"/>
              <a:gd name="connsiteY0" fmla="*/ 0 h 3352676"/>
              <a:gd name="connsiteX1" fmla="*/ 2331138 w 2331138"/>
              <a:gd name="connsiteY1" fmla="*/ 0 h 3352676"/>
              <a:gd name="connsiteX2" fmla="*/ 2331138 w 2331138"/>
              <a:gd name="connsiteY2" fmla="*/ 3352676 h 3352676"/>
              <a:gd name="connsiteX3" fmla="*/ 2097210 w 2331138"/>
              <a:gd name="connsiteY3" fmla="*/ 3226228 h 3352676"/>
              <a:gd name="connsiteX4" fmla="*/ 214881 w 2331138"/>
              <a:gd name="connsiteY4" fmla="*/ 1176738 h 3352676"/>
              <a:gd name="connsiteX5" fmla="*/ 1129 w 2331138"/>
              <a:gd name="connsiteY5" fmla="*/ 67475 h 335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1138" h="3352676">
                <a:moveTo>
                  <a:pt x="0" y="0"/>
                </a:moveTo>
                <a:lnTo>
                  <a:pt x="2331138" y="0"/>
                </a:lnTo>
                <a:lnTo>
                  <a:pt x="2331138" y="3352676"/>
                </a:lnTo>
                <a:lnTo>
                  <a:pt x="2097210" y="3226228"/>
                </a:lnTo>
                <a:cubicBezTo>
                  <a:pt x="1273150" y="2744079"/>
                  <a:pt x="560886" y="2027200"/>
                  <a:pt x="214881" y="1176738"/>
                </a:cubicBezTo>
                <a:cubicBezTo>
                  <a:pt x="72781" y="827511"/>
                  <a:pt x="14297" y="430630"/>
                  <a:pt x="1129" y="6747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3" name="Graphic 78">
            <a:extLst>
              <a:ext uri="{FF2B5EF4-FFF2-40B4-BE49-F238E27FC236}">
                <a16:creationId xmlns:a16="http://schemas.microsoft.com/office/drawing/2014/main" id="{8B32F32D-2578-47BA-A8C8-B9CC3F8A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4" name="Graphic 78">
              <a:extLst>
                <a:ext uri="{FF2B5EF4-FFF2-40B4-BE49-F238E27FC236}">
                  <a16:creationId xmlns:a16="http://schemas.microsoft.com/office/drawing/2014/main" id="{FE39C5A6-D000-4F68-8942-DD0D6D6F83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5" name="Graphic 78">
              <a:extLst>
                <a:ext uri="{FF2B5EF4-FFF2-40B4-BE49-F238E27FC236}">
                  <a16:creationId xmlns:a16="http://schemas.microsoft.com/office/drawing/2014/main" id="{E89890B6-1232-480B-A1E4-4EE4897F6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6" name="Graphic 78">
                <a:extLst>
                  <a:ext uri="{FF2B5EF4-FFF2-40B4-BE49-F238E27FC236}">
                    <a16:creationId xmlns:a16="http://schemas.microsoft.com/office/drawing/2014/main" id="{AA2A92B4-DD5E-4659-876C-CEF27D8A33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Graphic 78">
                <a:extLst>
                  <a:ext uri="{FF2B5EF4-FFF2-40B4-BE49-F238E27FC236}">
                    <a16:creationId xmlns:a16="http://schemas.microsoft.com/office/drawing/2014/main" id="{CB3716F9-57FA-4E55-B926-D141DFDE70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Graphic 78">
                <a:extLst>
                  <a:ext uri="{FF2B5EF4-FFF2-40B4-BE49-F238E27FC236}">
                    <a16:creationId xmlns:a16="http://schemas.microsoft.com/office/drawing/2014/main" id="{6E65CA48-F624-4AAA-B08C-4D030E798B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Graphic 78">
                <a:extLst>
                  <a:ext uri="{FF2B5EF4-FFF2-40B4-BE49-F238E27FC236}">
                    <a16:creationId xmlns:a16="http://schemas.microsoft.com/office/drawing/2014/main" id="{5AB96607-3A57-4F71-87E5-C0D546FEBF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286E5E1D-FD49-448F-83C8-E06466BE5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899042" y="5608708"/>
            <a:ext cx="4292956" cy="1249292"/>
          </a:xfrm>
          <a:custGeom>
            <a:avLst/>
            <a:gdLst>
              <a:gd name="connsiteX0" fmla="*/ 0 w 4238069"/>
              <a:gd name="connsiteY0" fmla="*/ 0 h 1903025"/>
              <a:gd name="connsiteX1" fmla="*/ 113310 w 4238069"/>
              <a:gd name="connsiteY1" fmla="*/ 8960 h 1903025"/>
              <a:gd name="connsiteX2" fmla="*/ 291503 w 4238069"/>
              <a:gd name="connsiteY2" fmla="*/ 37000 h 1903025"/>
              <a:gd name="connsiteX3" fmla="*/ 3082930 w 4238069"/>
              <a:gd name="connsiteY3" fmla="*/ 1104916 h 1903025"/>
              <a:gd name="connsiteX4" fmla="*/ 3881548 w 4238069"/>
              <a:gd name="connsiteY4" fmla="*/ 1668276 h 1903025"/>
              <a:gd name="connsiteX5" fmla="*/ 4238069 w 4238069"/>
              <a:gd name="connsiteY5" fmla="*/ 1903025 h 1903025"/>
              <a:gd name="connsiteX6" fmla="*/ 0 w 4238069"/>
              <a:gd name="connsiteY6" fmla="*/ 1903025 h 1903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8069" h="1903025">
                <a:moveTo>
                  <a:pt x="0" y="0"/>
                </a:moveTo>
                <a:lnTo>
                  <a:pt x="113310" y="8960"/>
                </a:lnTo>
                <a:cubicBezTo>
                  <a:pt x="173365" y="16155"/>
                  <a:pt x="232870" y="25632"/>
                  <a:pt x="291503" y="37000"/>
                </a:cubicBezTo>
                <a:cubicBezTo>
                  <a:pt x="1250780" y="222537"/>
                  <a:pt x="2264787" y="499636"/>
                  <a:pt x="3082930" y="1104916"/>
                </a:cubicBezTo>
                <a:cubicBezTo>
                  <a:pt x="3348371" y="1301283"/>
                  <a:pt x="3614239" y="1488349"/>
                  <a:pt x="3881548" y="1668276"/>
                </a:cubicBezTo>
                <a:lnTo>
                  <a:pt x="4238069" y="1903025"/>
                </a:lnTo>
                <a:lnTo>
                  <a:pt x="0" y="190302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82E7BA0-A7BA-4C61-9D6F-5345A5405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447993" y="5742897"/>
            <a:ext cx="886141" cy="802496"/>
            <a:chOff x="10948005" y="3272152"/>
            <a:chExt cx="868640" cy="786648"/>
          </a:xfrm>
          <a:solidFill>
            <a:schemeClr val="accent6"/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B5369E81-3115-4284-995E-F753EB421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4729589-1C6A-4995-83DB-3C8AC2B8DE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A966D0D-0B99-4534-8150-ECA25F804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7" name="Graphic 12">
              <a:extLst>
                <a:ext uri="{FF2B5EF4-FFF2-40B4-BE49-F238E27FC236}">
                  <a16:creationId xmlns:a16="http://schemas.microsoft.com/office/drawing/2014/main" id="{7DC8EDF8-9492-4A6B-8050-A6B44F11B5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Graphic 15">
              <a:extLst>
                <a:ext uri="{FF2B5EF4-FFF2-40B4-BE49-F238E27FC236}">
                  <a16:creationId xmlns:a16="http://schemas.microsoft.com/office/drawing/2014/main" id="{13B4EDF3-5414-4F6E-8824-4FDC7BFD5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Graphic 15">
              <a:extLst>
                <a:ext uri="{FF2B5EF4-FFF2-40B4-BE49-F238E27FC236}">
                  <a16:creationId xmlns:a16="http://schemas.microsoft.com/office/drawing/2014/main" id="{6CE204CE-5738-4712-8E02-CF746C010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D2369023-4235-4E1E-A424-EA0EA83DE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C54775-3CB3-D971-2D63-4F51892B18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412984"/>
              </p:ext>
            </p:extLst>
          </p:nvPr>
        </p:nvGraphicFramePr>
        <p:xfrm>
          <a:off x="7620000" y="635000"/>
          <a:ext cx="4292956" cy="410307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575893">
                  <a:extLst>
                    <a:ext uri="{9D8B030D-6E8A-4147-A177-3AD203B41FA5}">
                      <a16:colId xmlns:a16="http://schemas.microsoft.com/office/drawing/2014/main" val="3169193531"/>
                    </a:ext>
                  </a:extLst>
                </a:gridCol>
                <a:gridCol w="1717063">
                  <a:extLst>
                    <a:ext uri="{9D8B030D-6E8A-4147-A177-3AD203B41FA5}">
                      <a16:colId xmlns:a16="http://schemas.microsoft.com/office/drawing/2014/main" val="1816136258"/>
                    </a:ext>
                  </a:extLst>
                </a:gridCol>
              </a:tblGrid>
              <a:tr h="619978">
                <a:tc>
                  <a:txBody>
                    <a:bodyPr/>
                    <a:lstStyle/>
                    <a:p>
                      <a:r>
                        <a:rPr lang="en-US" sz="2200" b="0" cap="none" spc="0" dirty="0">
                          <a:solidFill>
                            <a:schemeClr val="tx1"/>
                          </a:solidFill>
                        </a:rPr>
                        <a:t>Setting</a:t>
                      </a:r>
                    </a:p>
                  </a:txBody>
                  <a:tcPr marL="184480" marR="141907" marT="141907" marB="141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cap="none" spc="0">
                          <a:solidFill>
                            <a:schemeClr val="tx1"/>
                          </a:solidFill>
                        </a:rPr>
                        <a:t>Mean AUROC</a:t>
                      </a:r>
                    </a:p>
                  </a:txBody>
                  <a:tcPr marL="184480" marR="141907" marT="141907" marB="141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601834678"/>
                  </a:ext>
                </a:extLst>
              </a:tr>
              <a:tr h="619978">
                <a:tc>
                  <a:txBody>
                    <a:bodyPr/>
                    <a:lstStyle/>
                    <a:p>
                      <a:r>
                        <a:rPr lang="en-US" sz="2200" cap="none" spc="0" dirty="0">
                          <a:solidFill>
                            <a:schemeClr val="tx1"/>
                          </a:solidFill>
                        </a:rPr>
                        <a:t>No </a:t>
                      </a:r>
                      <a:r>
                        <a:rPr lang="en-US" sz="2200" cap="none" spc="0" dirty="0" err="1">
                          <a:solidFill>
                            <a:schemeClr val="tx1"/>
                          </a:solidFill>
                        </a:rPr>
                        <a:t>regularisation</a:t>
                      </a:r>
                      <a:endParaRPr lang="en-US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84480" marR="141907" marT="141907" marB="141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0.73</a:t>
                      </a:r>
                    </a:p>
                  </a:txBody>
                  <a:tcPr marL="184480" marR="141907" marT="141907" marB="141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62602155"/>
                  </a:ext>
                </a:extLst>
              </a:tr>
              <a:tr h="619978">
                <a:tc>
                  <a:txBody>
                    <a:bodyPr/>
                    <a:lstStyle/>
                    <a:p>
                      <a:r>
                        <a:rPr lang="en-US" sz="2200" cap="none" spc="0" dirty="0">
                          <a:solidFill>
                            <a:schemeClr val="tx1"/>
                          </a:solidFill>
                        </a:rPr>
                        <a:t>Dropout only</a:t>
                      </a:r>
                    </a:p>
                  </a:txBody>
                  <a:tcPr marL="184480" marR="141907" marT="141907" marB="141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0.62</a:t>
                      </a:r>
                    </a:p>
                  </a:txBody>
                  <a:tcPr marL="184480" marR="141907" marT="141907" marB="141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53526301"/>
                  </a:ext>
                </a:extLst>
              </a:tr>
              <a:tr h="619978">
                <a:tc>
                  <a:txBody>
                    <a:bodyPr/>
                    <a:lstStyle/>
                    <a:p>
                      <a:r>
                        <a:rPr lang="en-US" sz="2200" cap="none" spc="0" dirty="0">
                          <a:solidFill>
                            <a:schemeClr val="tx1"/>
                          </a:solidFill>
                        </a:rPr>
                        <a:t>Weight decay only</a:t>
                      </a:r>
                    </a:p>
                  </a:txBody>
                  <a:tcPr marL="184480" marR="141907" marT="141907" marB="141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0.54</a:t>
                      </a:r>
                    </a:p>
                  </a:txBody>
                  <a:tcPr marL="184480" marR="141907" marT="141907" marB="141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93871163"/>
                  </a:ext>
                </a:extLst>
              </a:tr>
              <a:tr h="880891">
                <a:tc>
                  <a:txBody>
                    <a:bodyPr/>
                    <a:lstStyle/>
                    <a:p>
                      <a:r>
                        <a:rPr lang="en-US" sz="2200" cap="none" spc="0" dirty="0">
                          <a:solidFill>
                            <a:schemeClr val="tx1"/>
                          </a:solidFill>
                        </a:rPr>
                        <a:t>Dropout + weight decay</a:t>
                      </a:r>
                    </a:p>
                  </a:txBody>
                  <a:tcPr marL="184480" marR="141907" marT="141907" marB="141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cap="none" spc="0" dirty="0">
                          <a:solidFill>
                            <a:schemeClr val="tx1"/>
                          </a:solidFill>
                        </a:rPr>
                        <a:t>0.48</a:t>
                      </a:r>
                    </a:p>
                  </a:txBody>
                  <a:tcPr marL="184480" marR="141907" marT="141907" marB="141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563627406"/>
                  </a:ext>
                </a:extLst>
              </a:tr>
            </a:tbl>
          </a:graphicData>
        </a:graphic>
      </p:graphicFrame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9917293E-5BC8-FC7A-A064-24C6F4615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5000"/>
            <a:ext cx="6921500" cy="558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74D323-7CF1-1A05-3DD4-BA247E194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01600"/>
            <a:ext cx="5715000" cy="4572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1800" b="1" dirty="0">
                <a:solidFill>
                  <a:srgbClr val="463443"/>
                </a:solidFill>
              </a:rPr>
              <a:t>AUROC by Regularization Type</a:t>
            </a:r>
          </a:p>
        </p:txBody>
      </p:sp>
    </p:spTree>
    <p:extLst>
      <p:ext uri="{BB962C8B-B14F-4D97-AF65-F5344CB8AC3E}">
        <p14:creationId xmlns:p14="http://schemas.microsoft.com/office/powerpoint/2010/main" val="40466070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35959F4-53DA-47FF-BC24-1E5B75C69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7CF83E8-F6F0-41E3-B580-7412A04DD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9226104-0061-4319-8237-9C001BF85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2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24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972B65B-8AFA-4B5C-BFC6-E443F3777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1839951" cy="1423657"/>
          </a:xfrm>
          <a:custGeom>
            <a:avLst/>
            <a:gdLst>
              <a:gd name="connsiteX0" fmla="*/ 0 w 2331138"/>
              <a:gd name="connsiteY0" fmla="*/ 0 h 3352676"/>
              <a:gd name="connsiteX1" fmla="*/ 2331138 w 2331138"/>
              <a:gd name="connsiteY1" fmla="*/ 0 h 3352676"/>
              <a:gd name="connsiteX2" fmla="*/ 2331138 w 2331138"/>
              <a:gd name="connsiteY2" fmla="*/ 3352676 h 3352676"/>
              <a:gd name="connsiteX3" fmla="*/ 2097210 w 2331138"/>
              <a:gd name="connsiteY3" fmla="*/ 3226228 h 3352676"/>
              <a:gd name="connsiteX4" fmla="*/ 214881 w 2331138"/>
              <a:gd name="connsiteY4" fmla="*/ 1176738 h 3352676"/>
              <a:gd name="connsiteX5" fmla="*/ 1129 w 2331138"/>
              <a:gd name="connsiteY5" fmla="*/ 67475 h 335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1138" h="3352676">
                <a:moveTo>
                  <a:pt x="0" y="0"/>
                </a:moveTo>
                <a:lnTo>
                  <a:pt x="2331138" y="0"/>
                </a:lnTo>
                <a:lnTo>
                  <a:pt x="2331138" y="3352676"/>
                </a:lnTo>
                <a:lnTo>
                  <a:pt x="2097210" y="3226228"/>
                </a:lnTo>
                <a:cubicBezTo>
                  <a:pt x="1273150" y="2744079"/>
                  <a:pt x="560886" y="2027200"/>
                  <a:pt x="214881" y="1176738"/>
                </a:cubicBezTo>
                <a:cubicBezTo>
                  <a:pt x="72781" y="827511"/>
                  <a:pt x="14297" y="430630"/>
                  <a:pt x="1129" y="6747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3" name="Graphic 78">
            <a:extLst>
              <a:ext uri="{FF2B5EF4-FFF2-40B4-BE49-F238E27FC236}">
                <a16:creationId xmlns:a16="http://schemas.microsoft.com/office/drawing/2014/main" id="{8B32F32D-2578-47BA-A8C8-B9CC3F8A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4" name="Graphic 78">
              <a:extLst>
                <a:ext uri="{FF2B5EF4-FFF2-40B4-BE49-F238E27FC236}">
                  <a16:creationId xmlns:a16="http://schemas.microsoft.com/office/drawing/2014/main" id="{FE39C5A6-D000-4F68-8942-DD0D6D6F83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5" name="Graphic 78">
              <a:extLst>
                <a:ext uri="{FF2B5EF4-FFF2-40B4-BE49-F238E27FC236}">
                  <a16:creationId xmlns:a16="http://schemas.microsoft.com/office/drawing/2014/main" id="{E89890B6-1232-480B-A1E4-4EE4897F6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6" name="Graphic 78">
                <a:extLst>
                  <a:ext uri="{FF2B5EF4-FFF2-40B4-BE49-F238E27FC236}">
                    <a16:creationId xmlns:a16="http://schemas.microsoft.com/office/drawing/2014/main" id="{AA2A92B4-DD5E-4659-876C-CEF27D8A33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Graphic 78">
                <a:extLst>
                  <a:ext uri="{FF2B5EF4-FFF2-40B4-BE49-F238E27FC236}">
                    <a16:creationId xmlns:a16="http://schemas.microsoft.com/office/drawing/2014/main" id="{CB3716F9-57FA-4E55-B926-D141DFDE70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Graphic 78">
                <a:extLst>
                  <a:ext uri="{FF2B5EF4-FFF2-40B4-BE49-F238E27FC236}">
                    <a16:creationId xmlns:a16="http://schemas.microsoft.com/office/drawing/2014/main" id="{6E65CA48-F624-4AAA-B08C-4D030E798B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Graphic 78">
                <a:extLst>
                  <a:ext uri="{FF2B5EF4-FFF2-40B4-BE49-F238E27FC236}">
                    <a16:creationId xmlns:a16="http://schemas.microsoft.com/office/drawing/2014/main" id="{5AB96607-3A57-4F71-87E5-C0D546FEBF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286E5E1D-FD49-448F-83C8-E06466BE5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899042" y="5608708"/>
            <a:ext cx="4292956" cy="1249292"/>
          </a:xfrm>
          <a:custGeom>
            <a:avLst/>
            <a:gdLst>
              <a:gd name="connsiteX0" fmla="*/ 0 w 4238069"/>
              <a:gd name="connsiteY0" fmla="*/ 0 h 1903025"/>
              <a:gd name="connsiteX1" fmla="*/ 113310 w 4238069"/>
              <a:gd name="connsiteY1" fmla="*/ 8960 h 1903025"/>
              <a:gd name="connsiteX2" fmla="*/ 291503 w 4238069"/>
              <a:gd name="connsiteY2" fmla="*/ 37000 h 1903025"/>
              <a:gd name="connsiteX3" fmla="*/ 3082930 w 4238069"/>
              <a:gd name="connsiteY3" fmla="*/ 1104916 h 1903025"/>
              <a:gd name="connsiteX4" fmla="*/ 3881548 w 4238069"/>
              <a:gd name="connsiteY4" fmla="*/ 1668276 h 1903025"/>
              <a:gd name="connsiteX5" fmla="*/ 4238069 w 4238069"/>
              <a:gd name="connsiteY5" fmla="*/ 1903025 h 1903025"/>
              <a:gd name="connsiteX6" fmla="*/ 0 w 4238069"/>
              <a:gd name="connsiteY6" fmla="*/ 1903025 h 1903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8069" h="1903025">
                <a:moveTo>
                  <a:pt x="0" y="0"/>
                </a:moveTo>
                <a:lnTo>
                  <a:pt x="113310" y="8960"/>
                </a:lnTo>
                <a:cubicBezTo>
                  <a:pt x="173365" y="16155"/>
                  <a:pt x="232870" y="25632"/>
                  <a:pt x="291503" y="37000"/>
                </a:cubicBezTo>
                <a:cubicBezTo>
                  <a:pt x="1250780" y="222537"/>
                  <a:pt x="2264787" y="499636"/>
                  <a:pt x="3082930" y="1104916"/>
                </a:cubicBezTo>
                <a:cubicBezTo>
                  <a:pt x="3348371" y="1301283"/>
                  <a:pt x="3614239" y="1488349"/>
                  <a:pt x="3881548" y="1668276"/>
                </a:cubicBezTo>
                <a:lnTo>
                  <a:pt x="4238069" y="1903025"/>
                </a:lnTo>
                <a:lnTo>
                  <a:pt x="0" y="190302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82E7BA0-A7BA-4C61-9D6F-5345A5405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447993" y="5742897"/>
            <a:ext cx="886141" cy="802496"/>
            <a:chOff x="10948005" y="3272152"/>
            <a:chExt cx="868640" cy="786648"/>
          </a:xfrm>
          <a:solidFill>
            <a:schemeClr val="accent6"/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B5369E81-3115-4284-995E-F753EB421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4729589-1C6A-4995-83DB-3C8AC2B8DE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A966D0D-0B99-4534-8150-ECA25F804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7" name="Graphic 12">
              <a:extLst>
                <a:ext uri="{FF2B5EF4-FFF2-40B4-BE49-F238E27FC236}">
                  <a16:creationId xmlns:a16="http://schemas.microsoft.com/office/drawing/2014/main" id="{7DC8EDF8-9492-4A6B-8050-A6B44F11B5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Graphic 15">
              <a:extLst>
                <a:ext uri="{FF2B5EF4-FFF2-40B4-BE49-F238E27FC236}">
                  <a16:creationId xmlns:a16="http://schemas.microsoft.com/office/drawing/2014/main" id="{13B4EDF3-5414-4F6E-8824-4FDC7BFD5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Graphic 15">
              <a:extLst>
                <a:ext uri="{FF2B5EF4-FFF2-40B4-BE49-F238E27FC236}">
                  <a16:creationId xmlns:a16="http://schemas.microsoft.com/office/drawing/2014/main" id="{6CE204CE-5738-4712-8E02-CF746C010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D2369023-4235-4E1E-A424-EA0EA83DE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294D11E-1301-1DB4-F380-AABA1605E15D}"/>
              </a:ext>
            </a:extLst>
          </p:cNvPr>
          <p:cNvGraphicFramePr>
            <a:graphicFrameLocks noGrp="1"/>
          </p:cNvGraphicFramePr>
          <p:nvPr/>
        </p:nvGraphicFramePr>
        <p:xfrm>
          <a:off x="7620000" y="635000"/>
          <a:ext cx="4191000" cy="12700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1583703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56585941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Optimizer</a:t>
                      </a:r>
                      <a:endParaRPr lang="en-US" sz="1800" dirty="0"/>
                    </a:p>
                  </a:txBody>
                  <a:tcPr marL="167640" marR="167640" marT="83820" marB="83820" anchor="ctr">
                    <a:solidFill>
                      <a:srgbClr val="D45E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Mean AUROC</a:t>
                      </a:r>
                      <a:endParaRPr lang="en-US" sz="1800" dirty="0"/>
                    </a:p>
                  </a:txBody>
                  <a:tcPr marL="167640" marR="167640" marT="83820" marB="83820" anchor="ctr">
                    <a:solidFill>
                      <a:srgbClr val="D4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52584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63443"/>
                          </a:solidFill>
                        </a:rPr>
                        <a:t>Adam</a:t>
                      </a:r>
                    </a:p>
                  </a:txBody>
                  <a:tcPr marL="167640" marR="167640" marT="83820" marB="83820" anchor="ctr"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63443"/>
                          </a:solidFill>
                        </a:rPr>
                        <a:t>0.62</a:t>
                      </a:r>
                    </a:p>
                  </a:txBody>
                  <a:tcPr marL="167640" marR="167640" marT="83820" marB="83820" anchor="ctr">
                    <a:solidFill>
                      <a:srgbClr val="F3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43657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63443"/>
                          </a:solidFill>
                        </a:rPr>
                        <a:t>SGD</a:t>
                      </a:r>
                    </a:p>
                  </a:txBody>
                  <a:tcPr marL="167640" marR="167640" marT="83820" marB="838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63443"/>
                          </a:solidFill>
                        </a:rPr>
                        <a:t>0.60</a:t>
                      </a:r>
                    </a:p>
                  </a:txBody>
                  <a:tcPr marL="167640" marR="167640" marT="83820" marB="838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155946"/>
                  </a:ext>
                </a:extLst>
              </a:tr>
            </a:tbl>
          </a:graphicData>
        </a:graphic>
      </p:graphicFrame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B218EF66-CB61-EBB4-AC10-E7F5C339E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5000"/>
            <a:ext cx="6921500" cy="558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3EEED8-C216-EB55-C40B-A55A00E82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01600"/>
            <a:ext cx="5715000" cy="4572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1800" b="1" dirty="0">
                <a:solidFill>
                  <a:srgbClr val="463443"/>
                </a:solidFill>
              </a:rPr>
              <a:t>AUROC by Optimizer</a:t>
            </a:r>
          </a:p>
        </p:txBody>
      </p:sp>
    </p:spTree>
    <p:extLst>
      <p:ext uri="{BB962C8B-B14F-4D97-AF65-F5344CB8AC3E}">
        <p14:creationId xmlns:p14="http://schemas.microsoft.com/office/powerpoint/2010/main" val="33124138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77ACB-3A9B-6B16-257D-3252A82A3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So Far</a:t>
            </a:r>
          </a:p>
        </p:txBody>
      </p:sp>
      <p:cxnSp>
        <p:nvCxnSpPr>
          <p:cNvPr id="10" name="Timeline Line"/>
          <p:cNvCxnSpPr/>
          <p:nvPr/>
        </p:nvCxnSpPr>
        <p:spPr>
          <a:xfrm>
            <a:off x="1270000" y="2501900"/>
            <a:ext cx="9652000" cy="0"/>
          </a:xfrm>
          <a:prstGeom prst="line">
            <a:avLst/>
          </a:prstGeom>
          <a:ln w="25400">
            <a:solidFill>
              <a:srgbClr val="D49D8C"/>
            </a:solidFill>
          </a:ln>
        </p:spPr>
      </p:cxnSp>
      <p:sp>
        <p:nvSpPr>
          <p:cNvPr id="11" name="Dot1"/>
          <p:cNvSpPr/>
          <p:nvPr/>
        </p:nvSpPr>
        <p:spPr>
          <a:xfrm>
            <a:off x="2374900" y="2400300"/>
            <a:ext cx="203200" cy="203200"/>
          </a:xfrm>
          <a:prstGeom prst="ellipse">
            <a:avLst/>
          </a:prstGeom>
          <a:solidFill>
            <a:srgbClr val="558B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Dot2"/>
          <p:cNvSpPr/>
          <p:nvPr/>
        </p:nvSpPr>
        <p:spPr>
          <a:xfrm>
            <a:off x="5359400" y="2400300"/>
            <a:ext cx="203200" cy="203200"/>
          </a:xfrm>
          <a:prstGeom prst="ellipse">
            <a:avLst/>
          </a:prstGeom>
          <a:solidFill>
            <a:srgbClr val="558B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Dot3"/>
          <p:cNvSpPr/>
          <p:nvPr/>
        </p:nvSpPr>
        <p:spPr>
          <a:xfrm>
            <a:off x="8343900" y="2400300"/>
            <a:ext cx="203200" cy="203200"/>
          </a:xfrm>
          <a:prstGeom prst="ellipse">
            <a:avLst/>
          </a:prstGeom>
          <a:solidFill>
            <a:srgbClr val="BF87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Phase1Label"/>
          <p:cNvSpPr/>
          <p:nvPr/>
        </p:nvSpPr>
        <p:spPr>
          <a:xfrm>
            <a:off x="1778000" y="21209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27000" anchor="t"/>
          <a:lstStyle/>
          <a:p>
            <a:pPr algn="ctr"/>
            <a:r>
              <a:rPr lang="en-US" sz="1000" b="1" dirty="0">
                <a:solidFill>
                  <a:srgbClr val="558B2F"/>
                </a:solidFill>
              </a:rPr>
              <a:t>Phase 1</a:t>
            </a:r>
          </a:p>
        </p:txBody>
      </p:sp>
      <p:sp>
        <p:nvSpPr>
          <p:cNvPr id="15" name="Phase2Label"/>
          <p:cNvSpPr/>
          <p:nvPr/>
        </p:nvSpPr>
        <p:spPr>
          <a:xfrm>
            <a:off x="4762500" y="21209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27000" anchor="t"/>
          <a:lstStyle/>
          <a:p>
            <a:pPr algn="ctr"/>
            <a:r>
              <a:rPr lang="en-US" sz="1000" b="1" dirty="0">
                <a:solidFill>
                  <a:srgbClr val="558B2F"/>
                </a:solidFill>
              </a:rPr>
              <a:t>Phase 2</a:t>
            </a:r>
          </a:p>
        </p:txBody>
      </p:sp>
      <p:sp>
        <p:nvSpPr>
          <p:cNvPr id="16" name="Phase3Label"/>
          <p:cNvSpPr/>
          <p:nvPr/>
        </p:nvSpPr>
        <p:spPr>
          <a:xfrm>
            <a:off x="7747000" y="21209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27000" anchor="t"/>
          <a:lstStyle/>
          <a:p>
            <a:pPr algn="ctr"/>
            <a:r>
              <a:rPr lang="en-US" sz="1000" b="1" dirty="0">
                <a:solidFill>
                  <a:srgbClr val="BF873A"/>
                </a:solidFill>
              </a:rPr>
              <a:t>Phase 3</a:t>
            </a:r>
          </a:p>
        </p:txBody>
      </p:sp>
      <p:sp>
        <p:nvSpPr>
          <p:cNvPr id="20" name="Card1"/>
          <p:cNvSpPr/>
          <p:nvPr/>
        </p:nvSpPr>
        <p:spPr>
          <a:xfrm>
            <a:off x="1016000" y="2743200"/>
            <a:ext cx="2921000" cy="2260600"/>
          </a:xfrm>
          <a:prstGeom prst="roundRect">
            <a:avLst/>
          </a:prstGeom>
          <a:noFill/>
          <a:ln w="12700">
            <a:solidFill>
              <a:srgbClr val="558B2F"/>
            </a:solidFill>
          </a:ln>
        </p:spPr>
        <p:txBody>
          <a:bodyPr wrap="square" lIns="54000" tIns="36000" rIns="54000" bIns="27000" anchor="t"/>
          <a:lstStyle/>
          <a:p>
            <a:pPr algn="l"/>
            <a:r>
              <a:rPr lang="en-US" sz="1400" b="1" dirty="0">
                <a:solidFill>
                  <a:srgbClr val="558B2F"/>
                </a:solidFill>
              </a:rPr>
              <a:t>Foundation</a:t>
            </a:r>
          </a:p>
          <a:p>
            <a:pPr algn="l">
              <a:spcBef>
                <a:spcPts val="300"/>
              </a:spcBef>
            </a:pPr>
            <a:r>
              <a:rPr lang="en-US" sz="1100" dirty="0">
                <a:solidFill>
                  <a:srgbClr val="463443"/>
                </a:solidFill>
              </a:rPr>
              <a:t>Literature review</a:t>
            </a:r>
          </a:p>
          <a:p>
            <a:pPr algn="l">
              <a:spcBef>
                <a:spcPts val="100"/>
              </a:spcBef>
            </a:pPr>
            <a:r>
              <a:rPr lang="en-US" sz="1100" dirty="0">
                <a:solidFill>
                  <a:srgbClr val="463443"/>
                </a:solidFill>
              </a:rPr>
              <a:t>Problem formulation</a:t>
            </a:r>
          </a:p>
          <a:p>
            <a:pPr algn="l">
              <a:spcBef>
                <a:spcPts val="100"/>
              </a:spcBef>
            </a:pPr>
            <a:r>
              <a:rPr lang="en-US" sz="1100" dirty="0">
                <a:solidFill>
                  <a:srgbClr val="463443"/>
                </a:solidFill>
              </a:rPr>
              <a:t>Research question defined</a:t>
            </a:r>
          </a:p>
        </p:txBody>
      </p:sp>
      <p:sp>
        <p:nvSpPr>
          <p:cNvPr id="30" name="Card2"/>
          <p:cNvSpPr/>
          <p:nvPr/>
        </p:nvSpPr>
        <p:spPr>
          <a:xfrm>
            <a:off x="4000500" y="2743200"/>
            <a:ext cx="2921000" cy="2260600"/>
          </a:xfrm>
          <a:prstGeom prst="roundRect">
            <a:avLst/>
          </a:prstGeom>
          <a:noFill/>
          <a:ln w="12700">
            <a:solidFill>
              <a:srgbClr val="558B2F"/>
            </a:solidFill>
          </a:ln>
        </p:spPr>
        <p:txBody>
          <a:bodyPr wrap="square" lIns="54000" tIns="36000" rIns="54000" bIns="27000" anchor="t"/>
          <a:lstStyle/>
          <a:p>
            <a:pPr algn="l"/>
            <a:r>
              <a:rPr lang="en-US" sz="1400" b="1" dirty="0">
                <a:solidFill>
                  <a:srgbClr val="558B2F"/>
                </a:solidFill>
              </a:rPr>
              <a:t>Implementation</a:t>
            </a:r>
          </a:p>
          <a:p>
            <a:pPr algn="l">
              <a:spcBef>
                <a:spcPts val="300"/>
              </a:spcBef>
            </a:pPr>
            <a:r>
              <a:rPr lang="en-US" sz="1100" dirty="0">
                <a:solidFill>
                  <a:srgbClr val="463443"/>
                </a:solidFill>
              </a:rPr>
              <a:t>MLP training pipeline</a:t>
            </a:r>
          </a:p>
          <a:p>
            <a:pPr algn="l">
              <a:spcBef>
                <a:spcPts val="100"/>
              </a:spcBef>
            </a:pPr>
            <a:r>
              <a:rPr lang="en-US" sz="1100" dirty="0">
                <a:solidFill>
                  <a:srgbClr val="463443"/>
                </a:solidFill>
              </a:rPr>
              <a:t>NID interaction detection</a:t>
            </a:r>
          </a:p>
          <a:p>
            <a:pPr algn="l">
              <a:spcBef>
                <a:spcPts val="100"/>
              </a:spcBef>
            </a:pPr>
            <a:r>
              <a:rPr lang="en-US" sz="1100" dirty="0">
                <a:solidFill>
                  <a:srgbClr val="463443"/>
                </a:solidFill>
              </a:rPr>
              <a:t>AUROC evaluation framework</a:t>
            </a:r>
          </a:p>
          <a:p>
            <a:pPr algn="l">
              <a:spcBef>
                <a:spcPts val="100"/>
              </a:spcBef>
            </a:pPr>
            <a:r>
              <a:rPr lang="en-US" sz="1100" dirty="0">
                <a:solidFill>
                  <a:srgbClr val="463443"/>
                </a:solidFill>
              </a:rPr>
              <a:t>10 test functions + ground truth</a:t>
            </a:r>
          </a:p>
        </p:txBody>
      </p:sp>
      <p:sp>
        <p:nvSpPr>
          <p:cNvPr id="40" name="Card3"/>
          <p:cNvSpPr/>
          <p:nvPr/>
        </p:nvSpPr>
        <p:spPr>
          <a:xfrm>
            <a:off x="6985000" y="2743200"/>
            <a:ext cx="2921000" cy="2260600"/>
          </a:xfrm>
          <a:prstGeom prst="roundRect">
            <a:avLst/>
          </a:prstGeom>
          <a:noFill/>
          <a:ln w="12700">
            <a:solidFill>
              <a:srgbClr val="BF873A"/>
            </a:solidFill>
          </a:ln>
        </p:spPr>
        <p:txBody>
          <a:bodyPr wrap="square" lIns="54000" tIns="36000" rIns="54000" bIns="27000" anchor="t"/>
          <a:lstStyle/>
          <a:p>
            <a:pPr algn="l"/>
            <a:r>
              <a:rPr lang="en-US" sz="1400" b="1" dirty="0">
                <a:solidFill>
                  <a:srgbClr val="BF873A"/>
                </a:solidFill>
              </a:rPr>
              <a:t>Analysis &amp; Writing</a:t>
            </a:r>
          </a:p>
          <a:p>
            <a:pPr algn="l">
              <a:spcBef>
                <a:spcPts val="300"/>
              </a:spcBef>
            </a:pPr>
            <a:r>
              <a:rPr lang="en-US" sz="1100" dirty="0">
                <a:solidFill>
                  <a:srgbClr val="463443"/>
                </a:solidFill>
              </a:rPr>
              <a:t>300 training runs completed</a:t>
            </a:r>
          </a:p>
          <a:p>
            <a:pPr algn="l">
              <a:spcBef>
                <a:spcPts val="100"/>
              </a:spcBef>
            </a:pPr>
            <a:r>
              <a:rPr lang="en-US" sz="1100" dirty="0">
                <a:solidFill>
                  <a:srgbClr val="BF873A"/>
                </a:solidFill>
              </a:rPr>
              <a:t>Recovery trajectory analysis</a:t>
            </a:r>
          </a:p>
          <a:p>
            <a:pPr algn="l">
              <a:spcBef>
                <a:spcPts val="100"/>
              </a:spcBef>
            </a:pPr>
            <a:r>
              <a:rPr lang="en-US" sz="1100" dirty="0">
                <a:solidFill>
                  <a:srgbClr val="BF873A"/>
                </a:solidFill>
              </a:rPr>
              <a:t>Stability metrics comparison</a:t>
            </a:r>
          </a:p>
          <a:p>
            <a:pPr algn="l">
              <a:spcBef>
                <a:spcPts val="100"/>
              </a:spcBef>
            </a:pPr>
            <a:r>
              <a:rPr lang="en-US" sz="1100" dirty="0">
                <a:solidFill>
                  <a:srgbClr val="BF873A"/>
                </a:solidFill>
              </a:rPr>
              <a:t>New experiments (samples, params)</a:t>
            </a:r>
          </a:p>
          <a:p>
            <a:pPr algn="l">
              <a:spcBef>
                <a:spcPts val="100"/>
              </a:spcBef>
            </a:pPr>
            <a:r>
              <a:rPr lang="en-US" sz="1100" dirty="0">
                <a:solidFill>
                  <a:srgbClr val="BF873A"/>
                </a:solidFill>
              </a:rPr>
              <a:t>More visualizations</a:t>
            </a:r>
          </a:p>
        </p:txBody>
      </p:sp>
      <p:sp>
        <p:nvSpPr>
          <p:cNvPr id="50" name="Badge0"/>
          <p:cNvSpPr/>
          <p:nvPr/>
        </p:nvSpPr>
        <p:spPr>
          <a:xfrm>
            <a:off x="2374900" y="5207000"/>
            <a:ext cx="1651000" cy="444500"/>
          </a:xfrm>
          <a:prstGeom prst="roundRect">
            <a:avLst/>
          </a:prstGeom>
          <a:solidFill>
            <a:srgbClr val="D45E5E"/>
          </a:solidFill>
          <a:ln>
            <a:noFill/>
          </a:ln>
        </p:spPr>
        <p:txBody>
          <a:bodyPr wrap="square" lIns="54000" tIns="36000" rIns="54000" bIns="2700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10 functions</a:t>
            </a:r>
          </a:p>
        </p:txBody>
      </p:sp>
      <p:sp>
        <p:nvSpPr>
          <p:cNvPr id="51" name="Badge1"/>
          <p:cNvSpPr/>
          <p:nvPr/>
        </p:nvSpPr>
        <p:spPr>
          <a:xfrm>
            <a:off x="4305300" y="5207000"/>
            <a:ext cx="1651000" cy="444500"/>
          </a:xfrm>
          <a:prstGeom prst="roundRect">
            <a:avLst/>
          </a:prstGeom>
          <a:solidFill>
            <a:srgbClr val="BF873A"/>
          </a:solidFill>
          <a:ln>
            <a:noFill/>
          </a:ln>
        </p:spPr>
        <p:txBody>
          <a:bodyPr wrap="square" lIns="54000" tIns="36000" rIns="54000" bIns="2700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30 configs</a:t>
            </a:r>
          </a:p>
        </p:txBody>
      </p:sp>
      <p:sp>
        <p:nvSpPr>
          <p:cNvPr id="52" name="Badge2"/>
          <p:cNvSpPr/>
          <p:nvPr/>
        </p:nvSpPr>
        <p:spPr>
          <a:xfrm>
            <a:off x="6235700" y="5207000"/>
            <a:ext cx="1651000" cy="444500"/>
          </a:xfrm>
          <a:prstGeom prst="roundRect">
            <a:avLst/>
          </a:prstGeom>
          <a:solidFill>
            <a:srgbClr val="463443"/>
          </a:solidFill>
          <a:ln>
            <a:noFill/>
          </a:ln>
        </p:spPr>
        <p:txBody>
          <a:bodyPr wrap="square" lIns="54000" tIns="36000" rIns="54000" bIns="2700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300 runs</a:t>
            </a:r>
          </a:p>
        </p:txBody>
      </p:sp>
      <p:sp>
        <p:nvSpPr>
          <p:cNvPr id="53" name="Badge3"/>
          <p:cNvSpPr/>
          <p:nvPr/>
        </p:nvSpPr>
        <p:spPr>
          <a:xfrm>
            <a:off x="8166100" y="5207000"/>
            <a:ext cx="1651000" cy="444500"/>
          </a:xfrm>
          <a:prstGeom prst="roundRect">
            <a:avLst/>
          </a:prstGeom>
          <a:solidFill>
            <a:srgbClr val="558B2F"/>
          </a:solidFill>
          <a:ln>
            <a:noFill/>
          </a:ln>
        </p:spPr>
        <p:txBody>
          <a:bodyPr wrap="square" lIns="54000" tIns="36000" rIns="54000" bIns="2700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~80% done</a:t>
            </a:r>
          </a:p>
        </p:txBody>
      </p:sp>
      <p:sp>
        <p:nvSpPr>
          <p:cNvPr id="60" name="CompletedTag"/>
          <p:cNvSpPr/>
          <p:nvPr/>
        </p:nvSpPr>
        <p:spPr>
          <a:xfrm>
            <a:off x="1143000" y="2590800"/>
            <a:ext cx="1016000" cy="203200"/>
          </a:xfrm>
          <a:prstGeom prst="roundRect">
            <a:avLst/>
          </a:prstGeom>
          <a:solidFill>
            <a:srgbClr val="558B2F"/>
          </a:solidFill>
          <a:ln>
            <a:noFill/>
          </a:ln>
        </p:spPr>
        <p:txBody>
          <a:bodyPr wrap="square" lIns="54000" tIns="36000" rIns="54000" bIns="2700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61" name="InProgressTag"/>
          <p:cNvSpPr/>
          <p:nvPr/>
        </p:nvSpPr>
        <p:spPr>
          <a:xfrm>
            <a:off x="7937500" y="2590800"/>
            <a:ext cx="1016000" cy="203200"/>
          </a:xfrm>
          <a:prstGeom prst="roundRect">
            <a:avLst/>
          </a:prstGeom>
          <a:solidFill>
            <a:srgbClr val="BF873A"/>
          </a:solidFill>
          <a:ln>
            <a:noFill/>
          </a:ln>
        </p:spPr>
        <p:txBody>
          <a:bodyPr wrap="square" lIns="54000" tIns="36000" rIns="54000" bIns="2700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</a:rPr>
              <a:t>CURRENT</a:t>
            </a:r>
          </a:p>
        </p:txBody>
      </p:sp>
    </p:spTree>
    <p:extLst>
      <p:ext uri="{BB962C8B-B14F-4D97-AF65-F5344CB8AC3E}">
        <p14:creationId xmlns:p14="http://schemas.microsoft.com/office/powerpoint/2010/main" val="11126410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A69AD-EE18-79A5-718B-FA9102828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21" y="213519"/>
            <a:ext cx="10077557" cy="1325563"/>
          </a:xfrm>
        </p:spPr>
        <p:txBody>
          <a:bodyPr/>
          <a:lstStyle/>
          <a:p>
            <a:r>
              <a:rPr lang="en-US" dirty="0"/>
              <a:t>Plan for Thesis / Next Steps</a:t>
            </a:r>
          </a:p>
        </p:txBody>
      </p:sp>
      <p:sp>
        <p:nvSpPr>
          <p:cNvPr id="100" name="Week1"/>
          <p:cNvSpPr/>
          <p:nvPr/>
        </p:nvSpPr>
        <p:spPr>
          <a:xfrm>
            <a:off x="3429000" y="1854200"/>
            <a:ext cx="685800" cy="254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US" sz="800" dirty="0">
                <a:solidFill>
                  <a:srgbClr val="8F6B8A"/>
                </a:solidFill>
              </a:rPr>
              <a:t>W1</a:t>
            </a:r>
          </a:p>
        </p:txBody>
      </p:sp>
      <p:sp>
        <p:nvSpPr>
          <p:cNvPr id="101" name="Week2"/>
          <p:cNvSpPr/>
          <p:nvPr/>
        </p:nvSpPr>
        <p:spPr>
          <a:xfrm>
            <a:off x="4114800" y="1854200"/>
            <a:ext cx="685800" cy="254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US" sz="800" dirty="0">
                <a:solidFill>
                  <a:srgbClr val="8F6B8A"/>
                </a:solidFill>
              </a:rPr>
              <a:t>W2</a:t>
            </a:r>
          </a:p>
        </p:txBody>
      </p:sp>
      <p:sp>
        <p:nvSpPr>
          <p:cNvPr id="102" name="Week3"/>
          <p:cNvSpPr/>
          <p:nvPr/>
        </p:nvSpPr>
        <p:spPr>
          <a:xfrm>
            <a:off x="4800600" y="1854200"/>
            <a:ext cx="685800" cy="254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US" sz="800" dirty="0">
                <a:solidFill>
                  <a:srgbClr val="8F6B8A"/>
                </a:solidFill>
              </a:rPr>
              <a:t>W3</a:t>
            </a:r>
          </a:p>
        </p:txBody>
      </p:sp>
      <p:sp>
        <p:nvSpPr>
          <p:cNvPr id="103" name="Week4"/>
          <p:cNvSpPr/>
          <p:nvPr/>
        </p:nvSpPr>
        <p:spPr>
          <a:xfrm>
            <a:off x="5486400" y="1854200"/>
            <a:ext cx="685800" cy="254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US" sz="800" dirty="0">
                <a:solidFill>
                  <a:srgbClr val="8F6B8A"/>
                </a:solidFill>
              </a:rPr>
              <a:t>W4</a:t>
            </a:r>
          </a:p>
        </p:txBody>
      </p:sp>
      <p:sp>
        <p:nvSpPr>
          <p:cNvPr id="104" name="Week5"/>
          <p:cNvSpPr/>
          <p:nvPr/>
        </p:nvSpPr>
        <p:spPr>
          <a:xfrm>
            <a:off x="6172200" y="1854200"/>
            <a:ext cx="685800" cy="254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US" sz="800" dirty="0">
                <a:solidFill>
                  <a:srgbClr val="8F6B8A"/>
                </a:solidFill>
              </a:rPr>
              <a:t>W5</a:t>
            </a:r>
          </a:p>
        </p:txBody>
      </p:sp>
      <p:sp>
        <p:nvSpPr>
          <p:cNvPr id="105" name="Week6"/>
          <p:cNvSpPr/>
          <p:nvPr/>
        </p:nvSpPr>
        <p:spPr>
          <a:xfrm>
            <a:off x="6858000" y="1854200"/>
            <a:ext cx="685800" cy="254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US" sz="800" dirty="0">
                <a:solidFill>
                  <a:srgbClr val="8F6B8A"/>
                </a:solidFill>
              </a:rPr>
              <a:t>W6</a:t>
            </a:r>
          </a:p>
        </p:txBody>
      </p:sp>
      <p:sp>
        <p:nvSpPr>
          <p:cNvPr id="106" name="Week7"/>
          <p:cNvSpPr/>
          <p:nvPr/>
        </p:nvSpPr>
        <p:spPr>
          <a:xfrm>
            <a:off x="7543800" y="1854200"/>
            <a:ext cx="685800" cy="254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US" sz="800" dirty="0">
                <a:solidFill>
                  <a:srgbClr val="8F6B8A"/>
                </a:solidFill>
              </a:rPr>
              <a:t>W7</a:t>
            </a:r>
          </a:p>
        </p:txBody>
      </p:sp>
      <p:sp>
        <p:nvSpPr>
          <p:cNvPr id="107" name="Week8"/>
          <p:cNvSpPr/>
          <p:nvPr/>
        </p:nvSpPr>
        <p:spPr>
          <a:xfrm>
            <a:off x="8229600" y="1854200"/>
            <a:ext cx="685800" cy="254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US" sz="800" dirty="0">
                <a:solidFill>
                  <a:srgbClr val="8F6B8A"/>
                </a:solidFill>
              </a:rPr>
              <a:t>W8</a:t>
            </a:r>
          </a:p>
        </p:txBody>
      </p:sp>
      <p:sp>
        <p:nvSpPr>
          <p:cNvPr id="108" name="Week9"/>
          <p:cNvSpPr/>
          <p:nvPr/>
        </p:nvSpPr>
        <p:spPr>
          <a:xfrm>
            <a:off x="8915400" y="1854200"/>
            <a:ext cx="685800" cy="254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US" sz="800" dirty="0">
                <a:solidFill>
                  <a:srgbClr val="8F6B8A"/>
                </a:solidFill>
              </a:rPr>
              <a:t>W9</a:t>
            </a:r>
          </a:p>
        </p:txBody>
      </p:sp>
      <p:sp>
        <p:nvSpPr>
          <p:cNvPr id="109" name="Week10"/>
          <p:cNvSpPr/>
          <p:nvPr/>
        </p:nvSpPr>
        <p:spPr>
          <a:xfrm>
            <a:off x="9601200" y="1854200"/>
            <a:ext cx="685800" cy="254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US" sz="800" dirty="0">
                <a:solidFill>
                  <a:srgbClr val="8F6B8A"/>
                </a:solidFill>
              </a:rPr>
              <a:t>W10</a:t>
            </a:r>
          </a:p>
        </p:txBody>
      </p:sp>
      <p:cxnSp>
        <p:nvCxnSpPr>
          <p:cNvPr id="200" name="Grid0"/>
          <p:cNvCxnSpPr/>
          <p:nvPr/>
        </p:nvCxnSpPr>
        <p:spPr>
          <a:xfrm>
            <a:off x="3429000" y="2159000"/>
            <a:ext cx="0" cy="2946400"/>
          </a:xfrm>
          <a:prstGeom prst="line">
            <a:avLst/>
          </a:prstGeom>
          <a:ln w="6350">
            <a:solidFill>
              <a:srgbClr val="D49D8C">
                <a:alpha val="30000"/>
              </a:srgbClr>
            </a:solidFill>
          </a:ln>
        </p:spPr>
      </p:cxnSp>
      <p:cxnSp>
        <p:nvCxnSpPr>
          <p:cNvPr id="201" name="Grid1"/>
          <p:cNvCxnSpPr/>
          <p:nvPr/>
        </p:nvCxnSpPr>
        <p:spPr>
          <a:xfrm>
            <a:off x="4114800" y="2159000"/>
            <a:ext cx="0" cy="2946400"/>
          </a:xfrm>
          <a:prstGeom prst="line">
            <a:avLst/>
          </a:prstGeom>
          <a:ln w="6350">
            <a:solidFill>
              <a:srgbClr val="D49D8C">
                <a:alpha val="30000"/>
              </a:srgbClr>
            </a:solidFill>
          </a:ln>
        </p:spPr>
      </p:cxnSp>
      <p:cxnSp>
        <p:nvCxnSpPr>
          <p:cNvPr id="202" name="Grid2"/>
          <p:cNvCxnSpPr/>
          <p:nvPr/>
        </p:nvCxnSpPr>
        <p:spPr>
          <a:xfrm>
            <a:off x="4800600" y="2159000"/>
            <a:ext cx="0" cy="2946400"/>
          </a:xfrm>
          <a:prstGeom prst="line">
            <a:avLst/>
          </a:prstGeom>
          <a:ln w="6350">
            <a:solidFill>
              <a:srgbClr val="D49D8C">
                <a:alpha val="30000"/>
              </a:srgbClr>
            </a:solidFill>
          </a:ln>
        </p:spPr>
      </p:cxnSp>
      <p:cxnSp>
        <p:nvCxnSpPr>
          <p:cNvPr id="203" name="Grid3"/>
          <p:cNvCxnSpPr/>
          <p:nvPr/>
        </p:nvCxnSpPr>
        <p:spPr>
          <a:xfrm>
            <a:off x="5486400" y="2159000"/>
            <a:ext cx="0" cy="2946400"/>
          </a:xfrm>
          <a:prstGeom prst="line">
            <a:avLst/>
          </a:prstGeom>
          <a:ln w="6350">
            <a:solidFill>
              <a:srgbClr val="D49D8C">
                <a:alpha val="30000"/>
              </a:srgbClr>
            </a:solidFill>
          </a:ln>
        </p:spPr>
      </p:cxnSp>
      <p:cxnSp>
        <p:nvCxnSpPr>
          <p:cNvPr id="204" name="Grid4"/>
          <p:cNvCxnSpPr/>
          <p:nvPr/>
        </p:nvCxnSpPr>
        <p:spPr>
          <a:xfrm>
            <a:off x="6172200" y="2159000"/>
            <a:ext cx="0" cy="2946400"/>
          </a:xfrm>
          <a:prstGeom prst="line">
            <a:avLst/>
          </a:prstGeom>
          <a:ln w="6350">
            <a:solidFill>
              <a:srgbClr val="D49D8C">
                <a:alpha val="30000"/>
              </a:srgbClr>
            </a:solidFill>
          </a:ln>
        </p:spPr>
      </p:cxnSp>
      <p:cxnSp>
        <p:nvCxnSpPr>
          <p:cNvPr id="205" name="Grid5"/>
          <p:cNvCxnSpPr/>
          <p:nvPr/>
        </p:nvCxnSpPr>
        <p:spPr>
          <a:xfrm>
            <a:off x="6858000" y="2159000"/>
            <a:ext cx="0" cy="2946400"/>
          </a:xfrm>
          <a:prstGeom prst="line">
            <a:avLst/>
          </a:prstGeom>
          <a:ln w="6350">
            <a:solidFill>
              <a:srgbClr val="D49D8C">
                <a:alpha val="30000"/>
              </a:srgbClr>
            </a:solidFill>
          </a:ln>
        </p:spPr>
      </p:cxnSp>
      <p:cxnSp>
        <p:nvCxnSpPr>
          <p:cNvPr id="206" name="Grid6"/>
          <p:cNvCxnSpPr/>
          <p:nvPr/>
        </p:nvCxnSpPr>
        <p:spPr>
          <a:xfrm>
            <a:off x="7543800" y="2159000"/>
            <a:ext cx="0" cy="2946400"/>
          </a:xfrm>
          <a:prstGeom prst="line">
            <a:avLst/>
          </a:prstGeom>
          <a:ln w="6350">
            <a:solidFill>
              <a:srgbClr val="D49D8C">
                <a:alpha val="30000"/>
              </a:srgbClr>
            </a:solidFill>
          </a:ln>
        </p:spPr>
      </p:cxnSp>
      <p:cxnSp>
        <p:nvCxnSpPr>
          <p:cNvPr id="207" name="Grid7"/>
          <p:cNvCxnSpPr/>
          <p:nvPr/>
        </p:nvCxnSpPr>
        <p:spPr>
          <a:xfrm>
            <a:off x="8229600" y="2159000"/>
            <a:ext cx="0" cy="2946400"/>
          </a:xfrm>
          <a:prstGeom prst="line">
            <a:avLst/>
          </a:prstGeom>
          <a:ln w="6350">
            <a:solidFill>
              <a:srgbClr val="D49D8C">
                <a:alpha val="30000"/>
              </a:srgbClr>
            </a:solidFill>
          </a:ln>
        </p:spPr>
      </p:cxnSp>
      <p:cxnSp>
        <p:nvCxnSpPr>
          <p:cNvPr id="208" name="Grid8"/>
          <p:cNvCxnSpPr/>
          <p:nvPr/>
        </p:nvCxnSpPr>
        <p:spPr>
          <a:xfrm>
            <a:off x="8915400" y="2159000"/>
            <a:ext cx="0" cy="2946400"/>
          </a:xfrm>
          <a:prstGeom prst="line">
            <a:avLst/>
          </a:prstGeom>
          <a:ln w="6350">
            <a:solidFill>
              <a:srgbClr val="D49D8C">
                <a:alpha val="30000"/>
              </a:srgbClr>
            </a:solidFill>
          </a:ln>
        </p:spPr>
      </p:cxnSp>
      <p:cxnSp>
        <p:nvCxnSpPr>
          <p:cNvPr id="209" name="Grid9"/>
          <p:cNvCxnSpPr/>
          <p:nvPr/>
        </p:nvCxnSpPr>
        <p:spPr>
          <a:xfrm>
            <a:off x="9601200" y="2159000"/>
            <a:ext cx="0" cy="2946400"/>
          </a:xfrm>
          <a:prstGeom prst="line">
            <a:avLst/>
          </a:prstGeom>
          <a:ln w="6350">
            <a:solidFill>
              <a:srgbClr val="D49D8C">
                <a:alpha val="30000"/>
              </a:srgbClr>
            </a:solidFill>
          </a:ln>
        </p:spPr>
      </p:cxnSp>
      <p:cxnSp>
        <p:nvCxnSpPr>
          <p:cNvPr id="210" name="Grid10"/>
          <p:cNvCxnSpPr/>
          <p:nvPr/>
        </p:nvCxnSpPr>
        <p:spPr>
          <a:xfrm>
            <a:off x="10287000" y="2159000"/>
            <a:ext cx="0" cy="2946400"/>
          </a:xfrm>
          <a:prstGeom prst="line">
            <a:avLst/>
          </a:prstGeom>
          <a:ln w="6350">
            <a:solidFill>
              <a:srgbClr val="D49D8C">
                <a:alpha val="30000"/>
              </a:srgbClr>
            </a:solidFill>
          </a:ln>
        </p:spPr>
      </p:cxnSp>
      <p:sp>
        <p:nvSpPr>
          <p:cNvPr id="10" name="Label0"/>
          <p:cNvSpPr/>
          <p:nvPr/>
        </p:nvSpPr>
        <p:spPr>
          <a:xfrm>
            <a:off x="762000" y="21590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18000" rIns="54000" bIns="18000" anchor="ctr"/>
          <a:lstStyle/>
          <a:p>
            <a:pPr algn="r"/>
            <a:r>
              <a:rPr lang="en-US" sz="1100" b="1" dirty="0">
                <a:solidFill>
                  <a:srgbClr val="D45E5E"/>
                </a:solidFill>
              </a:rPr>
              <a:t>Missing experiments</a:t>
            </a:r>
          </a:p>
        </p:txBody>
      </p:sp>
      <p:sp>
        <p:nvSpPr>
          <p:cNvPr id="20" name="Bar0"/>
          <p:cNvSpPr/>
          <p:nvPr/>
        </p:nvSpPr>
        <p:spPr>
          <a:xfrm>
            <a:off x="3429000" y="2209800"/>
            <a:ext cx="1371600" cy="406400"/>
          </a:xfrm>
          <a:prstGeom prst="roundRect">
            <a:avLst/>
          </a:prstGeom>
          <a:solidFill>
            <a:srgbClr val="D45E5E"/>
          </a:solidFill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2 wks</a:t>
            </a:r>
          </a:p>
        </p:txBody>
      </p:sp>
      <p:sp>
        <p:nvSpPr>
          <p:cNvPr id="11" name="Label1"/>
          <p:cNvSpPr/>
          <p:nvPr/>
        </p:nvSpPr>
        <p:spPr>
          <a:xfrm>
            <a:off x="762000" y="27686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18000" rIns="54000" bIns="18000" anchor="ctr"/>
          <a:lstStyle/>
          <a:p>
            <a:pPr algn="r"/>
            <a:r>
              <a:rPr lang="en-US" sz="1100" b="1" dirty="0">
                <a:solidFill>
                  <a:srgbClr val="BF873A"/>
                </a:solidFill>
              </a:rPr>
              <a:t>Retrain (more params)</a:t>
            </a:r>
          </a:p>
        </p:txBody>
      </p:sp>
      <p:sp>
        <p:nvSpPr>
          <p:cNvPr id="21" name="Bar1"/>
          <p:cNvSpPr/>
          <p:nvPr/>
        </p:nvSpPr>
        <p:spPr>
          <a:xfrm>
            <a:off x="4114800" y="2819400"/>
            <a:ext cx="1371600" cy="406400"/>
          </a:xfrm>
          <a:prstGeom prst="roundRect">
            <a:avLst/>
          </a:prstGeom>
          <a:solidFill>
            <a:srgbClr val="BF873A"/>
          </a:solidFill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2 wks</a:t>
            </a:r>
          </a:p>
        </p:txBody>
      </p:sp>
      <p:sp>
        <p:nvSpPr>
          <p:cNvPr id="12" name="Label2"/>
          <p:cNvSpPr/>
          <p:nvPr/>
        </p:nvSpPr>
        <p:spPr>
          <a:xfrm>
            <a:off x="762000" y="33782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18000" rIns="54000" bIns="18000" anchor="ctr"/>
          <a:lstStyle/>
          <a:p>
            <a:pPr algn="r"/>
            <a:r>
              <a:rPr lang="en-US" sz="1100" b="1" dirty="0">
                <a:solidFill>
                  <a:srgbClr val="8F6B8A"/>
                </a:solidFill>
              </a:rPr>
              <a:t>Vary observations</a:t>
            </a:r>
          </a:p>
        </p:txBody>
      </p:sp>
      <p:sp>
        <p:nvSpPr>
          <p:cNvPr id="22" name="Bar2"/>
          <p:cNvSpPr/>
          <p:nvPr/>
        </p:nvSpPr>
        <p:spPr>
          <a:xfrm>
            <a:off x="4800600" y="3429000"/>
            <a:ext cx="2057400" cy="406400"/>
          </a:xfrm>
          <a:prstGeom prst="roundRect">
            <a:avLst/>
          </a:prstGeom>
          <a:solidFill>
            <a:srgbClr val="8F6B8A"/>
          </a:solidFill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3 wks</a:t>
            </a:r>
          </a:p>
        </p:txBody>
      </p:sp>
      <p:sp>
        <p:nvSpPr>
          <p:cNvPr id="13" name="Label3"/>
          <p:cNvSpPr/>
          <p:nvPr/>
        </p:nvSpPr>
        <p:spPr>
          <a:xfrm>
            <a:off x="762000" y="39878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18000" rIns="54000" bIns="18000" anchor="ctr"/>
          <a:lstStyle/>
          <a:p>
            <a:pPr algn="r"/>
            <a:r>
              <a:rPr lang="en-US" sz="1100" b="1" dirty="0">
                <a:solidFill>
                  <a:srgbClr val="A89F68"/>
                </a:solidFill>
              </a:rPr>
              <a:t>Mathematical analysis</a:t>
            </a:r>
          </a:p>
        </p:txBody>
      </p:sp>
      <p:sp>
        <p:nvSpPr>
          <p:cNvPr id="23" name="Bar3"/>
          <p:cNvSpPr/>
          <p:nvPr/>
        </p:nvSpPr>
        <p:spPr>
          <a:xfrm>
            <a:off x="5486400" y="4038600"/>
            <a:ext cx="2057400" cy="406400"/>
          </a:xfrm>
          <a:prstGeom prst="roundRect">
            <a:avLst/>
          </a:prstGeom>
          <a:solidFill>
            <a:srgbClr val="A89F68"/>
          </a:solidFill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3 wks</a:t>
            </a:r>
          </a:p>
        </p:txBody>
      </p:sp>
      <p:sp>
        <p:nvSpPr>
          <p:cNvPr id="14" name="Label4"/>
          <p:cNvSpPr/>
          <p:nvPr/>
        </p:nvSpPr>
        <p:spPr>
          <a:xfrm>
            <a:off x="762000" y="45974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18000" rIns="54000" bIns="18000" anchor="ctr"/>
          <a:lstStyle/>
          <a:p>
            <a:pPr algn="r"/>
            <a:r>
              <a:rPr lang="en-US" sz="1100" b="1" dirty="0">
                <a:solidFill>
                  <a:srgbClr val="463443"/>
                </a:solidFill>
              </a:rPr>
              <a:t>Thesis writing</a:t>
            </a:r>
          </a:p>
        </p:txBody>
      </p:sp>
      <p:sp>
        <p:nvSpPr>
          <p:cNvPr id="24" name="Bar4"/>
          <p:cNvSpPr/>
          <p:nvPr/>
        </p:nvSpPr>
        <p:spPr>
          <a:xfrm>
            <a:off x="3429000" y="4648200"/>
            <a:ext cx="6858000" cy="406400"/>
          </a:xfrm>
          <a:prstGeom prst="roundRect">
            <a:avLst/>
          </a:prstGeom>
          <a:solidFill>
            <a:srgbClr val="463443"/>
          </a:solidFill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10 wks</a:t>
            </a:r>
          </a:p>
        </p:txBody>
      </p:sp>
      <p:cxnSp>
        <p:nvCxnSpPr>
          <p:cNvPr id="80" name="NowLine"/>
          <p:cNvCxnSpPr/>
          <p:nvPr/>
        </p:nvCxnSpPr>
        <p:spPr>
          <a:xfrm>
            <a:off x="3429000" y="2082800"/>
            <a:ext cx="0" cy="3200400"/>
          </a:xfrm>
          <a:prstGeom prst="line">
            <a:avLst/>
          </a:prstGeom>
          <a:ln w="19050">
            <a:solidFill>
              <a:srgbClr val="D45E5E"/>
            </a:solidFill>
            <a:prstDash val="dash"/>
          </a:ln>
        </p:spPr>
      </p:cxnSp>
      <p:sp>
        <p:nvSpPr>
          <p:cNvPr id="81" name="NowLabel"/>
          <p:cNvSpPr/>
          <p:nvPr/>
        </p:nvSpPr>
        <p:spPr>
          <a:xfrm>
            <a:off x="3200400" y="1879600"/>
            <a:ext cx="457200" cy="203200"/>
          </a:xfrm>
          <a:prstGeom prst="roundRect">
            <a:avLst/>
          </a:prstGeom>
          <a:solidFill>
            <a:srgbClr val="D45E5E"/>
          </a:solidFill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US" sz="700" b="1" dirty="0">
                <a:solidFill>
                  <a:srgbClr val="FFFFFF"/>
                </a:solidFill>
              </a:rPr>
              <a:t>NOW</a:t>
            </a:r>
          </a:p>
        </p:txBody>
      </p:sp>
      <p:sp>
        <p:nvSpPr>
          <p:cNvPr id="70" name="RiskBar"/>
          <p:cNvSpPr/>
          <p:nvPr/>
        </p:nvSpPr>
        <p:spPr>
          <a:xfrm>
            <a:off x="762000" y="5943600"/>
            <a:ext cx="10287000" cy="482600"/>
          </a:xfrm>
          <a:prstGeom prst="roundRect">
            <a:avLst/>
          </a:prstGeom>
          <a:solidFill>
            <a:srgbClr val="463443"/>
          </a:solidFill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US" sz="1050" i="1" dirty="0">
                <a:solidFill>
                  <a:srgbClr val="D49D8C"/>
                </a:solidFill>
              </a:rPr>
              <a:t>⚠  Key risks: computational constraints  ·  inconclusive results  ·  scope adjustments</a:t>
            </a:r>
          </a:p>
        </p:txBody>
      </p:sp>
    </p:spTree>
    <p:extLst>
      <p:ext uri="{BB962C8B-B14F-4D97-AF65-F5344CB8AC3E}">
        <p14:creationId xmlns:p14="http://schemas.microsoft.com/office/powerpoint/2010/main" val="26951628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4B766E-FA99-1021-3240-6A5AD666B56B}"/>
              </a:ext>
            </a:extLst>
          </p:cNvPr>
          <p:cNvSpPr txBox="1"/>
          <p:nvPr/>
        </p:nvSpPr>
        <p:spPr>
          <a:xfrm>
            <a:off x="0" y="1727348"/>
            <a:ext cx="12192000" cy="3403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900" dirty="0"/>
              <a:t>[1] </a:t>
            </a:r>
            <a:r>
              <a:rPr lang="en-US" sz="900" dirty="0" err="1"/>
              <a:t>Enouen</a:t>
            </a:r>
            <a:r>
              <a:rPr lang="en-US" sz="900" dirty="0"/>
              <a:t>, J., &amp; Liu, Y. (2022). </a:t>
            </a:r>
            <a:r>
              <a:rPr lang="en-US" sz="900" i="1" dirty="0"/>
              <a:t>Sparse interaction additive networks via feature interaction detection and sparse selection</a:t>
            </a:r>
            <a:r>
              <a:rPr lang="en-US" sz="900" dirty="0"/>
              <a:t>. Advances in Neural Information Processing Systems, 35, 13908–13920. https://</a:t>
            </a:r>
            <a:r>
              <a:rPr lang="en-US" sz="900" dirty="0" err="1"/>
              <a:t>arxiv.org</a:t>
            </a:r>
            <a:r>
              <a:rPr lang="en-US" sz="900" dirty="0"/>
              <a:t>/abs/2209.09326</a:t>
            </a:r>
          </a:p>
          <a:p>
            <a:pPr>
              <a:lnSpc>
                <a:spcPct val="120000"/>
              </a:lnSpc>
            </a:pPr>
            <a:r>
              <a:rPr lang="en-US" sz="900" dirty="0"/>
              <a:t>[2] Wong, A., Wang, X. Y., &amp; </a:t>
            </a:r>
            <a:r>
              <a:rPr lang="en-US" sz="900" dirty="0" err="1"/>
              <a:t>Hryniowski</a:t>
            </a:r>
            <a:r>
              <a:rPr lang="en-US" sz="900" dirty="0"/>
              <a:t>, A. (2020). </a:t>
            </a:r>
            <a:r>
              <a:rPr lang="en-US" sz="900" i="1" dirty="0"/>
              <a:t>How much can we really trust you? Towards simple, interpretable trust quantification metrics for deep neural networks</a:t>
            </a:r>
            <a:r>
              <a:rPr lang="en-US" sz="900" dirty="0"/>
              <a:t>. </a:t>
            </a:r>
            <a:r>
              <a:rPr lang="en-US" sz="900" dirty="0" err="1"/>
              <a:t>arXiv</a:t>
            </a:r>
            <a:r>
              <a:rPr lang="en-US" sz="900" dirty="0"/>
              <a:t>. https://</a:t>
            </a:r>
            <a:r>
              <a:rPr lang="en-US" sz="900" dirty="0" err="1"/>
              <a:t>arxiv.org</a:t>
            </a:r>
            <a:r>
              <a:rPr lang="en-US" sz="900" dirty="0"/>
              <a:t>/abs/2009.05835</a:t>
            </a:r>
          </a:p>
          <a:p>
            <a:pPr>
              <a:lnSpc>
                <a:spcPct val="120000"/>
              </a:lnSpc>
            </a:pPr>
            <a:r>
              <a:rPr lang="en-US" sz="900" dirty="0"/>
              <a:t>[3] Tsang, M., Cheng, D., &amp; Liu, Y. (2018). </a:t>
            </a:r>
            <a:r>
              <a:rPr lang="en-US" sz="900" i="1" dirty="0"/>
              <a:t>Detecting statistical interactions from neural network weights</a:t>
            </a:r>
            <a:r>
              <a:rPr lang="en-US" sz="900" dirty="0"/>
              <a:t>. International Conference on Learning Representations. https://</a:t>
            </a:r>
            <a:r>
              <a:rPr lang="en-US" sz="900" dirty="0" err="1"/>
              <a:t>arxiv.org</a:t>
            </a:r>
            <a:r>
              <a:rPr lang="en-US" sz="900" dirty="0"/>
              <a:t>/abs/1705.04977</a:t>
            </a:r>
          </a:p>
          <a:p>
            <a:pPr>
              <a:lnSpc>
                <a:spcPct val="120000"/>
              </a:lnSpc>
            </a:pPr>
            <a:r>
              <a:rPr lang="en-US" sz="900" dirty="0"/>
              <a:t>[4] van </a:t>
            </a:r>
            <a:r>
              <a:rPr lang="en-US" sz="900" dirty="0" err="1"/>
              <a:t>Hilten</a:t>
            </a:r>
            <a:r>
              <a:rPr lang="en-US" sz="900" dirty="0"/>
              <a:t>, A., </a:t>
            </a:r>
            <a:r>
              <a:rPr lang="en-US" sz="900" dirty="0" err="1"/>
              <a:t>Melograna</a:t>
            </a:r>
            <a:r>
              <a:rPr lang="en-US" sz="900" dirty="0"/>
              <a:t>, F., Fan, B., </a:t>
            </a:r>
            <a:r>
              <a:rPr lang="en-US" sz="900" dirty="0" err="1"/>
              <a:t>Niessen</a:t>
            </a:r>
            <a:r>
              <a:rPr lang="en-US" sz="900" dirty="0"/>
              <a:t>, W., van Steen, K., &amp; </a:t>
            </a:r>
            <a:r>
              <a:rPr lang="en-US" sz="900" dirty="0" err="1"/>
              <a:t>Roshchupkin</a:t>
            </a:r>
            <a:r>
              <a:rPr lang="en-US" sz="900" dirty="0"/>
              <a:t>, G. V. (2025). Detecting genetic interactions with visible neural networks. </a:t>
            </a:r>
            <a:r>
              <a:rPr lang="en-US" sz="900" i="1" dirty="0"/>
              <a:t>Communications Biology, 8</a:t>
            </a:r>
            <a:r>
              <a:rPr lang="en-US" sz="900" dirty="0"/>
              <a:t>, Article 874. https://</a:t>
            </a:r>
            <a:r>
              <a:rPr lang="en-US" sz="900" dirty="0" err="1"/>
              <a:t>doi.org</a:t>
            </a:r>
            <a:r>
              <a:rPr lang="en-US" sz="900" dirty="0"/>
              <a:t>/10.1038/s42003-025-08157-x</a:t>
            </a:r>
          </a:p>
          <a:p>
            <a:pPr>
              <a:lnSpc>
                <a:spcPct val="120000"/>
              </a:lnSpc>
            </a:pPr>
            <a:r>
              <a:rPr lang="en-US" sz="900" dirty="0"/>
              <a:t>[5] Liu, Z., Song, Q., Zhou, K., Wang, T.-H., Shan, Y., &amp; Hu, X. (2020). </a:t>
            </a:r>
            <a:r>
              <a:rPr lang="en-US" sz="900" i="1" dirty="0"/>
              <a:t>Towards interaction detection using topological analysis on neural networks</a:t>
            </a:r>
            <a:r>
              <a:rPr lang="en-US" sz="900" dirty="0"/>
              <a:t>. Advances in Neural Information Processing Systems, 33.</a:t>
            </a:r>
          </a:p>
          <a:p>
            <a:pPr>
              <a:lnSpc>
                <a:spcPct val="120000"/>
              </a:lnSpc>
            </a:pPr>
            <a:r>
              <a:rPr lang="en-US" sz="900" dirty="0"/>
              <a:t>[6] Srivastava, N., Hinton, G., </a:t>
            </a:r>
            <a:r>
              <a:rPr lang="en-US" sz="900" dirty="0" err="1"/>
              <a:t>Krizhevsky</a:t>
            </a:r>
            <a:r>
              <a:rPr lang="en-US" sz="900" dirty="0"/>
              <a:t>, A., </a:t>
            </a:r>
            <a:r>
              <a:rPr lang="en-US" sz="900" dirty="0" err="1"/>
              <a:t>Sutskever</a:t>
            </a:r>
            <a:r>
              <a:rPr lang="en-US" sz="900" dirty="0"/>
              <a:t>, I., &amp; </a:t>
            </a:r>
            <a:r>
              <a:rPr lang="en-US" sz="900" dirty="0" err="1"/>
              <a:t>Salakhutdinov</a:t>
            </a:r>
            <a:r>
              <a:rPr lang="en-US" sz="900" dirty="0"/>
              <a:t>, R. (2014). Dropout: A simple way to prevent neural networks from overfitting. </a:t>
            </a:r>
            <a:r>
              <a:rPr lang="en-US" sz="900" i="1" dirty="0"/>
              <a:t>Journal of Machine Learning Research, 15</a:t>
            </a:r>
            <a:r>
              <a:rPr lang="en-US" sz="900" dirty="0"/>
              <a:t>, 1929–1958.</a:t>
            </a:r>
          </a:p>
          <a:p>
            <a:pPr>
              <a:lnSpc>
                <a:spcPct val="120000"/>
              </a:lnSpc>
            </a:pPr>
            <a:r>
              <a:rPr lang="en-US" sz="900" dirty="0"/>
              <a:t>[7] Goodfellow, I., Bengio, Y., &amp; Courville, A. (2016). </a:t>
            </a:r>
            <a:r>
              <a:rPr lang="en-US" sz="900" i="1" dirty="0"/>
              <a:t>Deep learning</a:t>
            </a:r>
            <a:r>
              <a:rPr lang="en-US" sz="900" dirty="0"/>
              <a:t>. MIT Press.</a:t>
            </a:r>
          </a:p>
          <a:p>
            <a:pPr>
              <a:lnSpc>
                <a:spcPct val="120000"/>
              </a:lnSpc>
            </a:pPr>
            <a:r>
              <a:rPr lang="en-US" sz="900" dirty="0"/>
              <a:t>[8] </a:t>
            </a:r>
            <a:r>
              <a:rPr lang="en-US" sz="900" dirty="0" err="1"/>
              <a:t>Lengerich</a:t>
            </a:r>
            <a:r>
              <a:rPr lang="en-US" sz="900" dirty="0"/>
              <a:t>, B. J., Xing, E. P., &amp; Caruana, R. (2022). Dropout as a </a:t>
            </a:r>
            <a:r>
              <a:rPr lang="en-US" sz="900" dirty="0" err="1"/>
              <a:t>regularizer</a:t>
            </a:r>
            <a:r>
              <a:rPr lang="en-US" sz="900" dirty="0"/>
              <a:t> of interaction effects. In G. Camps-Valls, F. J. R. Ruiz, &amp; I. Valera (Eds.), </a:t>
            </a:r>
            <a:r>
              <a:rPr lang="en-US" sz="900" i="1" dirty="0"/>
              <a:t>Proceedings of the 25th International Conference on Artificial Intelligence and Statistics</a:t>
            </a:r>
            <a:r>
              <a:rPr lang="en-US" sz="900" dirty="0"/>
              <a:t> (Proceedings of Machine Learning Research, Vol. 151). PMLR. https://</a:t>
            </a:r>
            <a:r>
              <a:rPr lang="en-US" sz="900" dirty="0" err="1"/>
              <a:t>proceedings.mlr.press</a:t>
            </a:r>
            <a:r>
              <a:rPr lang="en-US" sz="900" dirty="0"/>
              <a:t>/v151/lengerich22a.html</a:t>
            </a:r>
          </a:p>
          <a:p>
            <a:pPr>
              <a:lnSpc>
                <a:spcPct val="120000"/>
              </a:lnSpc>
            </a:pPr>
            <a:r>
              <a:rPr lang="en-US" sz="900" dirty="0"/>
              <a:t>[9] </a:t>
            </a:r>
            <a:r>
              <a:rPr lang="en-US" sz="900" dirty="0" err="1"/>
              <a:t>Janizek</a:t>
            </a:r>
            <a:r>
              <a:rPr lang="en-US" sz="900" dirty="0"/>
              <a:t>, J. D., </a:t>
            </a:r>
            <a:r>
              <a:rPr lang="en-US" sz="900" dirty="0" err="1"/>
              <a:t>Sturmfels</a:t>
            </a:r>
            <a:r>
              <a:rPr lang="en-US" sz="900" dirty="0"/>
              <a:t>, P., &amp; Lee, S.-I. (2021). Explaining explanations: Axiomatic feature interactions for deep networks. </a:t>
            </a:r>
            <a:r>
              <a:rPr lang="en-US" sz="900" i="1" dirty="0"/>
              <a:t>Journal of Machine Learning Research, 22</a:t>
            </a:r>
            <a:r>
              <a:rPr lang="en-US" sz="900" dirty="0"/>
              <a:t>(104), 1–54. https://</a:t>
            </a:r>
            <a:r>
              <a:rPr lang="en-US" sz="900" dirty="0" err="1"/>
              <a:t>www.jmlr.org</a:t>
            </a:r>
            <a:r>
              <a:rPr lang="en-US" sz="900" dirty="0"/>
              <a:t>/papers/v22/20-1223.html</a:t>
            </a:r>
          </a:p>
          <a:p>
            <a:pPr>
              <a:lnSpc>
                <a:spcPct val="120000"/>
              </a:lnSpc>
            </a:pPr>
            <a:r>
              <a:rPr lang="en-US" sz="900" dirty="0"/>
              <a:t>[10] Tsang, M., Sun, Y., Ren, D., &amp; Liu, Y. (2018). </a:t>
            </a:r>
            <a:r>
              <a:rPr lang="en-US" sz="900" i="1" dirty="0"/>
              <a:t>Can I trust you more? Model-agnostic hierarchical explanations</a:t>
            </a:r>
            <a:r>
              <a:rPr lang="en-US" sz="900" dirty="0"/>
              <a:t>. </a:t>
            </a:r>
            <a:r>
              <a:rPr lang="en-US" sz="900" dirty="0" err="1"/>
              <a:t>arXiv</a:t>
            </a:r>
            <a:r>
              <a:rPr lang="en-US" sz="900" dirty="0"/>
              <a:t>. https://</a:t>
            </a:r>
            <a:r>
              <a:rPr lang="en-US" sz="900" dirty="0" err="1"/>
              <a:t>arxiv.org</a:t>
            </a:r>
            <a:r>
              <a:rPr lang="en-US" sz="900" dirty="0"/>
              <a:t>/abs/1812.04801</a:t>
            </a:r>
          </a:p>
          <a:p>
            <a:pPr>
              <a:lnSpc>
                <a:spcPct val="120000"/>
              </a:lnSpc>
            </a:pPr>
            <a:r>
              <a:rPr lang="en-US" sz="900" dirty="0"/>
              <a:t>[11] </a:t>
            </a:r>
            <a:r>
              <a:rPr lang="en-US" sz="900" dirty="0" err="1"/>
              <a:t>Guidotti</a:t>
            </a:r>
            <a:r>
              <a:rPr lang="en-US" sz="900" dirty="0"/>
              <a:t>, R., </a:t>
            </a:r>
            <a:r>
              <a:rPr lang="en-US" sz="900" dirty="0" err="1"/>
              <a:t>Monreale</a:t>
            </a:r>
            <a:r>
              <a:rPr lang="en-US" sz="900" dirty="0"/>
              <a:t>, A., Ruggieri, S., Turini, F., Giannotti, F., &amp; </a:t>
            </a:r>
            <a:r>
              <a:rPr lang="en-US" sz="900" dirty="0" err="1"/>
              <a:t>Pedreschi</a:t>
            </a:r>
            <a:r>
              <a:rPr lang="en-US" sz="900" dirty="0"/>
              <a:t>, D. (2018). A survey of methods for explaining black box models. </a:t>
            </a:r>
            <a:r>
              <a:rPr lang="en-US" sz="900" i="1" dirty="0"/>
              <a:t>ACM Computing Surveys, 51</a:t>
            </a:r>
            <a:r>
              <a:rPr lang="en-US" sz="900" dirty="0"/>
              <a:t>(5), Article 93, 1–42. https://</a:t>
            </a:r>
            <a:r>
              <a:rPr lang="en-US" sz="900" dirty="0" err="1"/>
              <a:t>doi.org</a:t>
            </a:r>
            <a:r>
              <a:rPr lang="en-US" sz="900" dirty="0"/>
              <a:t>/10.1145/3236009</a:t>
            </a:r>
          </a:p>
          <a:p>
            <a:pPr>
              <a:lnSpc>
                <a:spcPct val="120000"/>
              </a:lnSpc>
            </a:pPr>
            <a:r>
              <a:rPr lang="en-US" sz="900" dirty="0"/>
              <a:t>[12] Tsang, M., Cheng, D., Liu, H., Feng, X., Zhou, E., &amp; Liu, Y. (2020). </a:t>
            </a:r>
            <a:r>
              <a:rPr lang="en-US" sz="900" i="1" dirty="0"/>
              <a:t>Feature interaction interpretability: A case for explaining ad-recommendation systems via neural interaction detection</a:t>
            </a:r>
            <a:r>
              <a:rPr lang="en-US" sz="900" dirty="0"/>
              <a:t>. International Conference on Learning Representations. https://</a:t>
            </a:r>
            <a:r>
              <a:rPr lang="en-US" sz="900" dirty="0" err="1"/>
              <a:t>arxiv.org</a:t>
            </a:r>
            <a:r>
              <a:rPr lang="en-US" sz="900" dirty="0"/>
              <a:t>/abs/2006.10966</a:t>
            </a:r>
          </a:p>
          <a:p>
            <a:pPr>
              <a:lnSpc>
                <a:spcPct val="120000"/>
              </a:lnSpc>
            </a:pPr>
            <a:r>
              <a:rPr lang="en-US" sz="900" dirty="0"/>
              <a:t>[13] Agarwal, C., Krishna, S., Saxena, E., </a:t>
            </a:r>
            <a:r>
              <a:rPr lang="en-US" sz="900" dirty="0" err="1"/>
              <a:t>Pawelczyk</a:t>
            </a:r>
            <a:r>
              <a:rPr lang="en-US" sz="900" dirty="0"/>
              <a:t>, M., Johnson, N., Puri, I., </a:t>
            </a:r>
            <a:r>
              <a:rPr lang="en-US" sz="900" dirty="0" err="1"/>
              <a:t>Zitnik</a:t>
            </a:r>
            <a:r>
              <a:rPr lang="en-US" sz="900" dirty="0"/>
              <a:t>, M., &amp; </a:t>
            </a:r>
            <a:r>
              <a:rPr lang="en-US" sz="900" dirty="0" err="1"/>
              <a:t>Lakkaraju</a:t>
            </a:r>
            <a:r>
              <a:rPr lang="en-US" sz="900" dirty="0"/>
              <a:t>, H. (2022). </a:t>
            </a:r>
            <a:r>
              <a:rPr lang="en-US" sz="900" i="1" dirty="0" err="1"/>
              <a:t>OpenXAI</a:t>
            </a:r>
            <a:r>
              <a:rPr lang="en-US" sz="900" i="1" dirty="0"/>
              <a:t>: Towards a transparent evaluation of post hoc model explanations</a:t>
            </a:r>
            <a:r>
              <a:rPr lang="en-US" sz="900" dirty="0"/>
              <a:t>. Advances in Neural Information Processing Systems, 35.</a:t>
            </a:r>
          </a:p>
          <a:p>
            <a:pPr>
              <a:lnSpc>
                <a:spcPct val="120000"/>
              </a:lnSpc>
            </a:pPr>
            <a:r>
              <a:rPr lang="en-US" sz="900" dirty="0"/>
              <a:t>[14] </a:t>
            </a:r>
            <a:r>
              <a:rPr lang="en-US" sz="900" dirty="0" err="1"/>
              <a:t>Montavon</a:t>
            </a:r>
            <a:r>
              <a:rPr lang="en-US" sz="900" dirty="0"/>
              <a:t>, G., Samek, W., &amp; Müller, K.-R. (2018). Methods for interpreting and understanding deep neural networks. </a:t>
            </a:r>
            <a:r>
              <a:rPr lang="en-US" sz="900" i="1" dirty="0"/>
              <a:t>Digital Signal Processing, 73</a:t>
            </a:r>
            <a:r>
              <a:rPr lang="en-US" sz="900" dirty="0"/>
              <a:t>, 1–15. https://</a:t>
            </a:r>
            <a:r>
              <a:rPr lang="en-US" sz="900" dirty="0" err="1"/>
              <a:t>doi.org</a:t>
            </a:r>
            <a:r>
              <a:rPr lang="en-US" sz="900" dirty="0"/>
              <a:t>/10.1016/j.dsp.2017.10.011</a:t>
            </a:r>
          </a:p>
          <a:p>
            <a:pPr>
              <a:lnSpc>
                <a:spcPct val="120000"/>
              </a:lnSpc>
            </a:pPr>
            <a:r>
              <a:rPr lang="en-US" sz="900" dirty="0"/>
              <a:t>[15] Arpit, D., </a:t>
            </a:r>
            <a:r>
              <a:rPr lang="en-US" sz="900" dirty="0" err="1"/>
              <a:t>Jastrzębski</a:t>
            </a:r>
            <a:r>
              <a:rPr lang="en-US" sz="900" dirty="0"/>
              <a:t>, S., Ballas, N., Krueger, D., Bengio, E., Kanwal, M. S., Maharaj, T., Fischer, A., Courville, A., Bengio, Y., &amp; Lacoste-Julien, S. (2017). A closer look at memorization in deep networks. In D. </a:t>
            </a:r>
            <a:r>
              <a:rPr lang="en-US" sz="900" dirty="0" err="1"/>
              <a:t>Precup</a:t>
            </a:r>
            <a:r>
              <a:rPr lang="en-US" sz="900" dirty="0"/>
              <a:t> &amp; Y. W. </a:t>
            </a:r>
            <a:r>
              <a:rPr lang="en-US" sz="900" dirty="0" err="1"/>
              <a:t>Teh</a:t>
            </a:r>
            <a:r>
              <a:rPr lang="en-US" sz="900" dirty="0"/>
              <a:t> (Eds.), </a:t>
            </a:r>
            <a:r>
              <a:rPr lang="en-US" sz="900" i="1" dirty="0"/>
              <a:t>Proceedings of the 34th International Conference on Machine Learning</a:t>
            </a:r>
            <a:r>
              <a:rPr lang="en-US" sz="900" dirty="0"/>
              <a:t> (Proceedings of Machine Learning Research, Vol. 70, pp. 233–242). PMLR. https://</a:t>
            </a:r>
            <a:r>
              <a:rPr lang="en-US" sz="900" dirty="0" err="1"/>
              <a:t>proceedings.mlr.press</a:t>
            </a:r>
            <a:r>
              <a:rPr lang="en-US" sz="900" dirty="0"/>
              <a:t>/v70/arpit17a.html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1ACF4-8BC9-AF60-9E8C-A9165889A096}"/>
              </a:ext>
            </a:extLst>
          </p:cNvPr>
          <p:cNvSpPr txBox="1"/>
          <p:nvPr/>
        </p:nvSpPr>
        <p:spPr>
          <a:xfrm>
            <a:off x="3976577" y="255181"/>
            <a:ext cx="6804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Bibliography and References</a:t>
            </a:r>
          </a:p>
        </p:txBody>
      </p:sp>
    </p:spTree>
    <p:extLst>
      <p:ext uri="{BB962C8B-B14F-4D97-AF65-F5344CB8AC3E}">
        <p14:creationId xmlns:p14="http://schemas.microsoft.com/office/powerpoint/2010/main" val="2016837703"/>
      </p:ext>
    </p:extLst>
  </p:cSld>
  <p:clrMapOvr>
    <a:masterClrMapping/>
  </p:clrMapOvr>
</p:sld>
</file>

<file path=ppt/theme/theme1.xml><?xml version="1.0" encoding="utf-8"?>
<a:theme xmlns:a="http://schemas.openxmlformats.org/drawingml/2006/main" name="RocaVTI">
  <a:themeElements>
    <a:clrScheme name="Custom 101">
      <a:dk1>
        <a:sysClr val="windowText" lastClr="000000"/>
      </a:dk1>
      <a:lt1>
        <a:sysClr val="window" lastClr="FFFFFF"/>
      </a:lt1>
      <a:dk2>
        <a:srgbClr val="463443"/>
      </a:dk2>
      <a:lt2>
        <a:srgbClr val="F3F0E9"/>
      </a:lt2>
      <a:accent1>
        <a:srgbClr val="D45E5E"/>
      </a:accent1>
      <a:accent2>
        <a:srgbClr val="D49D8C"/>
      </a:accent2>
      <a:accent3>
        <a:srgbClr val="BF873A"/>
      </a:accent3>
      <a:accent4>
        <a:srgbClr val="C05050"/>
      </a:accent4>
      <a:accent5>
        <a:srgbClr val="A89F68"/>
      </a:accent5>
      <a:accent6>
        <a:srgbClr val="8F6B8A"/>
      </a:accent6>
      <a:hlink>
        <a:srgbClr val="D75681"/>
      </a:hlink>
      <a:folHlink>
        <a:srgbClr val="6C9D92"/>
      </a:folHlink>
    </a:clrScheme>
    <a:fontScheme name="Custom 36">
      <a:majorFont>
        <a:latin typeface="Georgia Pro Semibold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caVTI" id="{D79FE1D1-0489-4A69-8531-D0B8CDC31CBE}" vid="{CEBA7FE6-C04B-474E-964F-B022887AD1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D64530D-1953-F44E-BD7E-79F02D6E0F4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8780ac03-b966-4812-a868-2e877222518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4055</TotalTime>
  <Words>2369</Words>
  <Application>Microsoft Macintosh PowerPoint</Application>
  <PresentationFormat>Widescreen</PresentationFormat>
  <Paragraphs>341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Arial</vt:lpstr>
      <vt:lpstr>Avenir Next LT Pro</vt:lpstr>
      <vt:lpstr>Avenir Next LT Pro Light</vt:lpstr>
      <vt:lpstr>Consolas</vt:lpstr>
      <vt:lpstr>Georgia Pro Semibold</vt:lpstr>
      <vt:lpstr>RocaVTI</vt:lpstr>
      <vt:lpstr>Mid-Term Presentation</vt:lpstr>
      <vt:lpstr>1 Research Question</vt:lpstr>
      <vt:lpstr>PowerPoint Presentation</vt:lpstr>
      <vt:lpstr>2 Previous Research</vt:lpstr>
      <vt:lpstr>Neural interaction Detection</vt:lpstr>
      <vt:lpstr>Regularization Techniques</vt:lpstr>
      <vt:lpstr>Synthetic Data and GT Interactions</vt:lpstr>
      <vt:lpstr>2 Methodology</vt:lpstr>
      <vt:lpstr>Function 1</vt:lpstr>
      <vt:lpstr>Function 2</vt:lpstr>
      <vt:lpstr>Function 3</vt:lpstr>
      <vt:lpstr>Function 4</vt:lpstr>
      <vt:lpstr>Function 5</vt:lpstr>
      <vt:lpstr>Function 6</vt:lpstr>
      <vt:lpstr>Function 7</vt:lpstr>
      <vt:lpstr>Function 8</vt:lpstr>
      <vt:lpstr>Function 9</vt:lpstr>
      <vt:lpstr>Function 10</vt:lpstr>
      <vt:lpstr>Methods</vt:lpstr>
      <vt:lpstr>Experimental Design</vt:lpstr>
      <vt:lpstr>MLP Architecture</vt:lpstr>
      <vt:lpstr>AUROC Evaluation: Binary Classification Setup</vt:lpstr>
      <vt:lpstr>AUROC Computation: Concordant Pairs</vt:lpstr>
      <vt:lpstr>4 Experimental Results</vt:lpstr>
      <vt:lpstr>General Findings</vt:lpstr>
      <vt:lpstr>AUROC by Test Function</vt:lpstr>
      <vt:lpstr>AUROC by Noise Level</vt:lpstr>
      <vt:lpstr>AUROC by Regularization Type</vt:lpstr>
      <vt:lpstr>AUROC by Optimizer</vt:lpstr>
      <vt:lpstr>Progress So Far</vt:lpstr>
      <vt:lpstr>Plan for Thesis / 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Edouard Dewaerheijd</dc:creator>
  <cp:lastModifiedBy>Edouard Dewaerheijd</cp:lastModifiedBy>
  <cp:revision>2</cp:revision>
  <dcterms:created xsi:type="dcterms:W3CDTF">2026-05-09T11:51:28Z</dcterms:created>
  <dcterms:modified xsi:type="dcterms:W3CDTF">2026-05-12T07:27:03Z</dcterms:modified>
</cp:coreProperties>
</file>