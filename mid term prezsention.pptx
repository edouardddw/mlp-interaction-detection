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2" r:id="rId1"/>
  </p:sldMasterIdLst>
  <p:notesMasterIdLst>
    <p:notesMasterId r:id="rId29"/>
  </p:notesMasterIdLst>
  <p:sldIdLst>
    <p:sldId id="256" r:id="rId2"/>
    <p:sldId id="259" r:id="rId3"/>
    <p:sldId id="263" r:id="rId4"/>
    <p:sldId id="310" r:id="rId5"/>
    <p:sldId id="304" r:id="rId6"/>
    <p:sldId id="308" r:id="rId7"/>
    <p:sldId id="300" r:id="rId8"/>
    <p:sldId id="309" r:id="rId9"/>
    <p:sldId id="285" r:id="rId10"/>
    <p:sldId id="286" r:id="rId11"/>
    <p:sldId id="287" r:id="rId12"/>
    <p:sldId id="288" r:id="rId13"/>
    <p:sldId id="289" r:id="rId14"/>
    <p:sldId id="290" r:id="rId15"/>
    <p:sldId id="291" r:id="rId16"/>
    <p:sldId id="292" r:id="rId17"/>
    <p:sldId id="293" r:id="rId18"/>
    <p:sldId id="294" r:id="rId19"/>
    <p:sldId id="270" r:id="rId20"/>
    <p:sldId id="315" r:id="rId21"/>
    <p:sldId id="317" r:id="rId22"/>
    <p:sldId id="277" r:id="rId23"/>
    <p:sldId id="272" r:id="rId24"/>
    <p:sldId id="274" r:id="rId25"/>
    <p:sldId id="276" r:id="rId26"/>
    <p:sldId id="279" r:id="rId27"/>
    <p:sldId id="296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5642C37-1B15-FD44-8B17-41985C508828}">
          <p14:sldIdLst>
            <p14:sldId id="256"/>
          </p14:sldIdLst>
        </p14:section>
        <p14:section name="Research Question" id="{9F38D11E-E7ED-5443-9B69-C8F6CB52C917}">
          <p14:sldIdLst>
            <p14:sldId id="259"/>
            <p14:sldId id="263"/>
            <p14:sldId id="310"/>
            <p14:sldId id="304"/>
            <p14:sldId id="308"/>
            <p14:sldId id="300"/>
            <p14:sldId id="309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70"/>
            <p14:sldId id="315"/>
            <p14:sldId id="317"/>
            <p14:sldId id="277"/>
            <p14:sldId id="272"/>
            <p14:sldId id="274"/>
            <p14:sldId id="276"/>
            <p14:sldId id="279"/>
            <p14:sldId id="296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EC8413A-4622-DB46-992E-E77882824A3E}" v="68" dt="2026-05-10T14:53:35.9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58"/>
  </p:normalViewPr>
  <p:slideViewPr>
    <p:cSldViewPr snapToGrid="0">
      <p:cViewPr>
        <p:scale>
          <a:sx n="106" d="100"/>
          <a:sy n="106" d="100"/>
        </p:scale>
        <p:origin x="144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F5D202-05DD-424C-8723-09016AEE353F}" type="datetimeFigureOut">
              <a:rPr lang="en-US" smtClean="0"/>
              <a:t>5/9/26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AE8207-CD5B-074D-B85F-B7608BCB37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250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22F66-727D-4150-ADA5-49CF3A0F68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0352" y="1122363"/>
            <a:ext cx="10072922" cy="1978346"/>
          </a:xfrm>
        </p:spPr>
        <p:txBody>
          <a:bodyPr anchor="b">
            <a:normAutofit/>
          </a:bodyPr>
          <a:lstStyle>
            <a:lvl1pPr algn="l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D9A1FE-C39F-4D7C-B93D-F8C203A1D6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0352" y="3509963"/>
            <a:ext cx="10072922" cy="1747837"/>
          </a:xfrm>
        </p:spPr>
        <p:txBody>
          <a:bodyPr>
            <a:normAutofit/>
          </a:bodyPr>
          <a:lstStyle>
            <a:lvl1pPr marL="0" indent="0" algn="l">
              <a:buNone/>
              <a:defRPr sz="2000" i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008AAC-7D41-4304-8D59-EF34B232682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0352" y="136525"/>
            <a:ext cx="2743200" cy="365125"/>
          </a:xfrm>
        </p:spPr>
        <p:txBody>
          <a:bodyPr/>
          <a:lstStyle>
            <a:lvl1pPr algn="l">
              <a:defRPr/>
            </a:lvl1pPr>
          </a:lstStyle>
          <a:p>
            <a:fld id="{524C6359-9BB8-4148-8114-537E698DA205}" type="datetime1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4D078-DE22-4F23-8B48-21FB1415C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0352" y="6356350"/>
            <a:ext cx="411480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4C1F5-608B-4335-9F2A-17F63D5FA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51B01909-73B8-4486-A749-C643B1D7E3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3267690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5E279D86-4533-45F1-B0AA-D237399A5ED5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764FD722-CB31-4326-ADD8-CBA52FD1FF59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24E4BCEC-8B0A-444E-8509-1B3BB0449E5B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9DB36622-1DC7-4B17-8984-588BA8999FF6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51B97AF0-1974-42B9-B5FC-A332C52E8272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95A298AD-BE5D-4BE1-8CDF-DBFB42D63FEB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562715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7B4A7-C566-48F4-B4B8-3A5E7B6C5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3B93F5-BC8B-452C-ACE2-C7E01D1B8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9A49B3-A57D-46C5-8462-0C52509F8FC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30352" y="136525"/>
            <a:ext cx="2743200" cy="365125"/>
          </a:xfrm>
        </p:spPr>
        <p:txBody>
          <a:bodyPr/>
          <a:lstStyle/>
          <a:p>
            <a:fld id="{9376191F-481E-48E9-BB9A-369A67A7362D}" type="datetime1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C8C810-EAF4-4D86-84DD-2E574122DD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87E738-8574-490B-974B-9AD3B2AAE5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AC552FEA-472E-4E74-B31D-531852C190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2310597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41DF3078-C636-4776-A616-D5BF3BC280C9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0D1A27FA-1310-4BC3-A071-1566746B2FB1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99ACB9EB-84FE-4B33-9EF9-4EC7DAC25DD5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826E5EFB-0EF9-4DB8-99CB-5DD72009DB2C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86238E12-0689-4123-8B2E-E1CCFCC4C882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8538CF67-A00E-4955-A447-001BE02E771A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522190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9764E-4B3D-4B6A-A210-B50E4F60E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7068"/>
            <a:ext cx="10072922" cy="2313641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30AEC2-B6E6-4C09-A16F-5E2A1C9A0D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352" y="3509963"/>
            <a:ext cx="10072922" cy="2579687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A37CAB-B545-4E42-BB5A-F1DAA9335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5677DE-DD04-48CC-9C18-7BE9FF2DEB6B}" type="datetime1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6D720B-7E58-43F4-9659-ADB2403A5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95F53F-2FA5-4B5C-A151-F07BBC002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37B4CDD2-E09A-418A-9131-FBDEE440A1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3267690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8852E5FB-B268-4CCA-8E55-803038F7A00D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A1C9CBB3-97C0-4A35-9088-C69233F5CEE7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31610871-AEE9-46EB-9D27-BA1D9D688124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27478059-2A11-484D-A2D7-199F74778E50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30EC0886-DDB9-47F1-9414-C121C1D3F954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66A10427-DF20-4284-B215-EABA4D366E20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519598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473D3-0F03-4BF4-831F-34E80BAC5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C09409-59F2-486F-A6D0-FAEE8FFF25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5717" y="2521885"/>
            <a:ext cx="4645152" cy="36550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087241-B390-47A6-8070-C3D4652F88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992136" y="2521885"/>
            <a:ext cx="4611138" cy="36550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80B360-2ACA-4B93-9439-591B6D3FB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3255ED-7101-4D18-A8AE-3B5E4CB87EA5}" type="datetime1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4A73E2-CF78-404C-A86F-E70A284AE9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A8F42A-11E1-42A0-8ECF-A5BBA3B8C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8" name="Graphic 78">
            <a:extLst>
              <a:ext uri="{FF2B5EF4-FFF2-40B4-BE49-F238E27FC236}">
                <a16:creationId xmlns:a16="http://schemas.microsoft.com/office/drawing/2014/main" id="{0CB61A83-9419-49FC-8074-2AB3D34FA8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2319637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9" name="Graphic 78">
              <a:extLst>
                <a:ext uri="{FF2B5EF4-FFF2-40B4-BE49-F238E27FC236}">
                  <a16:creationId xmlns:a16="http://schemas.microsoft.com/office/drawing/2014/main" id="{BCD12E57-97FB-48D8-81CC-7C37E8947CB4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aphic 78">
              <a:extLst>
                <a:ext uri="{FF2B5EF4-FFF2-40B4-BE49-F238E27FC236}">
                  <a16:creationId xmlns:a16="http://schemas.microsoft.com/office/drawing/2014/main" id="{E487641C-E83B-4134-88C9-1D23D5FA1836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B99AB7A6-A88C-44E1-A9DE-4126B957F88A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9FF0D518-1D17-44C7-BF73-7C980481DB5B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9A7A3E12-61E8-41A0-A459-15BF375FA945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Graphic 78">
                <a:extLst>
                  <a:ext uri="{FF2B5EF4-FFF2-40B4-BE49-F238E27FC236}">
                    <a16:creationId xmlns:a16="http://schemas.microsoft.com/office/drawing/2014/main" id="{9E5E4A56-9100-4D60-8A34-0FE116F41FF1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51429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BECA31-EE14-41DD-9914-DA71382204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7067"/>
            <a:ext cx="10072922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B22AB6-1657-4AE2-8607-2C77A25D79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0352" y="2521884"/>
            <a:ext cx="4845387" cy="780439"/>
          </a:xfrm>
        </p:spPr>
        <p:txBody>
          <a:bodyPr anchor="b">
            <a:normAutofit/>
          </a:bodyPr>
          <a:lstStyle>
            <a:lvl1pPr marL="0" indent="0">
              <a:buNone/>
              <a:defRPr sz="20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A6DC0-D4D5-4164-A3FD-6BB5CBB2BB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30352" y="3366390"/>
            <a:ext cx="4845387" cy="264479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9B35F8-95F3-43D1-8917-5836BAA904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34025" y="2521884"/>
            <a:ext cx="4869249" cy="780439"/>
          </a:xfrm>
        </p:spPr>
        <p:txBody>
          <a:bodyPr anchor="b">
            <a:normAutofit/>
          </a:bodyPr>
          <a:lstStyle>
            <a:lvl1pPr marL="0" indent="0">
              <a:buNone/>
              <a:defRPr sz="20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B639E7-F4A3-4ADE-B290-0A4F9761B97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34025" y="3366390"/>
            <a:ext cx="4869249" cy="264479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D6F296B-429F-4DFC-ABC3-0A078EA99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52F23D-51F6-4C94-8CD5-B9ABBF67EE23}" type="datetime1">
              <a:rPr lang="en-US" smtClean="0"/>
              <a:t>5/9/26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B7103B9-D521-4910-AC15-F12F25CB9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F73A6D9-123D-492C-B5CE-294EF2559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1216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92A22-4B4D-4F58-9783-A0469DA4D2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18" y="787068"/>
            <a:ext cx="10077556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B5EE610-5457-4E8C-B568-B8D560773B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1A702F-6367-4FD1-89A8-3744BE6BA9A2}" type="datetime1">
              <a:rPr lang="en-US" smtClean="0"/>
              <a:t>5/9/26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0BA57BB-288A-4A30-A4EC-FF0537BC2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414C89-B968-4A85-A035-E2997A5F8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6" name="Graphic 78">
            <a:extLst>
              <a:ext uri="{FF2B5EF4-FFF2-40B4-BE49-F238E27FC236}">
                <a16:creationId xmlns:a16="http://schemas.microsoft.com/office/drawing/2014/main" id="{AC45ECC6-E29C-40EF-A7C9-5A17DAFD4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2352330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7" name="Graphic 78">
              <a:extLst>
                <a:ext uri="{FF2B5EF4-FFF2-40B4-BE49-F238E27FC236}">
                  <a16:creationId xmlns:a16="http://schemas.microsoft.com/office/drawing/2014/main" id="{8DA0D497-8E8F-426A-8172-894BE03F70F6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" name="Graphic 78">
              <a:extLst>
                <a:ext uri="{FF2B5EF4-FFF2-40B4-BE49-F238E27FC236}">
                  <a16:creationId xmlns:a16="http://schemas.microsoft.com/office/drawing/2014/main" id="{8C0459EF-3B70-4083-8845-3A9AF847E805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9" name="Graphic 78">
                <a:extLst>
                  <a:ext uri="{FF2B5EF4-FFF2-40B4-BE49-F238E27FC236}">
                    <a16:creationId xmlns:a16="http://schemas.microsoft.com/office/drawing/2014/main" id="{53BF2B58-70F8-4288-85AB-CBDA723CDFCC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A569E551-A5A0-4A8F-B999-3A6D104814A2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0FB69EB5-D9AC-46E7-934E-32999C39B2E6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6EABC49A-B4ED-44E4-ADB7-E432734A7C96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8827748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B7A339C-4093-4B40-8C90-52F005CA9A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6E99BD-4B4F-4460-B452-0E8146ACCF8F}" type="datetime1">
              <a:rPr lang="en-US" smtClean="0"/>
              <a:t>5/9/26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A33F04-8E0A-4165-930C-527D781A7D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62F57B-BEB6-4973-A362-38F638E0D0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28678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AC90-C2CA-44DD-8EF8-20BDD67242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7068"/>
            <a:ext cx="4315386" cy="2223152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E915FB-D5F4-4CAD-AE70-3644E8180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5420086" cy="487362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7374DA3-3BAC-4045-825F-B3C27B897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0352" y="3429000"/>
            <a:ext cx="4315386" cy="2439988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5A0D65-0423-4E45-947A-E08C8569F1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6FD34C-1867-42A9-AC54-D15ADD8A65E7}" type="datetime1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6FBD0-E49F-4DE6-9264-CEDB9BAA0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16B246-A768-4B2D-96C6-9F4178526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8" name="Graphic 78">
            <a:extLst>
              <a:ext uri="{FF2B5EF4-FFF2-40B4-BE49-F238E27FC236}">
                <a16:creationId xmlns:a16="http://schemas.microsoft.com/office/drawing/2014/main" id="{839DB371-B90D-44CB-A4AF-C7BDBFD0A8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3193468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9" name="Graphic 78">
              <a:extLst>
                <a:ext uri="{FF2B5EF4-FFF2-40B4-BE49-F238E27FC236}">
                  <a16:creationId xmlns:a16="http://schemas.microsoft.com/office/drawing/2014/main" id="{0C845011-2FC2-40F7-B0C6-49CBBA72B9CB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aphic 78">
              <a:extLst>
                <a:ext uri="{FF2B5EF4-FFF2-40B4-BE49-F238E27FC236}">
                  <a16:creationId xmlns:a16="http://schemas.microsoft.com/office/drawing/2014/main" id="{82BC78B8-5139-436F-AD47-3CC03903FDDC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F9DC17BA-1278-45C9-B1BF-B9F1518E1F29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99637B9F-CC26-4669-81F0-A942B4F72D61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2BB8F115-0030-47B4-BAF4-C15D1EA27B11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Graphic 78">
                <a:extLst>
                  <a:ext uri="{FF2B5EF4-FFF2-40B4-BE49-F238E27FC236}">
                    <a16:creationId xmlns:a16="http://schemas.microsoft.com/office/drawing/2014/main" id="{662F9949-4F1A-4708-824B-E876E9BEDA16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931076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CB0C8-915E-4BF2-976E-B8D7EDC59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787068"/>
            <a:ext cx="3932237" cy="2223152"/>
          </a:xfrm>
        </p:spPr>
        <p:txBody>
          <a:bodyPr anchor="b">
            <a:no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10714E6-8E50-4B50-A2E0-F9D20155EB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5420086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D67A6C-5CA5-4EF0-B1C4-ED85FF255A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30352" y="3429000"/>
            <a:ext cx="3932237" cy="243998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C76474-31D4-4567-B4EC-B6AF24488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6133E9-A654-4C17-8C3C-DDCAC83D6EBF}" type="datetime1">
              <a:rPr lang="en-US" smtClean="0"/>
              <a:t>5/9/26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902DE0-33F5-4372-8EB5-F5746D344A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C5C2EF-849D-4B2C-8ED6-D26553657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8" name="Graphic 78">
            <a:extLst>
              <a:ext uri="{FF2B5EF4-FFF2-40B4-BE49-F238E27FC236}">
                <a16:creationId xmlns:a16="http://schemas.microsoft.com/office/drawing/2014/main" id="{7627CBC2-9DC2-4EE8-A2D5-849E30F22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3193468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9" name="Graphic 78">
              <a:extLst>
                <a:ext uri="{FF2B5EF4-FFF2-40B4-BE49-F238E27FC236}">
                  <a16:creationId xmlns:a16="http://schemas.microsoft.com/office/drawing/2014/main" id="{9FB4AEFC-63AB-4831-8EC1-E8145604D8D9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" name="Graphic 78">
              <a:extLst>
                <a:ext uri="{FF2B5EF4-FFF2-40B4-BE49-F238E27FC236}">
                  <a16:creationId xmlns:a16="http://schemas.microsoft.com/office/drawing/2014/main" id="{811E1337-D5DA-408D-91F3-A6A35FCDD0B9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1E473FA4-FD80-4D04-AAC5-63B9A4D80778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FCB457B9-48DE-4921-8C3F-996598075B1F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53C9DB95-9A61-4553-8D82-D2BE26FCBC6E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Graphic 78">
                <a:extLst>
                  <a:ext uri="{FF2B5EF4-FFF2-40B4-BE49-F238E27FC236}">
                    <a16:creationId xmlns:a16="http://schemas.microsoft.com/office/drawing/2014/main" id="{0EAE371F-24C9-4738-834F-FAF5A5C9ACE1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27862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9F2C5-A3FC-44EF-BA15-CEC83C83D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040D3-67DB-455C-AD79-49E185DB63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2B07A-258E-42DD-9A68-2C76F7D540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649BD0-10DB-43E7-8F22-40B3D51B8FC3}" type="datetime1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01E9BC-3BB8-40CD-9294-59A2E59E1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13979D-5589-4770-9D29-046F2B506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12EF7969-DB38-4989-A65C-9D190A2455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0225" y="2333456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2145BE25-C437-45FE-A3D3-BBAAF108CC9B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4A9D0FA0-682C-4076-B779-D865AEEFC66C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AB60163C-1A2D-4F00-BC61-8A3C11E2D2BE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3FF8D873-9CF9-4A0A-A7B8-875C0B8233D6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2B645470-F624-4417-A8A4-FC242E43C9DB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ECC7EFEF-6B2A-4210-9275-0077ACF2827B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33896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6693CD-CB65-4F37-A6DA-F300B93C14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7974374" y="787067"/>
            <a:ext cx="2628900" cy="53898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448D117-7AE6-4831-9867-5145F64A0C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5719" y="787067"/>
            <a:ext cx="7039402" cy="538989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88CF8-397F-485E-8081-AFA4DADD44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16C79C-F566-427A-93F6-434A4E613134}" type="datetime1">
              <a:rPr lang="en-US" smtClean="0"/>
              <a:t>5/9/26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E4773-4660-4F21-83CF-1A449395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B59537-EB47-40FA-893E-785D6FE00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aphic 78">
            <a:extLst>
              <a:ext uri="{FF2B5EF4-FFF2-40B4-BE49-F238E27FC236}">
                <a16:creationId xmlns:a16="http://schemas.microsoft.com/office/drawing/2014/main" id="{588F505F-2957-41FC-9AAA-962853A671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 rot="5400000">
            <a:off x="7283627" y="1250328"/>
            <a:ext cx="972241" cy="45719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8" name="Graphic 78">
              <a:extLst>
                <a:ext uri="{FF2B5EF4-FFF2-40B4-BE49-F238E27FC236}">
                  <a16:creationId xmlns:a16="http://schemas.microsoft.com/office/drawing/2014/main" id="{091A36EB-8545-4EFE-B619-165D36D644D1}"/>
                </a:ext>
              </a:extLst>
            </p:cNvPr>
            <p:cNvSpPr/>
            <p:nvPr/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aphic 78">
              <a:extLst>
                <a:ext uri="{FF2B5EF4-FFF2-40B4-BE49-F238E27FC236}">
                  <a16:creationId xmlns:a16="http://schemas.microsoft.com/office/drawing/2014/main" id="{8D075D29-6706-486B-A55A-13866882BA88}"/>
                </a:ext>
              </a:extLst>
            </p:cNvPr>
            <p:cNvGrpSpPr/>
            <p:nvPr/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0" name="Graphic 78">
                <a:extLst>
                  <a:ext uri="{FF2B5EF4-FFF2-40B4-BE49-F238E27FC236}">
                    <a16:creationId xmlns:a16="http://schemas.microsoft.com/office/drawing/2014/main" id="{3FAE751A-10F0-48F2-BBC3-D2FE499B345B}"/>
                  </a:ext>
                </a:extLst>
              </p:cNvPr>
              <p:cNvSpPr/>
              <p:nvPr/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Graphic 78">
                <a:extLst>
                  <a:ext uri="{FF2B5EF4-FFF2-40B4-BE49-F238E27FC236}">
                    <a16:creationId xmlns:a16="http://schemas.microsoft.com/office/drawing/2014/main" id="{52289CAF-683C-4BCC-8AA5-95A3BF799B0F}"/>
                  </a:ext>
                </a:extLst>
              </p:cNvPr>
              <p:cNvSpPr/>
              <p:nvPr/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Graphic 78">
                <a:extLst>
                  <a:ext uri="{FF2B5EF4-FFF2-40B4-BE49-F238E27FC236}">
                    <a16:creationId xmlns:a16="http://schemas.microsoft.com/office/drawing/2014/main" id="{3BC8403A-C46F-4DA1-A015-00A80215F289}"/>
                  </a:ext>
                </a:extLst>
              </p:cNvPr>
              <p:cNvSpPr/>
              <p:nvPr/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Graphic 78">
                <a:extLst>
                  <a:ext uri="{FF2B5EF4-FFF2-40B4-BE49-F238E27FC236}">
                    <a16:creationId xmlns:a16="http://schemas.microsoft.com/office/drawing/2014/main" id="{A797D957-3A2C-42DF-B73E-CBB47BE036B7}"/>
                  </a:ext>
                </a:extLst>
              </p:cNvPr>
              <p:cNvSpPr/>
              <p:nvPr/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752131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435959F4-53DA-47FF-BC24-1E5B75C69876}"/>
              </a:ext>
            </a:extLst>
          </p:cNvPr>
          <p:cNvSpPr/>
          <p:nvPr/>
        </p:nvSpPr>
        <p:spPr>
          <a:xfrm>
            <a:off x="9753030" y="5516668"/>
            <a:ext cx="2438970" cy="1341332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CF83E8-F6F0-41E3-B580-7412A04DDFB5}"/>
              </a:ext>
            </a:extLst>
          </p:cNvPr>
          <p:cNvGrpSpPr/>
          <p:nvPr/>
        </p:nvGrpSpPr>
        <p:grpSpPr>
          <a:xfrm>
            <a:off x="10776050" y="5204030"/>
            <a:ext cx="886141" cy="802497"/>
            <a:chOff x="10948005" y="3272152"/>
            <a:chExt cx="868640" cy="786648"/>
          </a:xfrm>
          <a:solidFill>
            <a:schemeClr val="accent1"/>
          </a:solidFill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A0B6DBB-705D-48D0-842C-F9DFA7684D19}"/>
                </a:ext>
              </a:extLst>
            </p:cNvPr>
            <p:cNvSpPr/>
            <p:nvPr/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194A764-16E1-4D0D-9357-76F80E6086C0}"/>
                </a:ext>
              </a:extLst>
            </p:cNvPr>
            <p:cNvSpPr/>
            <p:nvPr/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15B7F3F-A40D-4F24-8536-E2420B433211}"/>
                </a:ext>
              </a:extLst>
            </p:cNvPr>
            <p:cNvSpPr/>
            <p:nvPr/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4" name="Graphic 12">
              <a:extLst>
                <a:ext uri="{FF2B5EF4-FFF2-40B4-BE49-F238E27FC236}">
                  <a16:creationId xmlns:a16="http://schemas.microsoft.com/office/drawing/2014/main" id="{CEF42844-A829-4ED2-A360-63BB2A7C45EE}"/>
                </a:ext>
              </a:extLst>
            </p:cNvPr>
            <p:cNvSpPr/>
            <p:nvPr/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Graphic 15">
              <a:extLst>
                <a:ext uri="{FF2B5EF4-FFF2-40B4-BE49-F238E27FC236}">
                  <a16:creationId xmlns:a16="http://schemas.microsoft.com/office/drawing/2014/main" id="{57B23B52-A1C3-44EF-BC11-9094A0DA11AB}"/>
                </a:ext>
              </a:extLst>
            </p:cNvPr>
            <p:cNvSpPr/>
            <p:nvPr/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Graphic 15">
              <a:extLst>
                <a:ext uri="{FF2B5EF4-FFF2-40B4-BE49-F238E27FC236}">
                  <a16:creationId xmlns:a16="http://schemas.microsoft.com/office/drawing/2014/main" id="{064E08E5-DA92-4CF2-A0BF-E341800227B2}"/>
                </a:ext>
              </a:extLst>
            </p:cNvPr>
            <p:cNvSpPr/>
            <p:nvPr/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7A222560-E657-4CAE-B667-7BE9E224B244}"/>
                </a:ext>
              </a:extLst>
            </p:cNvPr>
            <p:cNvSpPr/>
            <p:nvPr/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9226104-0061-4319-8237-9C001BF85D49}"/>
              </a:ext>
            </a:extLst>
          </p:cNvPr>
          <p:cNvSpPr/>
          <p:nvPr/>
        </p:nvSpPr>
        <p:spPr>
          <a:xfrm rot="5400000">
            <a:off x="615181" y="-615181"/>
            <a:ext cx="1085312" cy="2315675"/>
          </a:xfrm>
          <a:custGeom>
            <a:avLst/>
            <a:gdLst>
              <a:gd name="connsiteX0" fmla="*/ 0 w 1085312"/>
              <a:gd name="connsiteY0" fmla="*/ 2315675 h 2315675"/>
              <a:gd name="connsiteX1" fmla="*/ 0 w 1085312"/>
              <a:gd name="connsiteY1" fmla="*/ 0 h 2315675"/>
              <a:gd name="connsiteX2" fmla="*/ 53089 w 1085312"/>
              <a:gd name="connsiteY2" fmla="*/ 4542 h 2315675"/>
              <a:gd name="connsiteX3" fmla="*/ 790077 w 1085312"/>
              <a:gd name="connsiteY3" fmla="*/ 872756 h 2315675"/>
              <a:gd name="connsiteX4" fmla="*/ 1085252 w 1085312"/>
              <a:gd name="connsiteY4" fmla="*/ 1943649 h 2315675"/>
              <a:gd name="connsiteX5" fmla="*/ 1064832 w 1085312"/>
              <a:gd name="connsiteY5" fmla="*/ 2198094 h 2315675"/>
              <a:gd name="connsiteX6" fmla="*/ 1043734 w 1085312"/>
              <a:gd name="connsiteY6" fmla="*/ 2315675 h 2315675"/>
              <a:gd name="connsiteX7" fmla="*/ 0 w 1085312"/>
              <a:gd name="connsiteY7" fmla="*/ 2315675 h 2315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5312" h="2315675">
                <a:moveTo>
                  <a:pt x="0" y="2315675"/>
                </a:moveTo>
                <a:lnTo>
                  <a:pt x="0" y="0"/>
                </a:lnTo>
                <a:lnTo>
                  <a:pt x="53089" y="4542"/>
                </a:lnTo>
                <a:cubicBezTo>
                  <a:pt x="405263" y="73503"/>
                  <a:pt x="612623" y="486635"/>
                  <a:pt x="790077" y="872756"/>
                </a:cubicBezTo>
                <a:cubicBezTo>
                  <a:pt x="937425" y="1193596"/>
                  <a:pt x="1088787" y="1533232"/>
                  <a:pt x="1085252" y="1943649"/>
                </a:cubicBezTo>
                <a:cubicBezTo>
                  <a:pt x="1084528" y="2029058"/>
                  <a:pt x="1077341" y="2113833"/>
                  <a:pt x="1064832" y="2198094"/>
                </a:cubicBezTo>
                <a:lnTo>
                  <a:pt x="1043734" y="2315675"/>
                </a:lnTo>
                <a:lnTo>
                  <a:pt x="0" y="23156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78318D-FE3E-41D7-9A8C-2065A2C46A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17" y="787068"/>
            <a:ext cx="10077557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B06718-79E7-4159-A003-F86FE7B3D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5717" y="2521885"/>
            <a:ext cx="10077557" cy="35490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F99FF-FFE2-431D-A0C8-A46C21712A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5718" y="13652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 spc="11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8769D389-4C4C-4FD7-9E6B-9F44477F0EB8}" type="datetime1">
              <a:rPr lang="en-US" smtClean="0"/>
              <a:t>5/9/26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C3547E-668D-4191-847C-7424F75496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5718" y="6356350"/>
            <a:ext cx="34506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 spc="11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BB6E6E-8527-4F63-A0C7-84CD44A2B0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55367" y="6356350"/>
            <a:ext cx="5298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none" spc="11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E1076ED0-0DB3-4879-AAE5-5C20D22C1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3132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11" r:id="rId6"/>
    <p:sldLayoutId id="2147483706" r:id="rId7"/>
    <p:sldLayoutId id="2147483707" r:id="rId8"/>
    <p:sldLayoutId id="2147483708" r:id="rId9"/>
    <p:sldLayoutId id="2147483710" r:id="rId10"/>
    <p:sldLayoutId id="2147483709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600" i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sv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doi.org/10.1038/s42003-025-08157-x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5D0B0D3-D735-4619-AA45-B57B791E17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982EA4C-E410-07D1-87A6-8D1FB6B7B8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0352" y="1122363"/>
            <a:ext cx="5340911" cy="1978346"/>
          </a:xfrm>
        </p:spPr>
        <p:txBody>
          <a:bodyPr>
            <a:normAutofit/>
          </a:bodyPr>
          <a:lstStyle/>
          <a:p>
            <a:r>
              <a:rPr lang="en-US" b="1" i="0" dirty="0">
                <a:effectLst/>
              </a:rPr>
              <a:t>Mid-Term Presentation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50B4A-17A1-DDD0-C51C-6EC7BA3C9F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0352" y="3509963"/>
            <a:ext cx="5340911" cy="924284"/>
          </a:xfrm>
        </p:spPr>
        <p:txBody>
          <a:bodyPr>
            <a:normAutofit/>
          </a:bodyPr>
          <a:lstStyle/>
          <a:p>
            <a:r>
              <a:rPr lang="en-US" b="1" i="0" dirty="0">
                <a:effectLst/>
              </a:rPr>
              <a:t>Multilayer perceptron Interaction Detection</a:t>
            </a:r>
            <a:endParaRPr lang="en-US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F7F2079-504C-499A-A644-58F4DDC764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615182" y="-615181"/>
            <a:ext cx="1085312" cy="2315675"/>
          </a:xfrm>
          <a:custGeom>
            <a:avLst/>
            <a:gdLst>
              <a:gd name="connsiteX0" fmla="*/ 0 w 1085312"/>
              <a:gd name="connsiteY0" fmla="*/ 2315675 h 2315675"/>
              <a:gd name="connsiteX1" fmla="*/ 0 w 1085312"/>
              <a:gd name="connsiteY1" fmla="*/ 0 h 2315675"/>
              <a:gd name="connsiteX2" fmla="*/ 53089 w 1085312"/>
              <a:gd name="connsiteY2" fmla="*/ 4542 h 2315675"/>
              <a:gd name="connsiteX3" fmla="*/ 790077 w 1085312"/>
              <a:gd name="connsiteY3" fmla="*/ 872756 h 2315675"/>
              <a:gd name="connsiteX4" fmla="*/ 1085252 w 1085312"/>
              <a:gd name="connsiteY4" fmla="*/ 1943649 h 2315675"/>
              <a:gd name="connsiteX5" fmla="*/ 1064832 w 1085312"/>
              <a:gd name="connsiteY5" fmla="*/ 2198094 h 2315675"/>
              <a:gd name="connsiteX6" fmla="*/ 1043734 w 1085312"/>
              <a:gd name="connsiteY6" fmla="*/ 2315675 h 2315675"/>
              <a:gd name="connsiteX7" fmla="*/ 0 w 1085312"/>
              <a:gd name="connsiteY7" fmla="*/ 2315675 h 2315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5312" h="2315675">
                <a:moveTo>
                  <a:pt x="0" y="2315675"/>
                </a:moveTo>
                <a:lnTo>
                  <a:pt x="0" y="0"/>
                </a:lnTo>
                <a:lnTo>
                  <a:pt x="53089" y="4542"/>
                </a:lnTo>
                <a:cubicBezTo>
                  <a:pt x="405263" y="73503"/>
                  <a:pt x="612623" y="486635"/>
                  <a:pt x="790077" y="872756"/>
                </a:cubicBezTo>
                <a:cubicBezTo>
                  <a:pt x="937425" y="1193596"/>
                  <a:pt x="1088787" y="1533232"/>
                  <a:pt x="1085252" y="1943649"/>
                </a:cubicBezTo>
                <a:cubicBezTo>
                  <a:pt x="1084528" y="2029058"/>
                  <a:pt x="1077341" y="2113833"/>
                  <a:pt x="1064832" y="2198094"/>
                </a:cubicBezTo>
                <a:lnTo>
                  <a:pt x="1043734" y="2315675"/>
                </a:lnTo>
                <a:lnTo>
                  <a:pt x="0" y="2315675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3" name="Graphic 78">
            <a:extLst>
              <a:ext uri="{FF2B5EF4-FFF2-40B4-BE49-F238E27FC236}">
                <a16:creationId xmlns:a16="http://schemas.microsoft.com/office/drawing/2014/main" id="{DBBA0A0D-8F6A-400A-9E49-8C008E2C7D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0225" y="3267662"/>
            <a:ext cx="972241" cy="45718"/>
            <a:chOff x="4886325" y="3371754"/>
            <a:chExt cx="2418492" cy="113728"/>
          </a:xfrm>
          <a:solidFill>
            <a:schemeClr val="accent1"/>
          </a:solidFill>
        </p:grpSpPr>
        <p:sp>
          <p:nvSpPr>
            <p:cNvPr id="14" name="Graphic 78">
              <a:extLst>
                <a:ext uri="{FF2B5EF4-FFF2-40B4-BE49-F238E27FC236}">
                  <a16:creationId xmlns:a16="http://schemas.microsoft.com/office/drawing/2014/main" id="{A5DD701E-4BC9-48E3-AF4F-013B52D63D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886325" y="3428428"/>
              <a:ext cx="2418302" cy="9525"/>
            </a:xfrm>
            <a:custGeom>
              <a:avLst/>
              <a:gdLst>
                <a:gd name="connsiteX0" fmla="*/ 0 w 2418302"/>
                <a:gd name="connsiteY0" fmla="*/ 0 h 9525"/>
                <a:gd name="connsiteX1" fmla="*/ 2418302 w 2418302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418302" h="9525">
                  <a:moveTo>
                    <a:pt x="0" y="0"/>
                  </a:moveTo>
                  <a:lnTo>
                    <a:pt x="2418302" y="0"/>
                  </a:ln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aphic 78">
              <a:extLst>
                <a:ext uri="{FF2B5EF4-FFF2-40B4-BE49-F238E27FC236}">
                  <a16:creationId xmlns:a16="http://schemas.microsoft.com/office/drawing/2014/main" id="{FB658B62-664D-4B3B-BBDA-235666290B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4886709" y="3371754"/>
              <a:ext cx="2418108" cy="113728"/>
              <a:chOff x="4886709" y="3371754"/>
              <a:chExt cx="2418108" cy="113728"/>
            </a:xfrm>
            <a:grpFill/>
          </p:grpSpPr>
          <p:sp>
            <p:nvSpPr>
              <p:cNvPr id="16" name="Graphic 78">
                <a:extLst>
                  <a:ext uri="{FF2B5EF4-FFF2-40B4-BE49-F238E27FC236}">
                    <a16:creationId xmlns:a16="http://schemas.microsoft.com/office/drawing/2014/main" id="{B11F9D25-67B1-4BDB-A290-97B93A19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95088" y="3474384"/>
                <a:ext cx="32575" cy="2906"/>
              </a:xfrm>
              <a:custGeom>
                <a:avLst/>
                <a:gdLst>
                  <a:gd name="connsiteX0" fmla="*/ 0 w 32575"/>
                  <a:gd name="connsiteY0" fmla="*/ 49 h 2906"/>
                  <a:gd name="connsiteX1" fmla="*/ 32576 w 32575"/>
                  <a:gd name="connsiteY1" fmla="*/ 2907 h 2906"/>
                  <a:gd name="connsiteX2" fmla="*/ 0 w 32575"/>
                  <a:gd name="connsiteY2" fmla="*/ 49 h 29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2575" h="2906">
                    <a:moveTo>
                      <a:pt x="0" y="49"/>
                    </a:moveTo>
                    <a:cubicBezTo>
                      <a:pt x="7430" y="2335"/>
                      <a:pt x="20384" y="2526"/>
                      <a:pt x="32576" y="2907"/>
                    </a:cubicBezTo>
                    <a:cubicBezTo>
                      <a:pt x="23146" y="716"/>
                      <a:pt x="13240" y="-236"/>
                      <a:pt x="0" y="49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Graphic 78">
                <a:extLst>
                  <a:ext uri="{FF2B5EF4-FFF2-40B4-BE49-F238E27FC236}">
                    <a16:creationId xmlns:a16="http://schemas.microsoft.com/office/drawing/2014/main" id="{B9D5C40A-1B1B-4C25-9707-E8F1CF6EEC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27758" y="3477344"/>
                <a:ext cx="380" cy="42"/>
              </a:xfrm>
              <a:custGeom>
                <a:avLst/>
                <a:gdLst>
                  <a:gd name="connsiteX0" fmla="*/ 190 w 380"/>
                  <a:gd name="connsiteY0" fmla="*/ 42 h 42"/>
                  <a:gd name="connsiteX1" fmla="*/ 381 w 380"/>
                  <a:gd name="connsiteY1" fmla="*/ 42 h 42"/>
                  <a:gd name="connsiteX2" fmla="*/ 0 w 380"/>
                  <a:gd name="connsiteY2" fmla="*/ 42 h 42"/>
                  <a:gd name="connsiteX3" fmla="*/ 190 w 380"/>
                  <a:gd name="connsiteY3" fmla="*/ 42 h 4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80" h="42">
                    <a:moveTo>
                      <a:pt x="190" y="42"/>
                    </a:moveTo>
                    <a:cubicBezTo>
                      <a:pt x="190" y="42"/>
                      <a:pt x="286" y="42"/>
                      <a:pt x="381" y="42"/>
                    </a:cubicBezTo>
                    <a:cubicBezTo>
                      <a:pt x="190" y="42"/>
                      <a:pt x="95" y="42"/>
                      <a:pt x="0" y="42"/>
                    </a:cubicBezTo>
                    <a:cubicBezTo>
                      <a:pt x="0" y="-53"/>
                      <a:pt x="95" y="42"/>
                      <a:pt x="190" y="42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Graphic 78">
                <a:extLst>
                  <a:ext uri="{FF2B5EF4-FFF2-40B4-BE49-F238E27FC236}">
                    <a16:creationId xmlns:a16="http://schemas.microsoft.com/office/drawing/2014/main" id="{2DD0C1D6-FF64-45AB-8775-83AB3C470B8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285577" y="3374517"/>
                <a:ext cx="10001" cy="190"/>
              </a:xfrm>
              <a:custGeom>
                <a:avLst/>
                <a:gdLst>
                  <a:gd name="connsiteX0" fmla="*/ 10001 w 10001"/>
                  <a:gd name="connsiteY0" fmla="*/ 0 h 190"/>
                  <a:gd name="connsiteX1" fmla="*/ 0 w 10001"/>
                  <a:gd name="connsiteY1" fmla="*/ 191 h 190"/>
                  <a:gd name="connsiteX2" fmla="*/ 10001 w 10001"/>
                  <a:gd name="connsiteY2" fmla="*/ 0 h 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0001" h="190">
                    <a:moveTo>
                      <a:pt x="10001" y="0"/>
                    </a:moveTo>
                    <a:cubicBezTo>
                      <a:pt x="6953" y="0"/>
                      <a:pt x="3524" y="95"/>
                      <a:pt x="0" y="191"/>
                    </a:cubicBezTo>
                    <a:cubicBezTo>
                      <a:pt x="3334" y="191"/>
                      <a:pt x="6763" y="191"/>
                      <a:pt x="10001" y="0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Graphic 78">
                <a:extLst>
                  <a:ext uri="{FF2B5EF4-FFF2-40B4-BE49-F238E27FC236}">
                    <a16:creationId xmlns:a16="http://schemas.microsoft.com/office/drawing/2014/main" id="{15AFBB84-8485-4329-89FC-04663D985B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886709" y="3371754"/>
                <a:ext cx="2418108" cy="113728"/>
              </a:xfrm>
              <a:custGeom>
                <a:avLst/>
                <a:gdLst>
                  <a:gd name="connsiteX0" fmla="*/ 632266 w 2418108"/>
                  <a:gd name="connsiteY0" fmla="*/ 112205 h 113728"/>
                  <a:gd name="connsiteX1" fmla="*/ 723039 w 2418108"/>
                  <a:gd name="connsiteY1" fmla="*/ 109538 h 113728"/>
                  <a:gd name="connsiteX2" fmla="*/ 735136 w 2418108"/>
                  <a:gd name="connsiteY2" fmla="*/ 111823 h 113728"/>
                  <a:gd name="connsiteX3" fmla="*/ 752471 w 2418108"/>
                  <a:gd name="connsiteY3" fmla="*/ 108680 h 113728"/>
                  <a:gd name="connsiteX4" fmla="*/ 772569 w 2418108"/>
                  <a:gd name="connsiteY4" fmla="*/ 110585 h 113728"/>
                  <a:gd name="connsiteX5" fmla="*/ 1112993 w 2418108"/>
                  <a:gd name="connsiteY5" fmla="*/ 112967 h 113728"/>
                  <a:gd name="connsiteX6" fmla="*/ 1083465 w 2418108"/>
                  <a:gd name="connsiteY6" fmla="*/ 108776 h 113728"/>
                  <a:gd name="connsiteX7" fmla="*/ 1296825 w 2418108"/>
                  <a:gd name="connsiteY7" fmla="*/ 108966 h 113728"/>
                  <a:gd name="connsiteX8" fmla="*/ 1346736 w 2418108"/>
                  <a:gd name="connsiteY8" fmla="*/ 103632 h 113728"/>
                  <a:gd name="connsiteX9" fmla="*/ 1360643 w 2418108"/>
                  <a:gd name="connsiteY9" fmla="*/ 107633 h 113728"/>
                  <a:gd name="connsiteX10" fmla="*/ 1381788 w 2418108"/>
                  <a:gd name="connsiteY10" fmla="*/ 107442 h 113728"/>
                  <a:gd name="connsiteX11" fmla="*/ 1371692 w 2418108"/>
                  <a:gd name="connsiteY11" fmla="*/ 106490 h 113728"/>
                  <a:gd name="connsiteX12" fmla="*/ 1430080 w 2418108"/>
                  <a:gd name="connsiteY12" fmla="*/ 105537 h 113728"/>
                  <a:gd name="connsiteX13" fmla="*/ 1420269 w 2418108"/>
                  <a:gd name="connsiteY13" fmla="*/ 104108 h 113728"/>
                  <a:gd name="connsiteX14" fmla="*/ 1455702 w 2418108"/>
                  <a:gd name="connsiteY14" fmla="*/ 107061 h 113728"/>
                  <a:gd name="connsiteX15" fmla="*/ 1439414 w 2418108"/>
                  <a:gd name="connsiteY15" fmla="*/ 108109 h 113728"/>
                  <a:gd name="connsiteX16" fmla="*/ 1503613 w 2418108"/>
                  <a:gd name="connsiteY16" fmla="*/ 105918 h 113728"/>
                  <a:gd name="connsiteX17" fmla="*/ 1495802 w 2418108"/>
                  <a:gd name="connsiteY17" fmla="*/ 105823 h 113728"/>
                  <a:gd name="connsiteX18" fmla="*/ 1695923 w 2418108"/>
                  <a:gd name="connsiteY18" fmla="*/ 95155 h 113728"/>
                  <a:gd name="connsiteX19" fmla="*/ 1684016 w 2418108"/>
                  <a:gd name="connsiteY19" fmla="*/ 92488 h 113728"/>
                  <a:gd name="connsiteX20" fmla="*/ 1706210 w 2418108"/>
                  <a:gd name="connsiteY20" fmla="*/ 90202 h 113728"/>
                  <a:gd name="connsiteX21" fmla="*/ 1693351 w 2418108"/>
                  <a:gd name="connsiteY21" fmla="*/ 98108 h 113728"/>
                  <a:gd name="connsiteX22" fmla="*/ 2058539 w 2418108"/>
                  <a:gd name="connsiteY22" fmla="*/ 102203 h 113728"/>
                  <a:gd name="connsiteX23" fmla="*/ 2064540 w 2418108"/>
                  <a:gd name="connsiteY23" fmla="*/ 95060 h 113728"/>
                  <a:gd name="connsiteX24" fmla="*/ 2227132 w 2418108"/>
                  <a:gd name="connsiteY24" fmla="*/ 96203 h 113728"/>
                  <a:gd name="connsiteX25" fmla="*/ 2245229 w 2418108"/>
                  <a:gd name="connsiteY25" fmla="*/ 96869 h 113728"/>
                  <a:gd name="connsiteX26" fmla="*/ 2254278 w 2418108"/>
                  <a:gd name="connsiteY26" fmla="*/ 94393 h 113728"/>
                  <a:gd name="connsiteX27" fmla="*/ 2418108 w 2418108"/>
                  <a:gd name="connsiteY27" fmla="*/ 5810 h 113728"/>
                  <a:gd name="connsiteX28" fmla="*/ 2399058 w 2418108"/>
                  <a:gd name="connsiteY28" fmla="*/ 2858 h 113728"/>
                  <a:gd name="connsiteX29" fmla="*/ 2241039 w 2418108"/>
                  <a:gd name="connsiteY29" fmla="*/ 1905 h 113728"/>
                  <a:gd name="connsiteX30" fmla="*/ 2243991 w 2418108"/>
                  <a:gd name="connsiteY30" fmla="*/ 1048 h 113728"/>
                  <a:gd name="connsiteX31" fmla="*/ 2197128 w 2418108"/>
                  <a:gd name="connsiteY31" fmla="*/ 0 h 113728"/>
                  <a:gd name="connsiteX32" fmla="*/ 1710591 w 2418108"/>
                  <a:gd name="connsiteY32" fmla="*/ 6287 h 113728"/>
                  <a:gd name="connsiteX33" fmla="*/ 1713353 w 2418108"/>
                  <a:gd name="connsiteY33" fmla="*/ 5906 h 113728"/>
                  <a:gd name="connsiteX34" fmla="*/ 1210814 w 2418108"/>
                  <a:gd name="connsiteY34" fmla="*/ 7715 h 113728"/>
                  <a:gd name="connsiteX35" fmla="*/ 684463 w 2418108"/>
                  <a:gd name="connsiteY35" fmla="*/ 13716 h 113728"/>
                  <a:gd name="connsiteX36" fmla="*/ 687511 w 2418108"/>
                  <a:gd name="connsiteY36" fmla="*/ 12859 h 113728"/>
                  <a:gd name="connsiteX37" fmla="*/ 435670 w 2418108"/>
                  <a:gd name="connsiteY37" fmla="*/ 12192 h 113728"/>
                  <a:gd name="connsiteX38" fmla="*/ 440718 w 2418108"/>
                  <a:gd name="connsiteY38" fmla="*/ 12668 h 113728"/>
                  <a:gd name="connsiteX39" fmla="*/ 386807 w 2418108"/>
                  <a:gd name="connsiteY39" fmla="*/ 9906 h 113728"/>
                  <a:gd name="connsiteX40" fmla="*/ 16856 w 2418108"/>
                  <a:gd name="connsiteY40" fmla="*/ 12192 h 113728"/>
                  <a:gd name="connsiteX41" fmla="*/ 63528 w 2418108"/>
                  <a:gd name="connsiteY41" fmla="*/ 102870 h 113728"/>
                  <a:gd name="connsiteX42" fmla="*/ 42668 w 2418108"/>
                  <a:gd name="connsiteY42" fmla="*/ 102584 h 113728"/>
                  <a:gd name="connsiteX43" fmla="*/ 41430 w 2418108"/>
                  <a:gd name="connsiteY43" fmla="*/ 105537 h 113728"/>
                  <a:gd name="connsiteX44" fmla="*/ 54575 w 2418108"/>
                  <a:gd name="connsiteY44" fmla="*/ 105347 h 113728"/>
                  <a:gd name="connsiteX45" fmla="*/ 388140 w 2418108"/>
                  <a:gd name="connsiteY45" fmla="*/ 112109 h 113728"/>
                  <a:gd name="connsiteX46" fmla="*/ 482152 w 2418108"/>
                  <a:gd name="connsiteY46" fmla="*/ 113729 h 113728"/>
                  <a:gd name="connsiteX47" fmla="*/ 632266 w 2418108"/>
                  <a:gd name="connsiteY47" fmla="*/ 112205 h 113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2418108" h="113728">
                    <a:moveTo>
                      <a:pt x="632266" y="112205"/>
                    </a:moveTo>
                    <a:cubicBezTo>
                      <a:pt x="656364" y="104680"/>
                      <a:pt x="694940" y="114110"/>
                      <a:pt x="723039" y="109538"/>
                    </a:cubicBezTo>
                    <a:cubicBezTo>
                      <a:pt x="722849" y="109919"/>
                      <a:pt x="735898" y="110109"/>
                      <a:pt x="735136" y="111823"/>
                    </a:cubicBezTo>
                    <a:cubicBezTo>
                      <a:pt x="735041" y="108776"/>
                      <a:pt x="767616" y="112300"/>
                      <a:pt x="752471" y="108680"/>
                    </a:cubicBezTo>
                    <a:cubicBezTo>
                      <a:pt x="754757" y="107633"/>
                      <a:pt x="790571" y="107633"/>
                      <a:pt x="772569" y="110585"/>
                    </a:cubicBezTo>
                    <a:cubicBezTo>
                      <a:pt x="822099" y="111633"/>
                      <a:pt x="1059653" y="114395"/>
                      <a:pt x="1112993" y="112967"/>
                    </a:cubicBezTo>
                    <a:cubicBezTo>
                      <a:pt x="1106135" y="110776"/>
                      <a:pt x="1089656" y="112205"/>
                      <a:pt x="1083465" y="108776"/>
                    </a:cubicBezTo>
                    <a:cubicBezTo>
                      <a:pt x="1153950" y="111728"/>
                      <a:pt x="1230626" y="113157"/>
                      <a:pt x="1296825" y="108966"/>
                    </a:cubicBezTo>
                    <a:cubicBezTo>
                      <a:pt x="1277680" y="103251"/>
                      <a:pt x="1356071" y="110966"/>
                      <a:pt x="1346736" y="103632"/>
                    </a:cubicBezTo>
                    <a:cubicBezTo>
                      <a:pt x="1351213" y="105347"/>
                      <a:pt x="1374454" y="106109"/>
                      <a:pt x="1360643" y="107633"/>
                    </a:cubicBezTo>
                    <a:cubicBezTo>
                      <a:pt x="1368548" y="107728"/>
                      <a:pt x="1376168" y="108299"/>
                      <a:pt x="1381788" y="107442"/>
                    </a:cubicBezTo>
                    <a:lnTo>
                      <a:pt x="1371692" y="106490"/>
                    </a:lnTo>
                    <a:cubicBezTo>
                      <a:pt x="1398266" y="106013"/>
                      <a:pt x="1412744" y="108680"/>
                      <a:pt x="1430080" y="105537"/>
                    </a:cubicBezTo>
                    <a:lnTo>
                      <a:pt x="1420269" y="104108"/>
                    </a:lnTo>
                    <a:cubicBezTo>
                      <a:pt x="1436176" y="103918"/>
                      <a:pt x="1449416" y="103632"/>
                      <a:pt x="1455702" y="107061"/>
                    </a:cubicBezTo>
                    <a:lnTo>
                      <a:pt x="1439414" y="108109"/>
                    </a:lnTo>
                    <a:cubicBezTo>
                      <a:pt x="1465799" y="108014"/>
                      <a:pt x="1481610" y="107823"/>
                      <a:pt x="1503613" y="105918"/>
                    </a:cubicBezTo>
                    <a:lnTo>
                      <a:pt x="1495802" y="105823"/>
                    </a:lnTo>
                    <a:cubicBezTo>
                      <a:pt x="1523806" y="102394"/>
                      <a:pt x="1670110" y="99441"/>
                      <a:pt x="1695923" y="95155"/>
                    </a:cubicBezTo>
                    <a:lnTo>
                      <a:pt x="1684016" y="92488"/>
                    </a:lnTo>
                    <a:lnTo>
                      <a:pt x="1706210" y="90202"/>
                    </a:lnTo>
                    <a:cubicBezTo>
                      <a:pt x="1703543" y="90202"/>
                      <a:pt x="1695542" y="98965"/>
                      <a:pt x="1693351" y="98108"/>
                    </a:cubicBezTo>
                    <a:cubicBezTo>
                      <a:pt x="1757549" y="99441"/>
                      <a:pt x="2045109" y="91345"/>
                      <a:pt x="2058539" y="102203"/>
                    </a:cubicBezTo>
                    <a:cubicBezTo>
                      <a:pt x="2079780" y="101917"/>
                      <a:pt x="2071303" y="103918"/>
                      <a:pt x="2064540" y="95060"/>
                    </a:cubicBezTo>
                    <a:cubicBezTo>
                      <a:pt x="2086638" y="95441"/>
                      <a:pt x="2259707" y="88773"/>
                      <a:pt x="2227132" y="96203"/>
                    </a:cubicBezTo>
                    <a:cubicBezTo>
                      <a:pt x="2232371" y="96298"/>
                      <a:pt x="2240372" y="95917"/>
                      <a:pt x="2245229" y="96869"/>
                    </a:cubicBezTo>
                    <a:cubicBezTo>
                      <a:pt x="2235704" y="94583"/>
                      <a:pt x="2261708" y="95345"/>
                      <a:pt x="2254278" y="94393"/>
                    </a:cubicBezTo>
                    <a:cubicBezTo>
                      <a:pt x="2395724" y="108776"/>
                      <a:pt x="2341527" y="36576"/>
                      <a:pt x="2418108" y="5810"/>
                    </a:cubicBezTo>
                    <a:cubicBezTo>
                      <a:pt x="2398772" y="4763"/>
                      <a:pt x="2335717" y="7239"/>
                      <a:pt x="2399058" y="2858"/>
                    </a:cubicBezTo>
                    <a:cubicBezTo>
                      <a:pt x="2343527" y="-572"/>
                      <a:pt x="2296283" y="1238"/>
                      <a:pt x="2241039" y="1905"/>
                    </a:cubicBezTo>
                    <a:lnTo>
                      <a:pt x="2243991" y="1048"/>
                    </a:lnTo>
                    <a:cubicBezTo>
                      <a:pt x="2234181" y="-381"/>
                      <a:pt x="2214845" y="1524"/>
                      <a:pt x="2197128" y="0"/>
                    </a:cubicBezTo>
                    <a:cubicBezTo>
                      <a:pt x="2115880" y="6096"/>
                      <a:pt x="1816128" y="3524"/>
                      <a:pt x="1710591" y="6287"/>
                    </a:cubicBezTo>
                    <a:lnTo>
                      <a:pt x="1713353" y="5906"/>
                    </a:lnTo>
                    <a:cubicBezTo>
                      <a:pt x="1577146" y="5429"/>
                      <a:pt x="1349308" y="11240"/>
                      <a:pt x="1210814" y="7715"/>
                    </a:cubicBezTo>
                    <a:cubicBezTo>
                      <a:pt x="1095848" y="23717"/>
                      <a:pt x="819051" y="5429"/>
                      <a:pt x="684463" y="13716"/>
                    </a:cubicBezTo>
                    <a:lnTo>
                      <a:pt x="687511" y="12859"/>
                    </a:lnTo>
                    <a:cubicBezTo>
                      <a:pt x="655316" y="14192"/>
                      <a:pt x="473008" y="10954"/>
                      <a:pt x="435670" y="12192"/>
                    </a:cubicBezTo>
                    <a:lnTo>
                      <a:pt x="440718" y="12668"/>
                    </a:lnTo>
                    <a:cubicBezTo>
                      <a:pt x="408047" y="14764"/>
                      <a:pt x="412524" y="11049"/>
                      <a:pt x="386807" y="9906"/>
                    </a:cubicBezTo>
                    <a:cubicBezTo>
                      <a:pt x="275174" y="28004"/>
                      <a:pt x="142395" y="18764"/>
                      <a:pt x="16856" y="12192"/>
                    </a:cubicBezTo>
                    <a:cubicBezTo>
                      <a:pt x="-6195" y="35528"/>
                      <a:pt x="-17434" y="114395"/>
                      <a:pt x="63528" y="102870"/>
                    </a:cubicBezTo>
                    <a:cubicBezTo>
                      <a:pt x="63528" y="102870"/>
                      <a:pt x="42668" y="102584"/>
                      <a:pt x="42668" y="102584"/>
                    </a:cubicBezTo>
                    <a:cubicBezTo>
                      <a:pt x="58004" y="103156"/>
                      <a:pt x="47336" y="104299"/>
                      <a:pt x="41430" y="105537"/>
                    </a:cubicBezTo>
                    <a:cubicBezTo>
                      <a:pt x="46764" y="105537"/>
                      <a:pt x="68386" y="107442"/>
                      <a:pt x="54575" y="105347"/>
                    </a:cubicBezTo>
                    <a:cubicBezTo>
                      <a:pt x="158588" y="108109"/>
                      <a:pt x="297462" y="110109"/>
                      <a:pt x="388140" y="112109"/>
                    </a:cubicBezTo>
                    <a:cubicBezTo>
                      <a:pt x="420525" y="113348"/>
                      <a:pt x="453577" y="106680"/>
                      <a:pt x="482152" y="113729"/>
                    </a:cubicBezTo>
                    <a:cubicBezTo>
                      <a:pt x="477580" y="111919"/>
                      <a:pt x="629885" y="111728"/>
                      <a:pt x="632266" y="112205"/>
                    </a:cubicBezTo>
                    <a:close/>
                  </a:path>
                </a:pathLst>
              </a:custGeom>
              <a:grpFill/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4" name="Picture 3" descr="A white background with dots and lines&#10;&#10;AI-generated content may be incorrect.">
            <a:extLst>
              <a:ext uri="{FF2B5EF4-FFF2-40B4-BE49-F238E27FC236}">
                <a16:creationId xmlns:a16="http://schemas.microsoft.com/office/drawing/2014/main" id="{938C0835-1ECB-D8C1-5E0D-70B39943288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824" r="26783" b="2"/>
          <a:stretch>
            <a:fillRect/>
          </a:stretch>
        </p:blipFill>
        <p:spPr>
          <a:xfrm>
            <a:off x="6535696" y="10"/>
            <a:ext cx="5669280" cy="6857990"/>
          </a:xfrm>
          <a:prstGeom prst="rect">
            <a:avLst/>
          </a:prstGeom>
        </p:spPr>
      </p:pic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3D505D40-32E9-4C48-81F8-AD80433BE6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66006" y="5516668"/>
            <a:ext cx="2438970" cy="1341332"/>
          </a:xfrm>
          <a:custGeom>
            <a:avLst/>
            <a:gdLst>
              <a:gd name="connsiteX0" fmla="*/ 2025355 w 2438970"/>
              <a:gd name="connsiteY0" fmla="*/ 235 h 1341332"/>
              <a:gd name="connsiteX1" fmla="*/ 2381960 w 2438970"/>
              <a:gd name="connsiteY1" fmla="*/ 44517 h 1341332"/>
              <a:gd name="connsiteX2" fmla="*/ 2438970 w 2438970"/>
              <a:gd name="connsiteY2" fmla="*/ 58872 h 1341332"/>
              <a:gd name="connsiteX3" fmla="*/ 2438970 w 2438970"/>
              <a:gd name="connsiteY3" fmla="*/ 1341332 h 1341332"/>
              <a:gd name="connsiteX4" fmla="*/ 0 w 2438970"/>
              <a:gd name="connsiteY4" fmla="*/ 1341332 h 1341332"/>
              <a:gd name="connsiteX5" fmla="*/ 13333 w 2438970"/>
              <a:gd name="connsiteY5" fmla="*/ 1328018 h 1341332"/>
              <a:gd name="connsiteX6" fmla="*/ 936262 w 2438970"/>
              <a:gd name="connsiteY6" fmla="*/ 459947 h 1341332"/>
              <a:gd name="connsiteX7" fmla="*/ 1554028 w 2438970"/>
              <a:gd name="connsiteY7" fmla="*/ 71153 h 1341332"/>
              <a:gd name="connsiteX8" fmla="*/ 2025355 w 2438970"/>
              <a:gd name="connsiteY8" fmla="*/ 235 h 13413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38970" h="1341332">
                <a:moveTo>
                  <a:pt x="2025355" y="235"/>
                </a:moveTo>
                <a:cubicBezTo>
                  <a:pt x="2143847" y="2306"/>
                  <a:pt x="2262766" y="17993"/>
                  <a:pt x="2381960" y="44517"/>
                </a:cubicBezTo>
                <a:lnTo>
                  <a:pt x="2438970" y="58872"/>
                </a:lnTo>
                <a:lnTo>
                  <a:pt x="2438970" y="1341332"/>
                </a:lnTo>
                <a:lnTo>
                  <a:pt x="0" y="1341332"/>
                </a:lnTo>
                <a:lnTo>
                  <a:pt x="13333" y="1328018"/>
                </a:lnTo>
                <a:cubicBezTo>
                  <a:pt x="324723" y="1028950"/>
                  <a:pt x="645390" y="738459"/>
                  <a:pt x="936262" y="459947"/>
                </a:cubicBezTo>
                <a:cubicBezTo>
                  <a:pt x="1139660" y="265152"/>
                  <a:pt x="1345794" y="140817"/>
                  <a:pt x="1554028" y="71153"/>
                </a:cubicBezTo>
                <a:cubicBezTo>
                  <a:pt x="1710136" y="18918"/>
                  <a:pt x="1867365" y="-2526"/>
                  <a:pt x="2025355" y="235"/>
                </a:cubicBezTo>
                <a:close/>
              </a:path>
            </a:pathLst>
          </a:cu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507BF36-B92B-4CAC-BCA7-8364B51E1F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776050" y="5204025"/>
            <a:ext cx="886141" cy="802496"/>
            <a:chOff x="10948005" y="3272152"/>
            <a:chExt cx="868640" cy="786648"/>
          </a:xfrm>
          <a:solidFill>
            <a:schemeClr val="accent1"/>
          </a:solidFill>
        </p:grpSpPr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276237E-3A6D-452F-879C-FB8C77A18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94317" y="3944888"/>
              <a:ext cx="128449" cy="113912"/>
            </a:xfrm>
            <a:custGeom>
              <a:avLst/>
              <a:gdLst>
                <a:gd name="connsiteX0" fmla="*/ 237621 w 453152"/>
                <a:gd name="connsiteY0" fmla="*/ 965 h 401867"/>
                <a:gd name="connsiteX1" fmla="*/ 370246 w 453152"/>
                <a:gd name="connsiteY1" fmla="*/ 23666 h 401867"/>
                <a:gd name="connsiteX2" fmla="*/ 437392 w 453152"/>
                <a:gd name="connsiteY2" fmla="*/ 198545 h 401867"/>
                <a:gd name="connsiteX3" fmla="*/ 67745 w 453152"/>
                <a:gd name="connsiteY3" fmla="*/ 392003 h 401867"/>
                <a:gd name="connsiteX4" fmla="*/ 911 w 453152"/>
                <a:gd name="connsiteY4" fmla="*/ 254095 h 401867"/>
                <a:gd name="connsiteX5" fmla="*/ 115564 w 453152"/>
                <a:gd name="connsiteY5" fmla="*/ 51160 h 401867"/>
                <a:gd name="connsiteX6" fmla="*/ 237621 w 453152"/>
                <a:gd name="connsiteY6" fmla="*/ 965 h 4018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53152" h="401867">
                  <a:moveTo>
                    <a:pt x="237621" y="965"/>
                  </a:moveTo>
                  <a:cubicBezTo>
                    <a:pt x="283632" y="-2971"/>
                    <a:pt x="331405" y="5243"/>
                    <a:pt x="370246" y="23666"/>
                  </a:cubicBezTo>
                  <a:cubicBezTo>
                    <a:pt x="436830" y="55275"/>
                    <a:pt x="477168" y="116810"/>
                    <a:pt x="437392" y="198545"/>
                  </a:cubicBezTo>
                  <a:cubicBezTo>
                    <a:pt x="391568" y="292624"/>
                    <a:pt x="176850" y="441630"/>
                    <a:pt x="67745" y="392003"/>
                  </a:cubicBezTo>
                  <a:cubicBezTo>
                    <a:pt x="18056" y="369372"/>
                    <a:pt x="-5012" y="308398"/>
                    <a:pt x="911" y="254095"/>
                  </a:cubicBezTo>
                  <a:cubicBezTo>
                    <a:pt x="9203" y="178033"/>
                    <a:pt x="61012" y="103094"/>
                    <a:pt x="115564" y="51160"/>
                  </a:cubicBezTo>
                  <a:cubicBezTo>
                    <a:pt x="147361" y="20985"/>
                    <a:pt x="191610" y="4900"/>
                    <a:pt x="237621" y="965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38BC9243-F4BF-48A7-89AE-DFA5B37DE6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53045" y="3808430"/>
              <a:ext cx="144912" cy="193414"/>
            </a:xfrm>
            <a:custGeom>
              <a:avLst/>
              <a:gdLst>
                <a:gd name="connsiteX0" fmla="*/ 390625 w 511232"/>
                <a:gd name="connsiteY0" fmla="*/ 1621 h 682341"/>
                <a:gd name="connsiteX1" fmla="*/ 508142 w 511232"/>
                <a:gd name="connsiteY1" fmla="*/ 64038 h 682341"/>
                <a:gd name="connsiteX2" fmla="*/ 508453 w 511232"/>
                <a:gd name="connsiteY2" fmla="*/ 121832 h 682341"/>
                <a:gd name="connsiteX3" fmla="*/ 316492 w 511232"/>
                <a:gd name="connsiteY3" fmla="*/ 567602 h 682341"/>
                <a:gd name="connsiteX4" fmla="*/ 80265 w 511232"/>
                <a:gd name="connsiteY4" fmla="*/ 640359 h 682341"/>
                <a:gd name="connsiteX5" fmla="*/ 13306 w 511232"/>
                <a:gd name="connsiteY5" fmla="*/ 274828 h 682341"/>
                <a:gd name="connsiteX6" fmla="*/ 140989 w 511232"/>
                <a:gd name="connsiteY6" fmla="*/ 107181 h 682341"/>
                <a:gd name="connsiteX7" fmla="*/ 390625 w 511232"/>
                <a:gd name="connsiteY7" fmla="*/ 1621 h 682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11232" h="682341">
                  <a:moveTo>
                    <a:pt x="390625" y="1621"/>
                  </a:moveTo>
                  <a:cubicBezTo>
                    <a:pt x="446543" y="-5212"/>
                    <a:pt x="493343" y="8441"/>
                    <a:pt x="508142" y="64038"/>
                  </a:cubicBezTo>
                  <a:cubicBezTo>
                    <a:pt x="513192" y="82866"/>
                    <a:pt x="511134" y="102754"/>
                    <a:pt x="508453" y="121832"/>
                  </a:cubicBezTo>
                  <a:cubicBezTo>
                    <a:pt x="485324" y="287796"/>
                    <a:pt x="417242" y="443971"/>
                    <a:pt x="316492" y="567602"/>
                  </a:cubicBezTo>
                  <a:cubicBezTo>
                    <a:pt x="253024" y="645534"/>
                    <a:pt x="165055" y="737743"/>
                    <a:pt x="80265" y="640359"/>
                  </a:cubicBezTo>
                  <a:cubicBezTo>
                    <a:pt x="5014" y="553948"/>
                    <a:pt x="-17368" y="383621"/>
                    <a:pt x="13306" y="274828"/>
                  </a:cubicBezTo>
                  <a:cubicBezTo>
                    <a:pt x="33443" y="203318"/>
                    <a:pt x="83382" y="146521"/>
                    <a:pt x="140989" y="107181"/>
                  </a:cubicBezTo>
                  <a:cubicBezTo>
                    <a:pt x="178904" y="81308"/>
                    <a:pt x="297428" y="13010"/>
                    <a:pt x="390625" y="162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5DE414EC-F3DF-412E-9B22-5328DAA99C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84524" y="3907536"/>
              <a:ext cx="132121" cy="93006"/>
            </a:xfrm>
            <a:custGeom>
              <a:avLst/>
              <a:gdLst>
                <a:gd name="connsiteX0" fmla="*/ 252822 w 466107"/>
                <a:gd name="connsiteY0" fmla="*/ 1539 h 328114"/>
                <a:gd name="connsiteX1" fmla="*/ 451641 w 466107"/>
                <a:gd name="connsiteY1" fmla="*/ 122177 h 328114"/>
                <a:gd name="connsiteX2" fmla="*/ 391790 w 466107"/>
                <a:gd name="connsiteY2" fmla="*/ 297430 h 328114"/>
                <a:gd name="connsiteX3" fmla="*/ 8614 w 466107"/>
                <a:gd name="connsiteY3" fmla="*/ 243252 h 328114"/>
                <a:gd name="connsiteX4" fmla="*/ 45897 w 466107"/>
                <a:gd name="connsiteY4" fmla="*/ 97302 h 328114"/>
                <a:gd name="connsiteX5" fmla="*/ 252822 w 466107"/>
                <a:gd name="connsiteY5" fmla="*/ 1539 h 328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66107" h="328114">
                  <a:moveTo>
                    <a:pt x="252822" y="1539"/>
                  </a:moveTo>
                  <a:cubicBezTo>
                    <a:pt x="335429" y="-10494"/>
                    <a:pt x="418848" y="49794"/>
                    <a:pt x="451641" y="122177"/>
                  </a:cubicBezTo>
                  <a:cubicBezTo>
                    <a:pt x="479697" y="184273"/>
                    <a:pt x="470594" y="255285"/>
                    <a:pt x="391790" y="297430"/>
                  </a:cubicBezTo>
                  <a:cubicBezTo>
                    <a:pt x="301077" y="345935"/>
                    <a:pt x="55935" y="343254"/>
                    <a:pt x="8614" y="243252"/>
                  </a:cubicBezTo>
                  <a:cubicBezTo>
                    <a:pt x="-12895" y="197678"/>
                    <a:pt x="8240" y="136766"/>
                    <a:pt x="45897" y="97302"/>
                  </a:cubicBezTo>
                  <a:cubicBezTo>
                    <a:pt x="98704" y="42064"/>
                    <a:pt x="181872" y="11950"/>
                    <a:pt x="252822" y="1539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 Light"/>
                <a:ea typeface="+mn-ea"/>
                <a:cs typeface="+mn-cs"/>
              </a:endParaRPr>
            </a:p>
          </p:txBody>
        </p:sp>
        <p:sp>
          <p:nvSpPr>
            <p:cNvPr id="27" name="Graphic 12">
              <a:extLst>
                <a:ext uri="{FF2B5EF4-FFF2-40B4-BE49-F238E27FC236}">
                  <a16:creationId xmlns:a16="http://schemas.microsoft.com/office/drawing/2014/main" id="{039C06B1-FDEA-47B1-8222-7D622CD72F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142141" y="3272152"/>
              <a:ext cx="180625" cy="158824"/>
            </a:xfrm>
            <a:custGeom>
              <a:avLst/>
              <a:gdLst>
                <a:gd name="connsiteX0" fmla="*/ 63289 w 3341477"/>
                <a:gd name="connsiteY0" fmla="*/ 1933384 h 2938167"/>
                <a:gd name="connsiteX1" fmla="*/ 263314 w 3341477"/>
                <a:gd name="connsiteY1" fmla="*/ 514159 h 2938167"/>
                <a:gd name="connsiteX2" fmla="*/ 1098276 w 3341477"/>
                <a:gd name="connsiteY2" fmla="*/ 952 h 2938167"/>
                <a:gd name="connsiteX3" fmla="*/ 2654089 w 3341477"/>
                <a:gd name="connsiteY3" fmla="*/ 371284 h 2938167"/>
                <a:gd name="connsiteX4" fmla="*/ 3219398 w 3341477"/>
                <a:gd name="connsiteY4" fmla="*/ 2080926 h 2938167"/>
                <a:gd name="connsiteX5" fmla="*/ 2044489 w 3341477"/>
                <a:gd name="connsiteY5" fmla="*/ 2933509 h 2938167"/>
                <a:gd name="connsiteX6" fmla="*/ 453814 w 3341477"/>
                <a:gd name="connsiteY6" fmla="*/ 2495359 h 2938167"/>
                <a:gd name="connsiteX7" fmla="*/ 63289 w 3341477"/>
                <a:gd name="connsiteY7" fmla="*/ 1933384 h 2938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341477" h="2938167">
                  <a:moveTo>
                    <a:pt x="63289" y="1933384"/>
                  </a:moveTo>
                  <a:cubicBezTo>
                    <a:pt x="56717" y="1895856"/>
                    <a:pt x="-165311" y="914209"/>
                    <a:pt x="263314" y="514159"/>
                  </a:cubicBezTo>
                  <a:cubicBezTo>
                    <a:pt x="691939" y="114109"/>
                    <a:pt x="609262" y="11620"/>
                    <a:pt x="1098276" y="952"/>
                  </a:cubicBezTo>
                  <a:cubicBezTo>
                    <a:pt x="1587289" y="-9716"/>
                    <a:pt x="2320714" y="66484"/>
                    <a:pt x="2654089" y="371284"/>
                  </a:cubicBezTo>
                  <a:cubicBezTo>
                    <a:pt x="2987464" y="676084"/>
                    <a:pt x="3603732" y="1514094"/>
                    <a:pt x="3219398" y="2080926"/>
                  </a:cubicBezTo>
                  <a:cubicBezTo>
                    <a:pt x="2835064" y="2647759"/>
                    <a:pt x="2558839" y="2895409"/>
                    <a:pt x="2044489" y="2933509"/>
                  </a:cubicBezTo>
                  <a:cubicBezTo>
                    <a:pt x="1530139" y="2971609"/>
                    <a:pt x="701464" y="2771584"/>
                    <a:pt x="453814" y="2495359"/>
                  </a:cubicBezTo>
                  <a:cubicBezTo>
                    <a:pt x="206164" y="2219134"/>
                    <a:pt x="101389" y="2152459"/>
                    <a:pt x="63289" y="19333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Graphic 15">
              <a:extLst>
                <a:ext uri="{FF2B5EF4-FFF2-40B4-BE49-F238E27FC236}">
                  <a16:creationId xmlns:a16="http://schemas.microsoft.com/office/drawing/2014/main" id="{B834C8C1-9BD1-4635-8E5B-65815F901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602136" y="3379098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Graphic 15">
              <a:extLst>
                <a:ext uri="{FF2B5EF4-FFF2-40B4-BE49-F238E27FC236}">
                  <a16:creationId xmlns:a16="http://schemas.microsoft.com/office/drawing/2014/main" id="{2963D456-B3F4-4EDC-827E-645741F64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8005" y="3504095"/>
              <a:ext cx="82388" cy="75292"/>
            </a:xfrm>
            <a:custGeom>
              <a:avLst/>
              <a:gdLst>
                <a:gd name="connsiteX0" fmla="*/ 17664 w 5240764"/>
                <a:gd name="connsiteY0" fmla="*/ 2947947 h 4789394"/>
                <a:gd name="connsiteX1" fmla="*/ 903489 w 5240764"/>
                <a:gd name="connsiteY1" fmla="*/ 195222 h 4789394"/>
                <a:gd name="connsiteX2" fmla="*/ 3560964 w 5240764"/>
                <a:gd name="connsiteY2" fmla="*/ 357147 h 4789394"/>
                <a:gd name="connsiteX3" fmla="*/ 5240602 w 5240764"/>
                <a:gd name="connsiteY3" fmla="*/ 2076409 h 4789394"/>
                <a:gd name="connsiteX4" fmla="*/ 4568328 w 5240764"/>
                <a:gd name="connsiteY4" fmla="*/ 3879397 h 4789394"/>
                <a:gd name="connsiteX5" fmla="*/ 3284739 w 5240764"/>
                <a:gd name="connsiteY5" fmla="*/ 4605297 h 4789394"/>
                <a:gd name="connsiteX6" fmla="*/ 1074939 w 5240764"/>
                <a:gd name="connsiteY6" fmla="*/ 4357647 h 4789394"/>
                <a:gd name="connsiteX7" fmla="*/ 15187 w 5240764"/>
                <a:gd name="connsiteY7" fmla="*/ 2830313 h 4789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40764" h="4789394">
                  <a:moveTo>
                    <a:pt x="17664" y="2947947"/>
                  </a:moveTo>
                  <a:cubicBezTo>
                    <a:pt x="17664" y="2900322"/>
                    <a:pt x="-201411" y="490497"/>
                    <a:pt x="903489" y="195222"/>
                  </a:cubicBezTo>
                  <a:cubicBezTo>
                    <a:pt x="2008389" y="-100053"/>
                    <a:pt x="2598939" y="-71478"/>
                    <a:pt x="3560964" y="357147"/>
                  </a:cubicBezTo>
                  <a:cubicBezTo>
                    <a:pt x="4522989" y="785772"/>
                    <a:pt x="5253271" y="1338222"/>
                    <a:pt x="5240602" y="2076409"/>
                  </a:cubicBezTo>
                  <a:cubicBezTo>
                    <a:pt x="5227934" y="2814597"/>
                    <a:pt x="4842267" y="3677276"/>
                    <a:pt x="4568328" y="3879397"/>
                  </a:cubicBezTo>
                  <a:cubicBezTo>
                    <a:pt x="4294389" y="4081422"/>
                    <a:pt x="4065789" y="4548147"/>
                    <a:pt x="3284739" y="4605297"/>
                  </a:cubicBezTo>
                  <a:cubicBezTo>
                    <a:pt x="2503689" y="4662447"/>
                    <a:pt x="1579764" y="5110122"/>
                    <a:pt x="1074939" y="4357647"/>
                  </a:cubicBezTo>
                  <a:cubicBezTo>
                    <a:pt x="570114" y="3605172"/>
                    <a:pt x="12615" y="3617554"/>
                    <a:pt x="15187" y="2830313"/>
                  </a:cubicBezTo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73A58845-EFFB-4806-BC6D-47418C1555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343727" y="3666564"/>
              <a:ext cx="173527" cy="138496"/>
            </a:xfrm>
            <a:custGeom>
              <a:avLst/>
              <a:gdLst>
                <a:gd name="connsiteX0" fmla="*/ 237392 w 789043"/>
                <a:gd name="connsiteY0" fmla="*/ 81 h 629754"/>
                <a:gd name="connsiteX1" fmla="*/ 758692 w 789043"/>
                <a:gd name="connsiteY1" fmla="*/ 233550 h 629754"/>
                <a:gd name="connsiteX2" fmla="*/ 650647 w 789043"/>
                <a:gd name="connsiteY2" fmla="*/ 335111 h 629754"/>
                <a:gd name="connsiteX3" fmla="*/ 315041 w 789043"/>
                <a:gd name="connsiteY3" fmla="*/ 584992 h 629754"/>
                <a:gd name="connsiteX4" fmla="*/ 192159 w 789043"/>
                <a:gd name="connsiteY4" fmla="*/ 625953 h 629754"/>
                <a:gd name="connsiteX5" fmla="*/ 124264 w 789043"/>
                <a:gd name="connsiteY5" fmla="*/ 552260 h 629754"/>
                <a:gd name="connsiteX6" fmla="*/ 1631 w 789043"/>
                <a:gd name="connsiteY6" fmla="*/ 133735 h 629754"/>
                <a:gd name="connsiteX7" fmla="*/ 35422 w 789043"/>
                <a:gd name="connsiteY7" fmla="*/ 14157 h 629754"/>
                <a:gd name="connsiteX8" fmla="*/ 113728 w 789043"/>
                <a:gd name="connsiteY8" fmla="*/ 378 h 629754"/>
                <a:gd name="connsiteX9" fmla="*/ 237392 w 789043"/>
                <a:gd name="connsiteY9" fmla="*/ 81 h 6297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89043" h="629754">
                  <a:moveTo>
                    <a:pt x="237392" y="81"/>
                  </a:moveTo>
                  <a:cubicBezTo>
                    <a:pt x="474795" y="-992"/>
                    <a:pt x="907215" y="10463"/>
                    <a:pt x="758692" y="233550"/>
                  </a:cubicBezTo>
                  <a:cubicBezTo>
                    <a:pt x="731135" y="274948"/>
                    <a:pt x="690486" y="305435"/>
                    <a:pt x="650647" y="335111"/>
                  </a:cubicBezTo>
                  <a:cubicBezTo>
                    <a:pt x="538737" y="418405"/>
                    <a:pt x="426889" y="501698"/>
                    <a:pt x="315041" y="584992"/>
                  </a:cubicBezTo>
                  <a:cubicBezTo>
                    <a:pt x="278943" y="611863"/>
                    <a:pt x="234865" y="640167"/>
                    <a:pt x="192159" y="625953"/>
                  </a:cubicBezTo>
                  <a:cubicBezTo>
                    <a:pt x="159614" y="615105"/>
                    <a:pt x="139851" y="582810"/>
                    <a:pt x="124264" y="552260"/>
                  </a:cubicBezTo>
                  <a:cubicBezTo>
                    <a:pt x="57742" y="422021"/>
                    <a:pt x="15908" y="279250"/>
                    <a:pt x="1631" y="133735"/>
                  </a:cubicBezTo>
                  <a:cubicBezTo>
                    <a:pt x="-2671" y="90343"/>
                    <a:pt x="-676" y="38596"/>
                    <a:pt x="35422" y="14157"/>
                  </a:cubicBezTo>
                  <a:cubicBezTo>
                    <a:pt x="57804" y="-931"/>
                    <a:pt x="86795" y="-557"/>
                    <a:pt x="113728" y="378"/>
                  </a:cubicBezTo>
                  <a:cubicBezTo>
                    <a:pt x="138207" y="1243"/>
                    <a:pt x="182606" y="328"/>
                    <a:pt x="237392" y="81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E1876ED2-534D-99CC-3A45-AFCD9B44DD17}"/>
              </a:ext>
            </a:extLst>
          </p:cNvPr>
          <p:cNvSpPr txBox="1"/>
          <p:nvPr/>
        </p:nvSpPr>
        <p:spPr>
          <a:xfrm>
            <a:off x="3080585" y="5947090"/>
            <a:ext cx="33568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Edouard </a:t>
            </a:r>
            <a:r>
              <a:rPr lang="en-US" dirty="0" err="1"/>
              <a:t>Dewaerheijd</a:t>
            </a:r>
            <a:r>
              <a:rPr lang="en-US" dirty="0"/>
              <a:t> i6341571</a:t>
            </a:r>
          </a:p>
        </p:txBody>
      </p:sp>
    </p:spTree>
    <p:extLst>
      <p:ext uri="{BB962C8B-B14F-4D97-AF65-F5344CB8AC3E}">
        <p14:creationId xmlns:p14="http://schemas.microsoft.com/office/powerpoint/2010/main" val="218549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770EE-56B5-F5A5-6BCA-DF7D91CC81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 Research Question</a:t>
            </a:r>
          </a:p>
        </p:txBody>
      </p:sp>
    </p:spTree>
    <p:extLst>
      <p:ext uri="{BB962C8B-B14F-4D97-AF65-F5344CB8AC3E}">
        <p14:creationId xmlns:p14="http://schemas.microsoft.com/office/powerpoint/2010/main" val="3945934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FE53BA-4F6C-035F-DD55-A10598A4EC4F}"/>
              </a:ext>
            </a:extLst>
          </p:cNvPr>
          <p:cNvSpPr txBox="1"/>
          <p:nvPr/>
        </p:nvSpPr>
        <p:spPr>
          <a:xfrm>
            <a:off x="1082841" y="1270000"/>
            <a:ext cx="10900611" cy="50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rtl="0">
              <a:buNone/>
            </a:pPr>
            <a:r>
              <a:rPr lang="en-US" sz="2000" b="1" i="0" dirty="0">
                <a:solidFill>
                  <a:srgbClr val="D45E5E"/>
                </a:solidFill>
                <a:effectLst/>
                <a:latin typeface="Georgia Pro Semibold"/>
              </a:rPr>
              <a:t>Research Question</a:t>
            </a:r>
          </a:p>
          <a:p>
            <a:pPr rtl="0">
              <a:buNone/>
            </a:pPr>
            <a:r>
              <a:rPr lang="en-US" sz="1600" b="0" i="1" dirty="0">
                <a:solidFill>
                  <a:srgbClr val="463443"/>
                </a:solidFill>
                <a:latin typeface="Avenir Next LT Pro"/>
              </a:rPr>
              <a:t>How do regularization techniques and input noise influence the trajectory and stability of interaction recovery in MLPs during training, as measured against ground truth feature interactions?</a:t>
            </a:r>
          </a:p>
          <a:p>
            <a:pPr rtl="0">
              <a:buNone/>
            </a:pPr>
            <a:r>
              <a:rPr lang="en-US" sz="2000" b="1" dirty="0">
                <a:solidFill>
                  <a:srgbClr val="D45E5E"/>
                </a:solidFill>
                <a:latin typeface="Georgia Pro Semibold"/>
              </a:rPr>
              <a:t>Motivation</a:t>
            </a:r>
          </a:p>
          <a:p>
            <a:pPr marL="228600" indent="-228600" rtl="0"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463443"/>
                </a:solidFill>
                <a:latin typeface="Avenir Next LT Pro"/>
              </a:rPr>
              <a:t>[Why understanding interaction recovery matters for interpretable ML]</a:t>
            </a:r>
          </a:p>
          <a:p>
            <a:pPr marL="228600" indent="-228600" rtl="0"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463443"/>
                </a:solidFill>
                <a:latin typeface="Avenir Next LT Pro"/>
              </a:rPr>
              <a:t>[Practical gap: regularization effects on interaction detection are under-studied]</a:t>
            </a:r>
          </a:p>
          <a:p>
            <a:pPr marL="228600" indent="-228600" rtl="0">
              <a:spcBef>
                <a:spcPts val="300"/>
              </a:spcBef>
              <a:buFont typeface="Arial"/>
              <a:buChar char="•"/>
            </a:pPr>
            <a:r>
              <a:rPr lang="en-US" sz="1400" dirty="0">
                <a:solidFill>
                  <a:srgbClr val="463443"/>
                </a:solidFill>
                <a:latin typeface="Avenir Next LT Pro"/>
              </a:rPr>
              <a:t>[Relevance to model selection and hyperparameter tuning in practice]</a:t>
            </a:r>
          </a:p>
        </p:txBody>
      </p:sp>
    </p:spTree>
    <p:extLst>
      <p:ext uri="{BB962C8B-B14F-4D97-AF65-F5344CB8AC3E}">
        <p14:creationId xmlns:p14="http://schemas.microsoft.com/office/powerpoint/2010/main" val="4144153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DC6CC-8701-96B4-8AB0-6AAAD64EFA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Previous </a:t>
            </a:r>
            <a:r>
              <a:rPr lang="en-US" dirty="0" err="1"/>
              <a:t>Reasearch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55587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7C9E10-61AA-6223-4A7C-9CFC89D7A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interaction Detection</a:t>
            </a:r>
          </a:p>
        </p:txBody>
      </p:sp>
      <p:sp>
        <p:nvSpPr>
          <p:cNvPr id="60" name="Subtitle"/>
          <p:cNvSpPr txBox="1"/>
          <p:nvPr/>
        </p:nvSpPr>
        <p:spPr>
          <a:xfrm>
            <a:off x="825500" y="1968500"/>
            <a:ext cx="9525000" cy="3556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200" i="1" dirty="0">
                <a:solidFill>
                  <a:srgbClr val="8F6B8A"/>
                </a:solidFill>
                <a:latin typeface="Avenir Next LT Pro"/>
              </a:rPr>
              <a:t>NID framework (Tsang et al., 2017) — Two key observations about MLPs</a:t>
            </a:r>
          </a:p>
        </p:txBody>
      </p:sp>
      <p:sp>
        <p:nvSpPr>
          <p:cNvPr id="10" name="CardBg 10"/>
          <p:cNvSpPr/>
          <p:nvPr/>
        </p:nvSpPr>
        <p:spPr>
          <a:xfrm>
            <a:off x="698500" y="2476500"/>
            <a:ext cx="5080000" cy="1841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25400" dist="12700" dir="5400000" algn="t" rotWithShape="0">
              <a:srgbClr val="000000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1" name="Header 10"/>
          <p:cNvSpPr/>
          <p:nvPr/>
        </p:nvSpPr>
        <p:spPr>
          <a:xfrm>
            <a:off x="698500" y="2476500"/>
            <a:ext cx="5080000" cy="482600"/>
          </a:xfrm>
          <a:prstGeom prst="roundRect">
            <a:avLst>
              <a:gd name="adj" fmla="val 5000"/>
            </a:avLst>
          </a:prstGeom>
          <a:solidFill>
            <a:srgbClr val="D45E5E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Georgia Pro Semibold"/>
              </a:rPr>
              <a:t>⚡ Non-linear Activation Functions</a:t>
            </a:r>
          </a:p>
        </p:txBody>
      </p:sp>
      <p:sp>
        <p:nvSpPr>
          <p:cNvPr id="12" name="Body 10"/>
          <p:cNvSpPr txBox="1"/>
          <p:nvPr/>
        </p:nvSpPr>
        <p:spPr>
          <a:xfrm>
            <a:off x="850900" y="3035300"/>
            <a:ext cx="4775200" cy="11811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Interactions arise from non-additive effects of activation functions (ReLU, Sigmoid)</a:t>
            </a:r>
          </a:p>
          <a:p>
            <a:pPr marL="171450" indent="-171450">
              <a:spcBef>
                <a:spcPts val="15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Single features processed linearly cannot create interactions</a:t>
            </a:r>
          </a:p>
          <a:p>
            <a:pPr marL="171450" indent="-171450">
              <a:spcBef>
                <a:spcPts val="15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Non-linearity is the source of feature coupling</a:t>
            </a:r>
          </a:p>
        </p:txBody>
      </p:sp>
      <p:sp>
        <p:nvSpPr>
          <p:cNvPr id="20" name="CardBg 20"/>
          <p:cNvSpPr/>
          <p:nvPr/>
        </p:nvSpPr>
        <p:spPr>
          <a:xfrm>
            <a:off x="6223000" y="2476500"/>
            <a:ext cx="5080000" cy="1841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25400" dist="12700" dir="5400000" algn="t" rotWithShape="0">
              <a:srgbClr val="000000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1" name="Header 20"/>
          <p:cNvSpPr/>
          <p:nvPr/>
        </p:nvSpPr>
        <p:spPr>
          <a:xfrm>
            <a:off x="6223000" y="2476500"/>
            <a:ext cx="5080000" cy="482600"/>
          </a:xfrm>
          <a:prstGeom prst="roundRect">
            <a:avLst>
              <a:gd name="adj" fmla="val 5000"/>
            </a:avLst>
          </a:prstGeom>
          <a:solidFill>
            <a:srgbClr val="BF873A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300" b="1" dirty="0">
                <a:solidFill>
                  <a:srgbClr val="FFFFFF"/>
                </a:solidFill>
                <a:latin typeface="Georgia Pro Semibold"/>
              </a:rPr>
              <a:t>🔗 Weight Encoding</a:t>
            </a:r>
          </a:p>
        </p:txBody>
      </p:sp>
      <p:sp>
        <p:nvSpPr>
          <p:cNvPr id="22" name="Body 20"/>
          <p:cNvSpPr txBox="1"/>
          <p:nvPr/>
        </p:nvSpPr>
        <p:spPr>
          <a:xfrm>
            <a:off x="6375400" y="3035300"/>
            <a:ext cx="4775200" cy="11811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Interaction paths are encoded directly in the weight matrices</a:t>
            </a:r>
          </a:p>
          <a:p>
            <a:pPr marL="171450" indent="-171450">
              <a:spcBef>
                <a:spcPts val="15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Hidden units act as interaction detectors for connected inputs</a:t>
            </a:r>
          </a:p>
          <a:p>
            <a:pPr marL="171450" indent="-171450">
              <a:spcBef>
                <a:spcPts val="15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Weight magnitude reflects interaction strength</a:t>
            </a:r>
          </a:p>
        </p:txBody>
      </p:sp>
      <p:sp>
        <p:nvSpPr>
          <p:cNvPr id="40" name="HowBg"/>
          <p:cNvSpPr/>
          <p:nvPr/>
        </p:nvSpPr>
        <p:spPr>
          <a:xfrm>
            <a:off x="698500" y="4445000"/>
            <a:ext cx="10604500" cy="1905000"/>
          </a:xfrm>
          <a:prstGeom prst="roundRect">
            <a:avLst>
              <a:gd name="adj" fmla="val 3000"/>
            </a:avLst>
          </a:prstGeom>
          <a:solidFill>
            <a:srgbClr val="F3F0E9"/>
          </a:solidFill>
          <a:ln w="12700">
            <a:solidFill>
              <a:srgbClr val="E0DDD6"/>
            </a:solidFill>
          </a:ln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41" name="HowTitle"/>
          <p:cNvSpPr txBox="1"/>
          <p:nvPr/>
        </p:nvSpPr>
        <p:spPr>
          <a:xfrm>
            <a:off x="889000" y="4521200"/>
            <a:ext cx="2540000" cy="3048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1300" b="1" dirty="0">
                <a:solidFill>
                  <a:srgbClr val="463443"/>
                </a:solidFill>
                <a:latin typeface="Georgia Pro Semibold"/>
              </a:rPr>
              <a:t>How NID Works</a:t>
            </a:r>
          </a:p>
        </p:txBody>
      </p:sp>
      <p:sp>
        <p:nvSpPr>
          <p:cNvPr id="50" name="Step0"/>
          <p:cNvSpPr txBox="1"/>
          <p:nvPr/>
        </p:nvSpPr>
        <p:spPr>
          <a:xfrm>
            <a:off x="952500" y="4978400"/>
            <a:ext cx="3048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D45E5E"/>
            </a:solidFill>
          </a:ln>
        </p:spPr>
        <p:txBody>
          <a:bodyPr wrap="square" lIns="72000" tIns="36000" rIns="36000" bIns="36000" anchor="ctr"/>
          <a:lstStyle/>
          <a:p>
            <a:pPr>
              <a:buNone/>
            </a:pPr>
            <a:r>
              <a:rPr lang="en-US" sz="1300" b="1" dirty="0">
                <a:solidFill>
                  <a:srgbClr val="D45E5E"/>
                </a:solidFill>
                <a:latin typeface="Georgia Pro Semibold"/>
              </a:rPr>
              <a:t>1. </a:t>
            </a: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Trace high-strength weights from input features to hidden units</a:t>
            </a:r>
          </a:p>
        </p:txBody>
      </p:sp>
      <p:sp>
        <p:nvSpPr>
          <p:cNvPr id="55" name="Arrow0"/>
          <p:cNvSpPr/>
          <p:nvPr/>
        </p:nvSpPr>
        <p:spPr>
          <a:xfrm>
            <a:off x="4000500" y="5372100"/>
            <a:ext cx="228600" cy="152400"/>
          </a:xfrm>
          <a:prstGeom prst="rightArrow">
            <a:avLst/>
          </a:prstGeom>
          <a:solidFill>
            <a:srgbClr val="D49D8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1" name="Step1"/>
          <p:cNvSpPr txBox="1"/>
          <p:nvPr/>
        </p:nvSpPr>
        <p:spPr>
          <a:xfrm>
            <a:off x="4356100" y="4978400"/>
            <a:ext cx="3048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BF873A"/>
            </a:solidFill>
          </a:ln>
        </p:spPr>
        <p:txBody>
          <a:bodyPr wrap="square" lIns="72000" tIns="36000" rIns="36000" bIns="36000" anchor="ctr"/>
          <a:lstStyle/>
          <a:p>
            <a:pPr>
              <a:buNone/>
            </a:pPr>
            <a:r>
              <a:rPr lang="en-US" sz="1300" b="1" dirty="0">
                <a:solidFill>
                  <a:srgbClr val="BF873A"/>
                </a:solidFill>
                <a:latin typeface="Georgia Pro Semibold"/>
              </a:rPr>
              <a:t>2. </a:t>
            </a: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Identify features sharing strong connections to the same hidden unit</a:t>
            </a:r>
          </a:p>
        </p:txBody>
      </p:sp>
      <p:sp>
        <p:nvSpPr>
          <p:cNvPr id="56" name="Arrow1"/>
          <p:cNvSpPr/>
          <p:nvPr/>
        </p:nvSpPr>
        <p:spPr>
          <a:xfrm>
            <a:off x="7404100" y="5372100"/>
            <a:ext cx="228600" cy="152400"/>
          </a:xfrm>
          <a:prstGeom prst="rightArrow">
            <a:avLst/>
          </a:prstGeom>
          <a:solidFill>
            <a:srgbClr val="D49D8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2" name="Step2"/>
          <p:cNvSpPr txBox="1"/>
          <p:nvPr/>
        </p:nvSpPr>
        <p:spPr>
          <a:xfrm>
            <a:off x="7759700" y="4978400"/>
            <a:ext cx="3048000" cy="952500"/>
          </a:xfrm>
          <a:prstGeom prst="rect">
            <a:avLst/>
          </a:prstGeom>
          <a:solidFill>
            <a:srgbClr val="FFFFFF"/>
          </a:solidFill>
          <a:ln w="6350">
            <a:solidFill>
              <a:srgbClr val="463443"/>
            </a:solidFill>
          </a:ln>
        </p:spPr>
        <p:txBody>
          <a:bodyPr wrap="square" lIns="72000" tIns="36000" rIns="36000" bIns="36000" anchor="ctr"/>
          <a:lstStyle/>
          <a:p>
            <a:pPr>
              <a:buNone/>
            </a:pPr>
            <a:r>
              <a:rPr lang="en-US" sz="1300" b="1" dirty="0">
                <a:solidFill>
                  <a:srgbClr val="463443"/>
                </a:solidFill>
                <a:latin typeface="Georgia Pro Semibold"/>
              </a:rPr>
              <a:t>3. </a:t>
            </a: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Features with shared hidden units are flagged as interacting</a:t>
            </a:r>
          </a:p>
        </p:txBody>
      </p:sp>
      <p:pic>
        <p:nvPicPr>
          <p:cNvPr id="61" name="Graphic 61" descr="Activation function ic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97200" y="2133600"/>
            <a:ext cx="304800" cy="304800"/>
          </a:xfrm>
          <a:prstGeom prst="rect">
            <a:avLst/>
          </a:prstGeom>
        </p:spPr>
      </p:pic>
      <p:pic>
        <p:nvPicPr>
          <p:cNvPr id="62" name="Graphic 62" descr="Weight encoding icon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521700" y="2133600"/>
            <a:ext cx="304800" cy="3048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06CF89-209A-08B0-BC29-DE5517E193BC}"/>
              </a:ext>
            </a:extLst>
          </p:cNvPr>
          <p:cNvSpPr txBox="1"/>
          <p:nvPr/>
        </p:nvSpPr>
        <p:spPr>
          <a:xfrm>
            <a:off x="638342" y="6502400"/>
            <a:ext cx="6207626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Tsang et al., 2018, van </a:t>
            </a:r>
            <a:r>
              <a:rPr lang="en-US" sz="900" dirty="0" err="1"/>
              <a:t>Hilten</a:t>
            </a:r>
            <a:r>
              <a:rPr lang="en-US" sz="900" dirty="0"/>
              <a:t> et al., 2025 Liu et al., 2020</a:t>
            </a:r>
          </a:p>
          <a:p>
            <a:endParaRPr lang="en-US" dirty="0"/>
          </a:p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405332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1437D-F42F-8E9B-0FED-7DE865D83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17" y="787068"/>
            <a:ext cx="10077557" cy="762000"/>
          </a:xfrm>
        </p:spPr>
        <p:txBody>
          <a:bodyPr/>
          <a:lstStyle/>
          <a:p>
            <a:r>
              <a:rPr lang="en-US" dirty="0"/>
              <a:t>Regularization Techniques</a:t>
            </a:r>
          </a:p>
        </p:txBody>
      </p:sp>
      <p:sp>
        <p:nvSpPr>
          <p:cNvPr id="60" name="Subtitle"/>
          <p:cNvSpPr txBox="1"/>
          <p:nvPr/>
        </p:nvSpPr>
        <p:spPr>
          <a:xfrm>
            <a:off x="825500" y="1625600"/>
            <a:ext cx="95250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US" sz="1200" i="1" dirty="0">
                <a:solidFill>
                  <a:srgbClr val="8F6B8A"/>
                </a:solidFill>
                <a:latin typeface="Avenir Next LT Pro"/>
              </a:rPr>
              <a:t>How each technique shapes what the MLP learns about feature interactions</a:t>
            </a:r>
          </a:p>
        </p:txBody>
      </p:sp>
      <p:sp>
        <p:nvSpPr>
          <p:cNvPr id="10" name="CardBg10"/>
          <p:cNvSpPr/>
          <p:nvPr/>
        </p:nvSpPr>
        <p:spPr>
          <a:xfrm>
            <a:off x="635000" y="2324100"/>
            <a:ext cx="5207000" cy="2921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25400" dist="12700" dir="5400000" algn="t" rotWithShape="0">
              <a:srgbClr val="000000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11" name="Header10"/>
          <p:cNvSpPr/>
          <p:nvPr/>
        </p:nvSpPr>
        <p:spPr>
          <a:xfrm>
            <a:off x="635000" y="2324100"/>
            <a:ext cx="5207000" cy="508000"/>
          </a:xfrm>
          <a:prstGeom prst="roundRect">
            <a:avLst>
              <a:gd name="adj" fmla="val 4000"/>
            </a:avLst>
          </a:prstGeom>
          <a:solidFill>
            <a:srgbClr val="D45E5E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Georgia Pro Semibold"/>
              </a:rPr>
              <a:t>✂ Dropout</a:t>
            </a:r>
          </a:p>
        </p:txBody>
      </p:sp>
      <p:sp>
        <p:nvSpPr>
          <p:cNvPr id="12" name="Body10"/>
          <p:cNvSpPr txBox="1"/>
          <p:nvPr/>
        </p:nvSpPr>
        <p:spPr>
          <a:xfrm>
            <a:off x="812800" y="2908300"/>
            <a:ext cx="4851400" cy="22352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>
              <a:buNone/>
            </a:pPr>
            <a:r>
              <a:rPr lang="en-US" sz="1100" b="1" dirty="0">
                <a:solidFill>
                  <a:srgbClr val="D45E5E"/>
                </a:solidFill>
                <a:latin typeface="Georgia Pro Semibold"/>
              </a:rPr>
              <a:t>Mechanism</a:t>
            </a:r>
          </a:p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Randomly removes units during training, sampling thinned sub-networks</a:t>
            </a:r>
          </a:p>
          <a:p>
            <a:pPr>
              <a:buNone/>
            </a:pPr>
            <a:r>
              <a:rPr lang="en-US" sz="1100" b="1" dirty="0">
                <a:solidFill>
                  <a:srgbClr val="D45E5E"/>
                </a:solidFill>
                <a:latin typeface="Georgia Pro Semibold"/>
              </a:rPr>
              <a:t>Effect on Training</a:t>
            </a:r>
          </a:p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Forces robust features; prevents co-adaptation between units</a:t>
            </a:r>
          </a:p>
          <a:p>
            <a:pPr>
              <a:buNone/>
            </a:pPr>
            <a:r>
              <a:rPr lang="en-US" sz="1100" b="1" dirty="0">
                <a:solidFill>
                  <a:srgbClr val="D45E5E"/>
                </a:solidFill>
                <a:latin typeface="Georgia Pro Semibold"/>
              </a:rPr>
              <a:t>Impact on Interactions</a:t>
            </a:r>
          </a:p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Selectively decays higher-order interactions — prioritizes simple, additive patterns first</a:t>
            </a:r>
          </a:p>
        </p:txBody>
      </p:sp>
      <p:sp>
        <p:nvSpPr>
          <p:cNvPr id="20" name="CardBg20"/>
          <p:cNvSpPr/>
          <p:nvPr/>
        </p:nvSpPr>
        <p:spPr>
          <a:xfrm>
            <a:off x="6350000" y="2324100"/>
            <a:ext cx="5207000" cy="2921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25400" dist="12700" dir="5400000" algn="t" rotWithShape="0">
              <a:srgbClr val="000000">
                <a:alpha val="12000"/>
              </a:srgbClr>
            </a:outerShdw>
          </a:effectLst>
        </p:spPr>
        <p:txBody>
          <a:bodyPr lIns="0" tIns="0" rIns="0" bIns="0"/>
          <a:lstStyle/>
          <a:p>
            <a:endParaRPr lang="en-US"/>
          </a:p>
        </p:txBody>
      </p:sp>
      <p:sp>
        <p:nvSpPr>
          <p:cNvPr id="21" name="Header20"/>
          <p:cNvSpPr/>
          <p:nvPr/>
        </p:nvSpPr>
        <p:spPr>
          <a:xfrm>
            <a:off x="6350000" y="2324100"/>
            <a:ext cx="5207000" cy="508000"/>
          </a:xfrm>
          <a:prstGeom prst="roundRect">
            <a:avLst>
              <a:gd name="adj" fmla="val 4000"/>
            </a:avLst>
          </a:prstGeom>
          <a:solidFill>
            <a:srgbClr val="BF873A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Georgia Pro Semibold"/>
              </a:rPr>
              <a:t>⚖ L2 Regularization (Weight Decay)</a:t>
            </a:r>
          </a:p>
        </p:txBody>
      </p:sp>
      <p:sp>
        <p:nvSpPr>
          <p:cNvPr id="22" name="Body20"/>
          <p:cNvSpPr txBox="1"/>
          <p:nvPr/>
        </p:nvSpPr>
        <p:spPr>
          <a:xfrm>
            <a:off x="6527800" y="2908300"/>
            <a:ext cx="4851400" cy="22352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>
              <a:buNone/>
            </a:pPr>
            <a:r>
              <a:rPr lang="en-US" sz="1100" b="1" dirty="0">
                <a:solidFill>
                  <a:srgbClr val="BF873A"/>
                </a:solidFill>
                <a:latin typeface="Georgia Pro Semibold"/>
              </a:rPr>
              <a:t>Mechanism</a:t>
            </a:r>
          </a:p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Adds parameter norm penalty, shrinking weights toward zero</a:t>
            </a:r>
          </a:p>
          <a:p>
            <a:pPr>
              <a:buNone/>
            </a:pPr>
            <a:r>
              <a:rPr lang="en-US" sz="1100" b="1" dirty="0">
                <a:solidFill>
                  <a:srgbClr val="BF873A"/>
                </a:solidFill>
                <a:latin typeface="Georgia Pro Semibold"/>
              </a:rPr>
              <a:t>Effect on Training</a:t>
            </a:r>
          </a:p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Limits model capacity by penalizing large weight magnitudes</a:t>
            </a:r>
          </a:p>
          <a:p>
            <a:pPr>
              <a:buNone/>
            </a:pPr>
            <a:r>
              <a:rPr lang="en-US" sz="1100" b="1" dirty="0">
                <a:solidFill>
                  <a:srgbClr val="BF873A"/>
                </a:solidFill>
                <a:latin typeface="Georgia Pro Semibold"/>
              </a:rPr>
              <a:t>Impact on Interactions</a:t>
            </a:r>
          </a:p>
          <a:p>
            <a:pPr marL="171450" indent="-171450">
              <a:spcBef>
                <a:spcPts val="100"/>
              </a:spcBef>
              <a:buFont typeface="Arial"/>
              <a:buChar char="•"/>
            </a:pPr>
            <a:r>
              <a:rPr lang="en-US" sz="1050" dirty="0">
                <a:solidFill>
                  <a:srgbClr val="463443"/>
                </a:solidFill>
                <a:latin typeface="Avenir Next LT Pro"/>
              </a:rPr>
              <a:t>Does not specifically target interaction order — applies uniformly to all weights</a:t>
            </a:r>
          </a:p>
          <a:p>
            <a:pPr marL="171450" indent="-171450">
              <a:spcBef>
                <a:spcPts val="100"/>
              </a:spcBef>
              <a:buFont typeface="Arial"/>
              <a:buChar char="⚠"/>
            </a:pPr>
            <a:r>
              <a:rPr lang="en-US" sz="1000" i="1" dirty="0">
                <a:solidFill>
                  <a:srgbClr val="8F6B8A"/>
                </a:solidFill>
                <a:latin typeface="Avenir Next LT Pro"/>
              </a:rPr>
              <a:t>Strong L2 can cause instability, learning only constant functions</a:t>
            </a:r>
          </a:p>
        </p:txBody>
      </p:sp>
      <p:sp>
        <p:nvSpPr>
          <p:cNvPr id="40" name="Takeaway"/>
          <p:cNvSpPr/>
          <p:nvPr/>
        </p:nvSpPr>
        <p:spPr>
          <a:xfrm>
            <a:off x="635000" y="5461000"/>
            <a:ext cx="10922000" cy="635000"/>
          </a:xfrm>
          <a:prstGeom prst="roundRect">
            <a:avLst>
              <a:gd name="adj" fmla="val 8000"/>
            </a:avLst>
          </a:prstGeom>
          <a:solidFill>
            <a:srgbClr val="463443"/>
          </a:solidFill>
          <a:ln w="0">
            <a:noFill/>
          </a:ln>
        </p:spPr>
        <p:txBody>
          <a:bodyPr wrap="square" lIns="91440" tIns="36000" rIns="91440" bIns="36000" anchor="ctr"/>
          <a:lstStyle/>
          <a:p>
            <a:pPr algn="ctr">
              <a:buNone/>
            </a:pPr>
            <a:r>
              <a:rPr lang="en-US" sz="1200" b="1" dirty="0">
                <a:solidFill>
                  <a:srgbClr val="D45E5E"/>
                </a:solidFill>
                <a:latin typeface="Georgia Pro Semibold"/>
              </a:rPr>
              <a:t>Key difference: </a:t>
            </a:r>
            <a:r>
              <a:rPr lang="en-US" sz="1200" dirty="0">
                <a:solidFill>
                  <a:srgbClr val="FFFFFF"/>
                </a:solidFill>
                <a:latin typeface="Avenir Next LT Pro"/>
              </a:rPr>
              <a:t>Dropout selectively suppresses spurious high-order interactions that L2 cannot distinguish from genuine ones</a:t>
            </a:r>
          </a:p>
        </p:txBody>
      </p:sp>
      <p:pic>
        <p:nvPicPr>
          <p:cNvPr id="61" name="Graphic 61" descr="Dropout scissors ic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946400" y="2070100"/>
            <a:ext cx="279400" cy="279400"/>
          </a:xfrm>
          <a:prstGeom prst="rect">
            <a:avLst/>
          </a:prstGeom>
        </p:spPr>
      </p:pic>
      <p:pic>
        <p:nvPicPr>
          <p:cNvPr id="62" name="Graphic 62" descr="L2 weight scale icon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61400" y="2070100"/>
            <a:ext cx="279400" cy="2794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9E840E-8619-CCC0-7A7C-DE6F0A77045B}"/>
              </a:ext>
            </a:extLst>
          </p:cNvPr>
          <p:cNvSpPr txBox="1"/>
          <p:nvPr/>
        </p:nvSpPr>
        <p:spPr>
          <a:xfrm>
            <a:off x="324184" y="6457890"/>
            <a:ext cx="86293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Srivastava et al., 2014, Goodfellow et al., 2016, </a:t>
            </a:r>
            <a:r>
              <a:rPr lang="en-US" sz="1000" dirty="0" err="1"/>
              <a:t>Lengerich</a:t>
            </a:r>
            <a:r>
              <a:rPr lang="en-US" sz="1000" dirty="0"/>
              <a:t> et al., 2022</a:t>
            </a:r>
          </a:p>
          <a:p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032535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E658F-B35D-4AFF-CE03-6BB24EA568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17" y="411956"/>
            <a:ext cx="10077557" cy="1325563"/>
          </a:xfrm>
        </p:spPr>
        <p:txBody>
          <a:bodyPr/>
          <a:lstStyle/>
          <a:p>
            <a:r>
              <a:rPr lang="en-US" dirty="0"/>
              <a:t>Synthetic Data and GT Interactions</a:t>
            </a:r>
          </a:p>
        </p:txBody>
      </p:sp>
      <p:sp>
        <p:nvSpPr>
          <p:cNvPr id="10" name="Card 10"/>
          <p:cNvSpPr/>
          <p:nvPr/>
        </p:nvSpPr>
        <p:spPr>
          <a:xfrm>
            <a:off x="698500" y="2286000"/>
            <a:ext cx="3429000" cy="3619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38100" dist="19050" dir="5400000" algn="t" rotWithShape="0">
              <a:srgbClr val="000000">
                <a:alpha val="15000"/>
              </a:srgbClr>
            </a:outerShdw>
          </a:effectLst>
        </p:spPr>
        <p:txBody>
          <a:bodyPr lIns="0" tIns="0" rIns="0" bIns="0" anchor="t"/>
          <a:lstStyle/>
          <a:p>
            <a:endParaRPr lang="en-US"/>
          </a:p>
        </p:txBody>
      </p:sp>
      <p:sp>
        <p:nvSpPr>
          <p:cNvPr id="11" name="Header 10"/>
          <p:cNvSpPr/>
          <p:nvPr/>
        </p:nvSpPr>
        <p:spPr>
          <a:xfrm>
            <a:off x="698500" y="2286000"/>
            <a:ext cx="3429000" cy="571500"/>
          </a:xfrm>
          <a:prstGeom prst="roundRect">
            <a:avLst>
              <a:gd name="adj" fmla="val 5000"/>
            </a:avLst>
          </a:prstGeom>
          <a:solidFill>
            <a:srgbClr val="D45E5E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Georgia Pro Semibold"/>
              </a:rPr>
              <a:t>Synthetic Data</a:t>
            </a:r>
          </a:p>
        </p:txBody>
      </p:sp>
      <p:sp>
        <p:nvSpPr>
          <p:cNvPr id="12" name="Body 10"/>
          <p:cNvSpPr txBox="1"/>
          <p:nvPr/>
        </p:nvSpPr>
        <p:spPr>
          <a:xfrm>
            <a:off x="850900" y="2984500"/>
            <a:ext cx="3124200" cy="31115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10 functions, each with 10 input features (x₁ ... x₁₀)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Designed with known mathematical structure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1000 samples per function from uniform distribution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Controlled complexity across functions</a:t>
            </a:r>
          </a:p>
        </p:txBody>
      </p:sp>
      <p:sp>
        <p:nvSpPr>
          <p:cNvPr id="20" name="Card 20"/>
          <p:cNvSpPr/>
          <p:nvPr/>
        </p:nvSpPr>
        <p:spPr>
          <a:xfrm>
            <a:off x="4381500" y="2286000"/>
            <a:ext cx="3429000" cy="3619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38100" dist="19050" dir="5400000" algn="t" rotWithShape="0">
              <a:srgbClr val="000000">
                <a:alpha val="15000"/>
              </a:srgbClr>
            </a:outerShdw>
          </a:effectLst>
        </p:spPr>
        <p:txBody>
          <a:bodyPr lIns="0" tIns="0" rIns="0" bIns="0" anchor="t"/>
          <a:lstStyle/>
          <a:p>
            <a:endParaRPr lang="en-US"/>
          </a:p>
        </p:txBody>
      </p:sp>
      <p:sp>
        <p:nvSpPr>
          <p:cNvPr id="21" name="Header 20"/>
          <p:cNvSpPr/>
          <p:nvPr/>
        </p:nvSpPr>
        <p:spPr>
          <a:xfrm>
            <a:off x="4381500" y="2286000"/>
            <a:ext cx="3429000" cy="571500"/>
          </a:xfrm>
          <a:prstGeom prst="roundRect">
            <a:avLst>
              <a:gd name="adj" fmla="val 5000"/>
            </a:avLst>
          </a:prstGeom>
          <a:solidFill>
            <a:srgbClr val="BF873A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Georgia Pro Semibold"/>
              </a:rPr>
              <a:t>Ground Truth</a:t>
            </a:r>
          </a:p>
        </p:txBody>
      </p:sp>
      <p:sp>
        <p:nvSpPr>
          <p:cNvPr id="22" name="Body 20"/>
          <p:cNvSpPr txBox="1"/>
          <p:nvPr/>
        </p:nvSpPr>
        <p:spPr>
          <a:xfrm>
            <a:off x="4533900" y="2984500"/>
            <a:ext cx="3124200" cy="31115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Interactions = non-additive effects between features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Derived from functional decomposition of each f(x)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4–7 interaction groups per function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Groups range from pairs to 5-way interactions</a:t>
            </a:r>
          </a:p>
        </p:txBody>
      </p:sp>
      <p:sp>
        <p:nvSpPr>
          <p:cNvPr id="30" name="Card 30"/>
          <p:cNvSpPr/>
          <p:nvPr/>
        </p:nvSpPr>
        <p:spPr>
          <a:xfrm>
            <a:off x="8064500" y="2286000"/>
            <a:ext cx="3429000" cy="3619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0DDD6"/>
            </a:solidFill>
          </a:ln>
          <a:effectLst>
            <a:outerShdw blurRad="38100" dist="19050" dir="5400000" algn="t" rotWithShape="0">
              <a:srgbClr val="000000">
                <a:alpha val="15000"/>
              </a:srgbClr>
            </a:outerShdw>
          </a:effectLst>
        </p:spPr>
        <p:txBody>
          <a:bodyPr lIns="0" tIns="0" rIns="0" bIns="0" anchor="t"/>
          <a:lstStyle/>
          <a:p>
            <a:endParaRPr lang="en-US"/>
          </a:p>
        </p:txBody>
      </p:sp>
      <p:sp>
        <p:nvSpPr>
          <p:cNvPr id="31" name="Header 30"/>
          <p:cNvSpPr/>
          <p:nvPr/>
        </p:nvSpPr>
        <p:spPr>
          <a:xfrm>
            <a:off x="8064500" y="2286000"/>
            <a:ext cx="3429000" cy="571500"/>
          </a:xfrm>
          <a:prstGeom prst="roundRect">
            <a:avLst>
              <a:gd name="adj" fmla="val 5000"/>
            </a:avLst>
          </a:prstGeom>
          <a:solidFill>
            <a:srgbClr val="463443"/>
          </a:solidFill>
          <a:ln w="0">
            <a:noFill/>
          </a:ln>
        </p:spPr>
        <p:txBody>
          <a:bodyPr lIns="91440" tIns="0" rIns="91440" bIns="0"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Georgia Pro Semibold"/>
              </a:rPr>
              <a:t>Why Synthetic?</a:t>
            </a:r>
          </a:p>
        </p:txBody>
      </p:sp>
      <p:sp>
        <p:nvSpPr>
          <p:cNvPr id="32" name="Body 30"/>
          <p:cNvSpPr txBox="1"/>
          <p:nvPr/>
        </p:nvSpPr>
        <p:spPr>
          <a:xfrm>
            <a:off x="8216900" y="2984500"/>
            <a:ext cx="3124200" cy="3111500"/>
          </a:xfrm>
          <a:prstGeom prst="rect">
            <a:avLst/>
          </a:prstGeom>
          <a:noFill/>
        </p:spPr>
        <p:txBody>
          <a:bodyPr wrap="square" lIns="36000" tIns="36000" rIns="36000" bIns="36000" anchor="t"/>
          <a:lstStyle/>
          <a:p>
            <a:pPr marL="171450" indent="-171450">
              <a:spcBef>
                <a:spcPts val="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Real datasets lack known ground truth interactions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Enables exact measurement of recovery rate and fidelity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Controlled comparison across regularization conditions</a:t>
            </a:r>
          </a:p>
          <a:p>
            <a:pPr marL="171450" indent="-171450">
              <a:spcBef>
                <a:spcPts val="200"/>
              </a:spcBef>
              <a:buFont typeface="Arial"/>
              <a:buChar char="•"/>
            </a:pPr>
            <a:r>
              <a:rPr lang="en-US" sz="1100" dirty="0">
                <a:solidFill>
                  <a:srgbClr val="463443"/>
                </a:solidFill>
                <a:latin typeface="Avenir Next LT Pro"/>
              </a:rPr>
              <a:t>Reproducible benchmarking of NID methods</a:t>
            </a:r>
          </a:p>
        </p:txBody>
      </p:sp>
      <p:sp>
        <p:nvSpPr>
          <p:cNvPr id="50" name="References"/>
          <p:cNvSpPr txBox="1"/>
          <p:nvPr/>
        </p:nvSpPr>
        <p:spPr>
          <a:xfrm>
            <a:off x="698500" y="6324600"/>
            <a:ext cx="10160000" cy="31750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r>
              <a:rPr lang="en-US" sz="900" i="1" dirty="0">
                <a:solidFill>
                  <a:srgbClr val="8F6B8A"/>
                </a:solidFill>
                <a:latin typeface="Avenir Next LT Pro"/>
              </a:rPr>
              <a:t>[1] Enouen &amp; Liu, 2022  [2] Wong, Wang &amp; Hryniowski, 2020</a:t>
            </a:r>
          </a:p>
        </p:txBody>
      </p:sp>
      <p:pic>
        <p:nvPicPr>
          <p:cNvPr id="51" name="Graphic 51" descr="Flask icon for Synthetic Dat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95500" y="1905000"/>
            <a:ext cx="381000" cy="381000"/>
          </a:xfrm>
          <a:prstGeom prst="rect">
            <a:avLst/>
          </a:prstGeom>
        </p:spPr>
      </p:pic>
      <p:pic>
        <p:nvPicPr>
          <p:cNvPr id="52" name="Graphic 52" descr="Target icon for Ground Truth"/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778500" y="1905000"/>
            <a:ext cx="381000" cy="381000"/>
          </a:xfrm>
          <a:prstGeom prst="rect">
            <a:avLst/>
          </a:prstGeom>
        </p:spPr>
      </p:pic>
      <p:pic>
        <p:nvPicPr>
          <p:cNvPr id="53" name="Graphic 53" descr="Checklist icon for Why Synthetic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461500" y="19050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03435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E0211-6CA9-5DFC-0156-78E76D9458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 Methodology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330231-0874-DDF9-196D-AF8D5750AE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75860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2D7FD5-D303-A6F3-173F-D3A357223E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1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BAC57B1-3259-DCC3-C54F-7EE7D10870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4668" y="439047"/>
            <a:ext cx="8532128" cy="696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0C13B7-1FA3-C95D-481D-2E62626A5F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8889" y="1206502"/>
            <a:ext cx="6391659" cy="5289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0074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08ED5B-1F05-8AC1-0FF9-7EE631DAA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2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AE65990B-123E-4E1E-669E-2D09138414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1057" y="588564"/>
            <a:ext cx="7936272" cy="647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0D8199-A5E4-BD4E-C66D-D9514DAC6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865" y="1349381"/>
            <a:ext cx="6107382" cy="5508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2425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C5076-3A7A-6EBB-8B73-51FFE27FB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3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11E6941-1B32-17B8-7CF4-39D48353F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897" y="1303730"/>
            <a:ext cx="6367953" cy="5554270"/>
          </a:xfrm>
          <a:prstGeom prst="rect">
            <a:avLst/>
          </a:prstGeom>
        </p:spPr>
      </p:pic>
      <p:pic>
        <p:nvPicPr>
          <p:cNvPr id="6" name="Picture 6">
            <a:extLst>
              <a:ext uri="{FF2B5EF4-FFF2-40B4-BE49-F238E27FC236}">
                <a16:creationId xmlns:a16="http://schemas.microsoft.com/office/drawing/2014/main" id="{7D5A1C24-BFAF-E387-30BF-557687DB19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8039" y="486697"/>
            <a:ext cx="7281882" cy="497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76013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75B60-3923-163C-7545-628D9F3DE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4</a:t>
            </a:r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2C79D403-235D-7094-F662-1F1AC9E643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7098" y="521148"/>
            <a:ext cx="8938326" cy="531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BDACC53-DDD4-E74C-7941-3F56E911EB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228" y="1094154"/>
            <a:ext cx="6717907" cy="5344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6071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78408-8E04-5656-CB0C-0021444DD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5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65FC93-7A50-4A18-B210-ECDFCBECF7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3136" y="1210438"/>
            <a:ext cx="6702648" cy="5451370"/>
          </a:xfrm>
          <a:prstGeom prst="rect">
            <a:avLst/>
          </a:prstGeom>
        </p:spPr>
      </p:pic>
      <p:pic>
        <p:nvPicPr>
          <p:cNvPr id="6" name="Picture 10">
            <a:extLst>
              <a:ext uri="{FF2B5EF4-FFF2-40B4-BE49-F238E27FC236}">
                <a16:creationId xmlns:a16="http://schemas.microsoft.com/office/drawing/2014/main" id="{2B0CCDA6-2E39-1EA7-6408-B2CF2DFDAA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0204" y="289847"/>
            <a:ext cx="5629825" cy="4972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5609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85ED3-0EE8-E822-92F2-854455755B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6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F4C4B6D-38A6-B97D-BF32-54D5279B4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870" y="1191052"/>
            <a:ext cx="6372627" cy="5422399"/>
          </a:xfrm>
          <a:prstGeom prst="rect">
            <a:avLst/>
          </a:prstGeom>
        </p:spPr>
      </p:pic>
      <p:pic>
        <p:nvPicPr>
          <p:cNvPr id="6" name="Picture 12">
            <a:extLst>
              <a:ext uri="{FF2B5EF4-FFF2-40B4-BE49-F238E27FC236}">
                <a16:creationId xmlns:a16="http://schemas.microsoft.com/office/drawing/2014/main" id="{7BFA685A-2BCF-D831-3C7D-DC00D2011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6026" y="393368"/>
            <a:ext cx="6616700" cy="393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043148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78A45-BAE2-343F-ED83-AA916D1FF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7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BE7726-4B2E-1BCF-7E3D-8A047155D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5652" y="1155074"/>
            <a:ext cx="6689659" cy="5405245"/>
          </a:xfrm>
          <a:prstGeom prst="rect">
            <a:avLst/>
          </a:prstGeom>
        </p:spPr>
      </p:pic>
      <p:pic>
        <p:nvPicPr>
          <p:cNvPr id="6" name="Picture 14">
            <a:extLst>
              <a:ext uri="{FF2B5EF4-FFF2-40B4-BE49-F238E27FC236}">
                <a16:creationId xmlns:a16="http://schemas.microsoft.com/office/drawing/2014/main" id="{AFF27847-E48B-9222-7F06-81BFF17A5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84744" y="297681"/>
            <a:ext cx="7656539" cy="489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216145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03806-F716-4F3B-C7B0-D2D612348A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459" y="801817"/>
            <a:ext cx="10077557" cy="1325563"/>
          </a:xfrm>
        </p:spPr>
        <p:txBody>
          <a:bodyPr/>
          <a:lstStyle/>
          <a:p>
            <a:r>
              <a:rPr lang="en-US" dirty="0"/>
              <a:t>Function 8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3FAFD20-3E22-C8EE-F4F5-32A7B6ED05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3605" y="1297859"/>
            <a:ext cx="6457375" cy="5359182"/>
          </a:xfrm>
          <a:prstGeom prst="rect">
            <a:avLst/>
          </a:prstGeom>
        </p:spPr>
      </p:pic>
      <p:pic>
        <p:nvPicPr>
          <p:cNvPr id="6" name="Picture 16">
            <a:extLst>
              <a:ext uri="{FF2B5EF4-FFF2-40B4-BE49-F238E27FC236}">
                <a16:creationId xmlns:a16="http://schemas.microsoft.com/office/drawing/2014/main" id="{75A2CB63-3B5C-B8F7-7CF4-D16E7EB324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58103" y="407746"/>
            <a:ext cx="9398000" cy="29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43517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A0CD0-D7D3-DC0A-6A77-3AAC6FCC1E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9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DE9961D-51A9-3E60-F813-C45D792E35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9897" y="1273684"/>
            <a:ext cx="6315010" cy="5455093"/>
          </a:xfrm>
          <a:prstGeom prst="rect">
            <a:avLst/>
          </a:prstGeom>
        </p:spPr>
      </p:pic>
      <p:pic>
        <p:nvPicPr>
          <p:cNvPr id="6" name="Picture 18">
            <a:extLst>
              <a:ext uri="{FF2B5EF4-FFF2-40B4-BE49-F238E27FC236}">
                <a16:creationId xmlns:a16="http://schemas.microsoft.com/office/drawing/2014/main" id="{FD03062B-E255-3740-EC4F-476A6B4327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6529" y="368710"/>
            <a:ext cx="7542014" cy="4648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712358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34D633-E754-57AD-AA05-CA4699D712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 10</a:t>
            </a:r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CF0FEB9-D1DD-01EF-F68B-12BBDD0E15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387" y="1017580"/>
            <a:ext cx="6600292" cy="5730127"/>
          </a:xfrm>
          <a:prstGeom prst="rect">
            <a:avLst/>
          </a:prstGeom>
        </p:spPr>
      </p:pic>
      <p:pic>
        <p:nvPicPr>
          <p:cNvPr id="6" name="Picture 20">
            <a:extLst>
              <a:ext uri="{FF2B5EF4-FFF2-40B4-BE49-F238E27FC236}">
                <a16:creationId xmlns:a16="http://schemas.microsoft.com/office/drawing/2014/main" id="{3F11C52C-F1EA-3964-1BE4-BE4D3016D2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16249" y="368710"/>
            <a:ext cx="8348477" cy="533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50398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3333B2-1AB8-ECDC-ECF6-8DC78C87FD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CAA0F56-5280-D180-8BB1-1108A2FA802E}"/>
              </a:ext>
            </a:extLst>
          </p:cNvPr>
          <p:cNvSpPr/>
          <p:nvPr/>
        </p:nvSpPr>
        <p:spPr>
          <a:xfrm>
            <a:off x="192505" y="2803358"/>
            <a:ext cx="2947737" cy="346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AD60D4A-200B-4F4B-9272-1C4DB2304269}"/>
              </a:ext>
            </a:extLst>
          </p:cNvPr>
          <p:cNvSpPr/>
          <p:nvPr/>
        </p:nvSpPr>
        <p:spPr>
          <a:xfrm>
            <a:off x="6499059" y="2803358"/>
            <a:ext cx="5364077" cy="346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335D83B-6B9A-376C-6733-6C7741D9437C}"/>
              </a:ext>
            </a:extLst>
          </p:cNvPr>
          <p:cNvSpPr/>
          <p:nvPr/>
        </p:nvSpPr>
        <p:spPr>
          <a:xfrm>
            <a:off x="3281614" y="2803358"/>
            <a:ext cx="2947737" cy="34600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461364-181F-43F3-5BD6-AF005AFCDF69}"/>
              </a:ext>
            </a:extLst>
          </p:cNvPr>
          <p:cNvSpPr txBox="1"/>
          <p:nvPr/>
        </p:nvSpPr>
        <p:spPr>
          <a:xfrm>
            <a:off x="3050005" y="2726703"/>
            <a:ext cx="191903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br>
              <a:rPr lang="en-US" dirty="0"/>
            </a:b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A1F184E-B3CA-8607-002C-B017B68C8B11}"/>
              </a:ext>
            </a:extLst>
          </p:cNvPr>
          <p:cNvSpPr txBox="1"/>
          <p:nvPr/>
        </p:nvSpPr>
        <p:spPr>
          <a:xfrm>
            <a:off x="800099" y="2916017"/>
            <a:ext cx="1732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Input Noise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079633-8E8B-85F1-CE86-3A02D09870F9}"/>
              </a:ext>
            </a:extLst>
          </p:cNvPr>
          <p:cNvSpPr txBox="1"/>
          <p:nvPr/>
        </p:nvSpPr>
        <p:spPr>
          <a:xfrm>
            <a:off x="4102768" y="2951213"/>
            <a:ext cx="1732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Optimizer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85DE2D-38E5-4511-DC6C-EC4A7540B528}"/>
              </a:ext>
            </a:extLst>
          </p:cNvPr>
          <p:cNvSpPr txBox="1"/>
          <p:nvPr/>
        </p:nvSpPr>
        <p:spPr>
          <a:xfrm>
            <a:off x="8495797" y="3003702"/>
            <a:ext cx="17325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Regularization 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CC6814C2-FFEA-3ADB-AF11-FF3FCE424970}"/>
              </a:ext>
            </a:extLst>
          </p:cNvPr>
          <p:cNvSpPr/>
          <p:nvPr/>
        </p:nvSpPr>
        <p:spPr>
          <a:xfrm>
            <a:off x="328864" y="3362004"/>
            <a:ext cx="2683042" cy="270892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8E06667-4BC3-70C1-37E9-2809F73D1E22}"/>
              </a:ext>
            </a:extLst>
          </p:cNvPr>
          <p:cNvSpPr/>
          <p:nvPr/>
        </p:nvSpPr>
        <p:spPr>
          <a:xfrm>
            <a:off x="3413961" y="3419200"/>
            <a:ext cx="2683042" cy="270892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83B40E67-21D4-B922-743D-9D7166EF03D7}"/>
              </a:ext>
            </a:extLst>
          </p:cNvPr>
          <p:cNvSpPr/>
          <p:nvPr/>
        </p:nvSpPr>
        <p:spPr>
          <a:xfrm>
            <a:off x="6656470" y="3484966"/>
            <a:ext cx="2391277" cy="2585965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2F52499-20BE-48D3-2D72-B31C05B0B671}"/>
              </a:ext>
            </a:extLst>
          </p:cNvPr>
          <p:cNvSpPr/>
          <p:nvPr/>
        </p:nvSpPr>
        <p:spPr>
          <a:xfrm>
            <a:off x="9125951" y="3480681"/>
            <a:ext cx="2658981" cy="2585966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A6395AB-E7D6-359C-B7B7-7A590872314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4664" y="4263661"/>
            <a:ext cx="912894" cy="91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0C9555F-5932-BE93-FFBD-42353DB224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8008" y="3994819"/>
            <a:ext cx="2328994" cy="16468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CA47C2B5-4F65-AB97-E026-5C91C9F2788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36167" y="4251080"/>
            <a:ext cx="1038548" cy="1038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7E2ED87D-50B7-7A51-5FA5-E560B1EB7D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14103" y="4315861"/>
            <a:ext cx="860694" cy="86069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917F7BE-1019-863D-15A6-0A1C04BACDA0}"/>
              </a:ext>
            </a:extLst>
          </p:cNvPr>
          <p:cNvSpPr txBox="1"/>
          <p:nvPr/>
        </p:nvSpPr>
        <p:spPr>
          <a:xfrm>
            <a:off x="800099" y="3609474"/>
            <a:ext cx="1846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Gaussian noise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E33F6C6-F8A9-94AC-D0B1-E2C7170A3A0C}"/>
              </a:ext>
            </a:extLst>
          </p:cNvPr>
          <p:cNvSpPr txBox="1"/>
          <p:nvPr/>
        </p:nvSpPr>
        <p:spPr>
          <a:xfrm>
            <a:off x="3865358" y="3633537"/>
            <a:ext cx="1846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Adam / SDG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BBF12E2-9226-0854-EEA6-AC6467DC7236}"/>
              </a:ext>
            </a:extLst>
          </p:cNvPr>
          <p:cNvSpPr txBox="1"/>
          <p:nvPr/>
        </p:nvSpPr>
        <p:spPr>
          <a:xfrm>
            <a:off x="6877047" y="3601635"/>
            <a:ext cx="1846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Dropout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F83FAD5-A1F7-50D9-765C-F3F062126A60}"/>
              </a:ext>
            </a:extLst>
          </p:cNvPr>
          <p:cNvSpPr txBox="1"/>
          <p:nvPr/>
        </p:nvSpPr>
        <p:spPr>
          <a:xfrm>
            <a:off x="9461330" y="3596061"/>
            <a:ext cx="18468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L2</a:t>
            </a:r>
          </a:p>
        </p:txBody>
      </p:sp>
    </p:spTree>
    <p:extLst>
      <p:ext uri="{BB962C8B-B14F-4D97-AF65-F5344CB8AC3E}">
        <p14:creationId xmlns:p14="http://schemas.microsoft.com/office/powerpoint/2010/main" val="3001126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320E93-EC5D-E58D-B1DC-D65385416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718" y="787068"/>
            <a:ext cx="10077556" cy="698500"/>
          </a:xfrm>
        </p:spPr>
        <p:txBody>
          <a:bodyPr/>
          <a:lstStyle/>
          <a:p>
            <a:r>
              <a:rPr lang="en-US" dirty="0"/>
              <a:t>Experimental Design</a:t>
            </a:r>
          </a:p>
        </p:txBody>
      </p:sp>
      <p:sp>
        <p:nvSpPr>
          <p:cNvPr id="100" name="T100"/>
          <p:cNvSpPr txBox="1"/>
          <p:nvPr/>
        </p:nvSpPr>
        <p:spPr>
          <a:xfrm>
            <a:off x="825500" y="1549400"/>
            <a:ext cx="88900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1050" dirty="0">
                <a:solidFill>
                  <a:srgbClr val="8F6B8A"/>
                </a:solidFill>
                <a:latin typeface="Avenir Next LT Pro"/>
              </a:rPr>
              <a:t>Full factorial: 5 noise levels × 4 regularization settings × 2 optimizers</a:t>
            </a:r>
          </a:p>
        </p:txBody>
      </p:sp>
      <p:sp>
        <p:nvSpPr>
          <p:cNvPr id="101" name="T101"/>
          <p:cNvSpPr txBox="1"/>
          <p:nvPr/>
        </p:nvSpPr>
        <p:spPr>
          <a:xfrm>
            <a:off x="2667000" y="1676400"/>
            <a:ext cx="8128000" cy="203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463443"/>
                </a:solidFill>
                <a:latin typeface="Georgia Pro Semibold"/>
              </a:rPr>
              <a:t>Input Noise Level</a:t>
            </a:r>
          </a:p>
        </p:txBody>
      </p:sp>
      <p:sp>
        <p:nvSpPr>
          <p:cNvPr id="102" name="R102"/>
          <p:cNvSpPr/>
          <p:nvPr/>
        </p:nvSpPr>
        <p:spPr>
          <a:xfrm>
            <a:off x="2692400" y="1905000"/>
            <a:ext cx="1574800" cy="279400"/>
          </a:xfrm>
          <a:prstGeom prst="roundRect">
            <a:avLst>
              <a:gd name="adj" fmla="val 3000"/>
            </a:avLst>
          </a:prstGeom>
          <a:solidFill>
            <a:srgbClr val="46344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3" name="T103"/>
          <p:cNvSpPr txBox="1"/>
          <p:nvPr/>
        </p:nvSpPr>
        <p:spPr>
          <a:xfrm>
            <a:off x="2692400" y="19050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Georgia Pro Semibold"/>
              </a:rPr>
              <a:t>Baseline</a:t>
            </a:r>
          </a:p>
        </p:txBody>
      </p:sp>
      <p:sp>
        <p:nvSpPr>
          <p:cNvPr id="104" name="R104"/>
          <p:cNvSpPr/>
          <p:nvPr/>
        </p:nvSpPr>
        <p:spPr>
          <a:xfrm>
            <a:off x="4318000" y="1905000"/>
            <a:ext cx="1574800" cy="279400"/>
          </a:xfrm>
          <a:prstGeom prst="roundRect">
            <a:avLst>
              <a:gd name="adj" fmla="val 3000"/>
            </a:avLst>
          </a:prstGeom>
          <a:solidFill>
            <a:srgbClr val="46344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5" name="T105"/>
          <p:cNvSpPr txBox="1"/>
          <p:nvPr/>
        </p:nvSpPr>
        <p:spPr>
          <a:xfrm>
            <a:off x="4318000" y="19050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Georgia Pro Semibold"/>
              </a:rPr>
              <a:t>σ = 0.1</a:t>
            </a:r>
          </a:p>
        </p:txBody>
      </p:sp>
      <p:sp>
        <p:nvSpPr>
          <p:cNvPr id="106" name="R106"/>
          <p:cNvSpPr/>
          <p:nvPr/>
        </p:nvSpPr>
        <p:spPr>
          <a:xfrm>
            <a:off x="5943600" y="1905000"/>
            <a:ext cx="1574800" cy="279400"/>
          </a:xfrm>
          <a:prstGeom prst="roundRect">
            <a:avLst>
              <a:gd name="adj" fmla="val 3000"/>
            </a:avLst>
          </a:prstGeom>
          <a:solidFill>
            <a:srgbClr val="46344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7" name="T107"/>
          <p:cNvSpPr txBox="1"/>
          <p:nvPr/>
        </p:nvSpPr>
        <p:spPr>
          <a:xfrm>
            <a:off x="5943600" y="19050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Georgia Pro Semibold"/>
              </a:rPr>
              <a:t>σ = 0.2</a:t>
            </a:r>
          </a:p>
        </p:txBody>
      </p:sp>
      <p:sp>
        <p:nvSpPr>
          <p:cNvPr id="108" name="R108"/>
          <p:cNvSpPr/>
          <p:nvPr/>
        </p:nvSpPr>
        <p:spPr>
          <a:xfrm>
            <a:off x="7569200" y="1905000"/>
            <a:ext cx="1574800" cy="279400"/>
          </a:xfrm>
          <a:prstGeom prst="roundRect">
            <a:avLst>
              <a:gd name="adj" fmla="val 3000"/>
            </a:avLst>
          </a:prstGeom>
          <a:solidFill>
            <a:srgbClr val="46344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T109"/>
          <p:cNvSpPr txBox="1"/>
          <p:nvPr/>
        </p:nvSpPr>
        <p:spPr>
          <a:xfrm>
            <a:off x="7569200" y="19050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Georgia Pro Semibold"/>
              </a:rPr>
              <a:t>σ = 0.5</a:t>
            </a:r>
          </a:p>
        </p:txBody>
      </p:sp>
      <p:sp>
        <p:nvSpPr>
          <p:cNvPr id="110" name="R110"/>
          <p:cNvSpPr/>
          <p:nvPr/>
        </p:nvSpPr>
        <p:spPr>
          <a:xfrm>
            <a:off x="9194800" y="1905000"/>
            <a:ext cx="1574800" cy="279400"/>
          </a:xfrm>
          <a:prstGeom prst="roundRect">
            <a:avLst>
              <a:gd name="adj" fmla="val 3000"/>
            </a:avLst>
          </a:prstGeom>
          <a:solidFill>
            <a:srgbClr val="463443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1" name="T111"/>
          <p:cNvSpPr txBox="1"/>
          <p:nvPr/>
        </p:nvSpPr>
        <p:spPr>
          <a:xfrm>
            <a:off x="9194800" y="1905000"/>
            <a:ext cx="1574800" cy="279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50" b="1" dirty="0">
                <a:solidFill>
                  <a:srgbClr val="FFFFFF"/>
                </a:solidFill>
                <a:latin typeface="Georgia Pro Semibold"/>
              </a:rPr>
              <a:t>σ = 1.0</a:t>
            </a:r>
          </a:p>
        </p:txBody>
      </p:sp>
      <p:sp>
        <p:nvSpPr>
          <p:cNvPr id="113" name="R113"/>
          <p:cNvSpPr/>
          <p:nvPr/>
        </p:nvSpPr>
        <p:spPr>
          <a:xfrm>
            <a:off x="2641600" y="2260600"/>
            <a:ext cx="8178800" cy="609600"/>
          </a:xfrm>
          <a:prstGeom prst="roundRect">
            <a:avLst>
              <a:gd name="adj" fmla="val 3000"/>
            </a:avLst>
          </a:prstGeom>
          <a:solidFill>
            <a:srgbClr val="F3F0E9"/>
          </a:solidFill>
          <a:ln w="6350">
            <a:solidFill>
              <a:srgbClr val="E0DDD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14" name="T114"/>
          <p:cNvSpPr txBox="1"/>
          <p:nvPr/>
        </p:nvSpPr>
        <p:spPr>
          <a:xfrm>
            <a:off x="889000" y="2260600"/>
            <a:ext cx="1168400" cy="609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950" b="1" dirty="0">
                <a:solidFill>
                  <a:srgbClr val="463443"/>
                </a:solidFill>
                <a:latin typeface="Avenir Next LT Pro"/>
              </a:rPr>
              <a:t>No regularization</a:t>
            </a:r>
          </a:p>
        </p:txBody>
      </p:sp>
      <p:sp>
        <p:nvSpPr>
          <p:cNvPr id="117" name="C117"/>
          <p:cNvSpPr/>
          <p:nvPr/>
        </p:nvSpPr>
        <p:spPr>
          <a:xfrm>
            <a:off x="3378200" y="23368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8" name="C118"/>
          <p:cNvSpPr/>
          <p:nvPr/>
        </p:nvSpPr>
        <p:spPr>
          <a:xfrm>
            <a:off x="3378200" y="26416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C119"/>
          <p:cNvSpPr/>
          <p:nvPr/>
        </p:nvSpPr>
        <p:spPr>
          <a:xfrm>
            <a:off x="5003800" y="23368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0" name="C120"/>
          <p:cNvSpPr/>
          <p:nvPr/>
        </p:nvSpPr>
        <p:spPr>
          <a:xfrm>
            <a:off x="5003800" y="26416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1" name="C121"/>
          <p:cNvSpPr/>
          <p:nvPr/>
        </p:nvSpPr>
        <p:spPr>
          <a:xfrm>
            <a:off x="6629400" y="23368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2" name="C122"/>
          <p:cNvSpPr/>
          <p:nvPr/>
        </p:nvSpPr>
        <p:spPr>
          <a:xfrm>
            <a:off x="6629400" y="26416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3" name="C123"/>
          <p:cNvSpPr/>
          <p:nvPr/>
        </p:nvSpPr>
        <p:spPr>
          <a:xfrm>
            <a:off x="8255000" y="23368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4" name="C124"/>
          <p:cNvSpPr/>
          <p:nvPr/>
        </p:nvSpPr>
        <p:spPr>
          <a:xfrm>
            <a:off x="8255000" y="26416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5" name="C125"/>
          <p:cNvSpPr/>
          <p:nvPr/>
        </p:nvSpPr>
        <p:spPr>
          <a:xfrm>
            <a:off x="9880600" y="23368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6" name="C126"/>
          <p:cNvSpPr/>
          <p:nvPr/>
        </p:nvSpPr>
        <p:spPr>
          <a:xfrm>
            <a:off x="9880600" y="26416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7" name="R127"/>
          <p:cNvSpPr/>
          <p:nvPr/>
        </p:nvSpPr>
        <p:spPr>
          <a:xfrm>
            <a:off x="2641600" y="2946400"/>
            <a:ext cx="8178800" cy="609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0DDD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28" name="T128"/>
          <p:cNvSpPr txBox="1"/>
          <p:nvPr/>
        </p:nvSpPr>
        <p:spPr>
          <a:xfrm>
            <a:off x="889000" y="2946400"/>
            <a:ext cx="1168400" cy="609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950" b="1" dirty="0">
                <a:solidFill>
                  <a:srgbClr val="463443"/>
                </a:solidFill>
                <a:latin typeface="Avenir Next LT Pro"/>
              </a:rPr>
              <a:t>Dropout (p = 0.2)</a:t>
            </a:r>
          </a:p>
        </p:txBody>
      </p:sp>
      <p:sp>
        <p:nvSpPr>
          <p:cNvPr id="131" name="C131"/>
          <p:cNvSpPr/>
          <p:nvPr/>
        </p:nvSpPr>
        <p:spPr>
          <a:xfrm>
            <a:off x="3390900" y="30353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2" name="C132"/>
          <p:cNvSpPr/>
          <p:nvPr/>
        </p:nvSpPr>
        <p:spPr>
          <a:xfrm>
            <a:off x="3390900" y="33401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33" name="C133"/>
          <p:cNvSpPr/>
          <p:nvPr/>
        </p:nvSpPr>
        <p:spPr>
          <a:xfrm>
            <a:off x="5003800" y="30226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4" name="C134"/>
          <p:cNvSpPr/>
          <p:nvPr/>
        </p:nvSpPr>
        <p:spPr>
          <a:xfrm>
            <a:off x="5003800" y="33274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5" name="C135"/>
          <p:cNvSpPr/>
          <p:nvPr/>
        </p:nvSpPr>
        <p:spPr>
          <a:xfrm>
            <a:off x="6629400" y="30226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6" name="C136"/>
          <p:cNvSpPr/>
          <p:nvPr/>
        </p:nvSpPr>
        <p:spPr>
          <a:xfrm>
            <a:off x="6629400" y="33274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7" name="C137"/>
          <p:cNvSpPr/>
          <p:nvPr/>
        </p:nvSpPr>
        <p:spPr>
          <a:xfrm>
            <a:off x="8255000" y="30226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8" name="C138"/>
          <p:cNvSpPr/>
          <p:nvPr/>
        </p:nvSpPr>
        <p:spPr>
          <a:xfrm>
            <a:off x="8255000" y="33274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9" name="C139"/>
          <p:cNvSpPr/>
          <p:nvPr/>
        </p:nvSpPr>
        <p:spPr>
          <a:xfrm>
            <a:off x="9880600" y="30226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0" name="C140"/>
          <p:cNvSpPr/>
          <p:nvPr/>
        </p:nvSpPr>
        <p:spPr>
          <a:xfrm>
            <a:off x="9880600" y="33274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1" name="R141"/>
          <p:cNvSpPr/>
          <p:nvPr/>
        </p:nvSpPr>
        <p:spPr>
          <a:xfrm>
            <a:off x="2641600" y="3632200"/>
            <a:ext cx="8178800" cy="609600"/>
          </a:xfrm>
          <a:prstGeom prst="roundRect">
            <a:avLst>
              <a:gd name="adj" fmla="val 3000"/>
            </a:avLst>
          </a:prstGeom>
          <a:solidFill>
            <a:srgbClr val="F3F0E9"/>
          </a:solidFill>
          <a:ln w="6350">
            <a:solidFill>
              <a:srgbClr val="E0DDD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2" name="T142"/>
          <p:cNvSpPr txBox="1"/>
          <p:nvPr/>
        </p:nvSpPr>
        <p:spPr>
          <a:xfrm>
            <a:off x="889000" y="3632200"/>
            <a:ext cx="1168400" cy="609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950" b="1" dirty="0">
                <a:solidFill>
                  <a:srgbClr val="463443"/>
                </a:solidFill>
                <a:latin typeface="Avenir Next LT Pro"/>
              </a:rPr>
              <a:t>Weight Decay (L2)</a:t>
            </a:r>
          </a:p>
        </p:txBody>
      </p:sp>
      <p:sp>
        <p:nvSpPr>
          <p:cNvPr id="145" name="C145"/>
          <p:cNvSpPr/>
          <p:nvPr/>
        </p:nvSpPr>
        <p:spPr>
          <a:xfrm>
            <a:off x="3390900" y="37211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6" name="C146"/>
          <p:cNvSpPr/>
          <p:nvPr/>
        </p:nvSpPr>
        <p:spPr>
          <a:xfrm>
            <a:off x="3390900" y="40259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7" name="C147"/>
          <p:cNvSpPr/>
          <p:nvPr/>
        </p:nvSpPr>
        <p:spPr>
          <a:xfrm>
            <a:off x="5003800" y="37084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48" name="C148"/>
          <p:cNvSpPr/>
          <p:nvPr/>
        </p:nvSpPr>
        <p:spPr>
          <a:xfrm>
            <a:off x="5016500" y="40259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49" name="C149"/>
          <p:cNvSpPr/>
          <p:nvPr/>
        </p:nvSpPr>
        <p:spPr>
          <a:xfrm>
            <a:off x="6629400" y="37084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0" name="C150"/>
          <p:cNvSpPr/>
          <p:nvPr/>
        </p:nvSpPr>
        <p:spPr>
          <a:xfrm>
            <a:off x="6642100" y="40259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1" name="C151"/>
          <p:cNvSpPr/>
          <p:nvPr/>
        </p:nvSpPr>
        <p:spPr>
          <a:xfrm>
            <a:off x="8255000" y="37084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2" name="C152"/>
          <p:cNvSpPr/>
          <p:nvPr/>
        </p:nvSpPr>
        <p:spPr>
          <a:xfrm>
            <a:off x="8267700" y="40259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3" name="C153"/>
          <p:cNvSpPr/>
          <p:nvPr/>
        </p:nvSpPr>
        <p:spPr>
          <a:xfrm>
            <a:off x="9880600" y="37084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4" name="C154"/>
          <p:cNvSpPr/>
          <p:nvPr/>
        </p:nvSpPr>
        <p:spPr>
          <a:xfrm>
            <a:off x="9893300" y="40259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5" name="R155"/>
          <p:cNvSpPr/>
          <p:nvPr/>
        </p:nvSpPr>
        <p:spPr>
          <a:xfrm>
            <a:off x="2641600" y="4318000"/>
            <a:ext cx="8178800" cy="609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0DDD6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6" name="T156"/>
          <p:cNvSpPr txBox="1"/>
          <p:nvPr/>
        </p:nvSpPr>
        <p:spPr>
          <a:xfrm>
            <a:off x="889000" y="4318000"/>
            <a:ext cx="1168400" cy="609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en-US" sz="950" b="1" dirty="0">
                <a:solidFill>
                  <a:srgbClr val="463443"/>
                </a:solidFill>
                <a:latin typeface="Avenir Next LT Pro"/>
              </a:rPr>
              <a:t>Dropout + L2</a:t>
            </a:r>
          </a:p>
        </p:txBody>
      </p:sp>
      <p:sp>
        <p:nvSpPr>
          <p:cNvPr id="159" name="C159"/>
          <p:cNvSpPr/>
          <p:nvPr/>
        </p:nvSpPr>
        <p:spPr>
          <a:xfrm>
            <a:off x="3390900" y="44069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0" name="C160"/>
          <p:cNvSpPr/>
          <p:nvPr/>
        </p:nvSpPr>
        <p:spPr>
          <a:xfrm>
            <a:off x="3390900" y="4711700"/>
            <a:ext cx="127000" cy="1270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61" name="C161"/>
          <p:cNvSpPr/>
          <p:nvPr/>
        </p:nvSpPr>
        <p:spPr>
          <a:xfrm>
            <a:off x="5003800" y="43942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2" name="C162"/>
          <p:cNvSpPr/>
          <p:nvPr/>
        </p:nvSpPr>
        <p:spPr>
          <a:xfrm>
            <a:off x="5003800" y="46990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3" name="C163"/>
          <p:cNvSpPr/>
          <p:nvPr/>
        </p:nvSpPr>
        <p:spPr>
          <a:xfrm>
            <a:off x="6629400" y="43942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4" name="C164"/>
          <p:cNvSpPr/>
          <p:nvPr/>
        </p:nvSpPr>
        <p:spPr>
          <a:xfrm>
            <a:off x="6629400" y="46990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5" name="C165"/>
          <p:cNvSpPr/>
          <p:nvPr/>
        </p:nvSpPr>
        <p:spPr>
          <a:xfrm>
            <a:off x="8255000" y="43942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6" name="C166"/>
          <p:cNvSpPr/>
          <p:nvPr/>
        </p:nvSpPr>
        <p:spPr>
          <a:xfrm>
            <a:off x="8255000" y="46990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7" name="C167"/>
          <p:cNvSpPr/>
          <p:nvPr/>
        </p:nvSpPr>
        <p:spPr>
          <a:xfrm>
            <a:off x="9880600" y="4394200"/>
            <a:ext cx="152400" cy="1524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8" name="C168"/>
          <p:cNvSpPr/>
          <p:nvPr/>
        </p:nvSpPr>
        <p:spPr>
          <a:xfrm>
            <a:off x="9880600" y="4699000"/>
            <a:ext cx="152400" cy="1524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9" name="C169"/>
          <p:cNvSpPr/>
          <p:nvPr/>
        </p:nvSpPr>
        <p:spPr>
          <a:xfrm>
            <a:off x="1016000" y="5156200"/>
            <a:ext cx="127000" cy="127000"/>
          </a:xfrm>
          <a:prstGeom prst="ellipse">
            <a:avLst/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0" name="T170"/>
          <p:cNvSpPr txBox="1"/>
          <p:nvPr/>
        </p:nvSpPr>
        <p:spPr>
          <a:xfrm>
            <a:off x="1193800" y="5130800"/>
            <a:ext cx="1016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463443"/>
                </a:solidFill>
                <a:latin typeface="Avenir Next LT Pro"/>
              </a:rPr>
              <a:t>Adam</a:t>
            </a:r>
          </a:p>
        </p:txBody>
      </p:sp>
      <p:sp>
        <p:nvSpPr>
          <p:cNvPr id="171" name="C171"/>
          <p:cNvSpPr/>
          <p:nvPr/>
        </p:nvSpPr>
        <p:spPr>
          <a:xfrm>
            <a:off x="2286000" y="5156200"/>
            <a:ext cx="127000" cy="127000"/>
          </a:xfrm>
          <a:prstGeom prst="ellipse">
            <a:avLst/>
          </a:prstGeom>
          <a:solidFill>
            <a:srgbClr val="BF873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2" name="T172"/>
          <p:cNvSpPr txBox="1"/>
          <p:nvPr/>
        </p:nvSpPr>
        <p:spPr>
          <a:xfrm>
            <a:off x="2463800" y="5130800"/>
            <a:ext cx="1016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463443"/>
                </a:solidFill>
                <a:latin typeface="Avenir Next LT Pro"/>
              </a:rPr>
              <a:t>SGD</a:t>
            </a:r>
          </a:p>
        </p:txBody>
      </p:sp>
      <p:sp>
        <p:nvSpPr>
          <p:cNvPr id="173" name="C173"/>
          <p:cNvSpPr/>
          <p:nvPr/>
        </p:nvSpPr>
        <p:spPr>
          <a:xfrm>
            <a:off x="3314700" y="5168900"/>
            <a:ext cx="101600" cy="101600"/>
          </a:xfrm>
          <a:prstGeom prst="ellipse">
            <a:avLst/>
          </a:prstGeom>
          <a:noFill/>
          <a:ln w="6350">
            <a:solidFill>
              <a:srgbClr val="D0CCC4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74" name="T174"/>
          <p:cNvSpPr txBox="1"/>
          <p:nvPr/>
        </p:nvSpPr>
        <p:spPr>
          <a:xfrm>
            <a:off x="3492500" y="5130800"/>
            <a:ext cx="127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999999"/>
                </a:solidFill>
                <a:latin typeface="Avenir Next LT Pro"/>
              </a:rPr>
              <a:t>Not tested</a:t>
            </a:r>
          </a:p>
        </p:txBody>
      </p:sp>
      <p:sp>
        <p:nvSpPr>
          <p:cNvPr id="175" name="R175"/>
          <p:cNvSpPr/>
          <p:nvPr/>
        </p:nvSpPr>
        <p:spPr>
          <a:xfrm>
            <a:off x="9906000" y="5092700"/>
            <a:ext cx="1397000" cy="254000"/>
          </a:xfrm>
          <a:prstGeom prst="roundRect">
            <a:avLst>
              <a:gd name="adj" fmla="val 3000"/>
            </a:avLst>
          </a:prstGeom>
          <a:solidFill>
            <a:srgbClr val="D45E5E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76" name="T176"/>
          <p:cNvSpPr txBox="1"/>
          <p:nvPr/>
        </p:nvSpPr>
        <p:spPr>
          <a:xfrm>
            <a:off x="9906000" y="5105400"/>
            <a:ext cx="1397000" cy="2286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Georgia Pro Semibold"/>
              </a:rPr>
              <a:t>30 experiments</a:t>
            </a:r>
          </a:p>
        </p:txBody>
      </p:sp>
      <p:sp>
        <p:nvSpPr>
          <p:cNvPr id="177" name="T177"/>
          <p:cNvSpPr txBox="1"/>
          <p:nvPr/>
        </p:nvSpPr>
        <p:spPr>
          <a:xfrm>
            <a:off x="825500" y="5359400"/>
            <a:ext cx="6350000" cy="1778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en-US" sz="850" dirty="0">
                <a:solidFill>
                  <a:srgbClr val="8F6B8A"/>
                </a:solidFill>
                <a:latin typeface="Avenir Next LT Pro"/>
              </a:rPr>
              <a:t>Each experiment runs on all 10 test functions → 300 total training runs</a:t>
            </a:r>
          </a:p>
        </p:txBody>
      </p:sp>
      <p:sp>
        <p:nvSpPr>
          <p:cNvPr id="200" name="F200"/>
          <p:cNvSpPr txBox="1"/>
          <p:nvPr/>
        </p:nvSpPr>
        <p:spPr>
          <a:xfrm>
            <a:off x="2133600" y="22860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D45E5E"/>
                </a:solidFill>
                <a:latin typeface="Georgia Pro Semibold"/>
              </a:rPr>
              <a:t>A</a:t>
            </a:r>
          </a:p>
        </p:txBody>
      </p:sp>
      <p:sp>
        <p:nvSpPr>
          <p:cNvPr id="201" name="F201"/>
          <p:cNvSpPr txBox="1"/>
          <p:nvPr/>
        </p:nvSpPr>
        <p:spPr>
          <a:xfrm>
            <a:off x="2133600" y="25908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BF873A"/>
                </a:solidFill>
                <a:latin typeface="Georgia Pro Semibold"/>
              </a:rPr>
              <a:t>S</a:t>
            </a:r>
          </a:p>
        </p:txBody>
      </p:sp>
      <p:sp>
        <p:nvSpPr>
          <p:cNvPr id="202" name="F202"/>
          <p:cNvSpPr txBox="1"/>
          <p:nvPr/>
        </p:nvSpPr>
        <p:spPr>
          <a:xfrm>
            <a:off x="2133600" y="29718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D45E5E"/>
                </a:solidFill>
                <a:latin typeface="Georgia Pro Semibold"/>
              </a:rPr>
              <a:t>A</a:t>
            </a:r>
          </a:p>
        </p:txBody>
      </p:sp>
      <p:sp>
        <p:nvSpPr>
          <p:cNvPr id="203" name="F203"/>
          <p:cNvSpPr txBox="1"/>
          <p:nvPr/>
        </p:nvSpPr>
        <p:spPr>
          <a:xfrm>
            <a:off x="2133600" y="32766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BF873A"/>
                </a:solidFill>
                <a:latin typeface="Georgia Pro Semibold"/>
              </a:rPr>
              <a:t>S</a:t>
            </a:r>
          </a:p>
        </p:txBody>
      </p:sp>
      <p:sp>
        <p:nvSpPr>
          <p:cNvPr id="204" name="F204"/>
          <p:cNvSpPr txBox="1"/>
          <p:nvPr/>
        </p:nvSpPr>
        <p:spPr>
          <a:xfrm>
            <a:off x="2133600" y="36576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D45E5E"/>
                </a:solidFill>
                <a:latin typeface="Georgia Pro Semibold"/>
              </a:rPr>
              <a:t>A</a:t>
            </a:r>
          </a:p>
        </p:txBody>
      </p:sp>
      <p:sp>
        <p:nvSpPr>
          <p:cNvPr id="205" name="F205"/>
          <p:cNvSpPr txBox="1"/>
          <p:nvPr/>
        </p:nvSpPr>
        <p:spPr>
          <a:xfrm>
            <a:off x="2133600" y="39624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BF873A"/>
                </a:solidFill>
                <a:latin typeface="Georgia Pro Semibold"/>
              </a:rPr>
              <a:t>S</a:t>
            </a:r>
          </a:p>
        </p:txBody>
      </p:sp>
      <p:sp>
        <p:nvSpPr>
          <p:cNvPr id="206" name="F206"/>
          <p:cNvSpPr txBox="1"/>
          <p:nvPr/>
        </p:nvSpPr>
        <p:spPr>
          <a:xfrm>
            <a:off x="2133600" y="43434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D45E5E"/>
                </a:solidFill>
                <a:latin typeface="Georgia Pro Semibold"/>
              </a:rPr>
              <a:t>A</a:t>
            </a:r>
          </a:p>
        </p:txBody>
      </p:sp>
      <p:sp>
        <p:nvSpPr>
          <p:cNvPr id="207" name="F207"/>
          <p:cNvSpPr txBox="1"/>
          <p:nvPr/>
        </p:nvSpPr>
        <p:spPr>
          <a:xfrm>
            <a:off x="2133600" y="4648200"/>
            <a:ext cx="44450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800" b="1" dirty="0">
                <a:solidFill>
                  <a:srgbClr val="BF873A"/>
                </a:solidFill>
                <a:latin typeface="Georgia Pro Semibold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1029239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C0CAB-FA64-A324-57CF-A31517A87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AUROC Evaluation: Binary Classification Setup</a:t>
            </a:r>
          </a:p>
        </p:txBody>
      </p:sp>
    </p:spTree>
    <p:extLst>
      <p:ext uri="{BB962C8B-B14F-4D97-AF65-F5344CB8AC3E}">
        <p14:creationId xmlns:p14="http://schemas.microsoft.com/office/powerpoint/2010/main" val="5135757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4EA474-2B02-4911-C84E-CECCE985CA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Experimental Results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B5BAA76-3A40-5C4D-9D2E-8F0C584E174F}"/>
              </a:ext>
            </a:extLst>
          </p:cNvPr>
          <p:cNvSpPr txBox="1"/>
          <p:nvPr/>
        </p:nvSpPr>
        <p:spPr>
          <a:xfrm>
            <a:off x="520700" y="2527300"/>
            <a:ext cx="10083800" cy="3810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>
              <a:buNone/>
            </a:pPr>
            <a:r>
              <a:rPr lang="en-US" sz="1600" b="1" dirty="0">
                <a:solidFill>
                  <a:srgbClr val="D45E5E"/>
                </a:solidFill>
              </a:rPr>
              <a:t>Key Findings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[INSERT: key result 1 — e.g., interaction recovery accuracy by regularization type]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[INSERT: key result 2 — e.g., stability comparison across conditions]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[INSERT: key result 3 — e.g., optimizer impact on convergence trajectory]</a:t>
            </a:r>
          </a:p>
          <a:p>
            <a:pPr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D45E5E"/>
                </a:solidFill>
              </a:rPr>
              <a:t>Visualizations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[INSERT: training curves, interaction recovery plots, or comparison tables as images]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[Consider splitting results across 2–3 slides with one chart per slide for clarity]</a:t>
            </a:r>
          </a:p>
        </p:txBody>
      </p:sp>
    </p:spTree>
    <p:extLst>
      <p:ext uri="{BB962C8B-B14F-4D97-AF65-F5344CB8AC3E}">
        <p14:creationId xmlns:p14="http://schemas.microsoft.com/office/powerpoint/2010/main" val="1814954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A1D05-7CEC-D97C-D772-646F954C0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Methods &amp; Algorithms (Details)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31925-59B5-A52B-D5A4-736A753B11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600" b="1" dirty="0">
                <a:solidFill>
                  <a:srgbClr val="D45E5E"/>
                </a:solidFill>
              </a:rPr>
              <a:t>MLP Architecture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[Describe network architecture: layers, hidden units, activation functions]</a:t>
            </a:r>
          </a:p>
          <a:p>
            <a:pPr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D45E5E"/>
                </a:solidFill>
              </a:rPr>
              <a:t>Interaction Detection Method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[How interactions are measured: weight-based, gradient-based, or other]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[Ground truth definition and comparison metric (e.g., Jaccard, precision/recall)]</a:t>
            </a:r>
          </a:p>
          <a:p>
            <a:pPr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D45E5E"/>
                </a:solidFill>
              </a:rPr>
              <a:t>Experimental Factors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[Regularization: Dropout rates, L2 lambda values tested]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[Input noise: Gaussian noise levels and injection strategy]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[Optimizers: Adam vs. SGD configurations and learning rates]</a:t>
            </a:r>
          </a:p>
        </p:txBody>
      </p:sp>
    </p:spTree>
    <p:extLst>
      <p:ext uri="{BB962C8B-B14F-4D97-AF65-F5344CB8AC3E}">
        <p14:creationId xmlns:p14="http://schemas.microsoft.com/office/powerpoint/2010/main" val="42531927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2D22B-E503-F0AA-2AF5-436544A7E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Hypotheses &amp; Testing Strategy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FC38CB-C39B-695E-2987-466512C64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600" b="1" dirty="0">
                <a:solidFill>
                  <a:srgbClr val="D45E5E"/>
                </a:solidFill>
              </a:rPr>
              <a:t>H1: Regularization Effect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[e.g., L2 regularization improves interaction recovery stability compared to unregularized training]</a:t>
            </a:r>
          </a:p>
          <a:p>
            <a:pPr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D45E5E"/>
                </a:solidFill>
              </a:rPr>
              <a:t>H2: Input Noise Effect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[e.g., Gaussian input noise delays but ultimately improves interaction detection accuracy]</a:t>
            </a:r>
          </a:p>
          <a:p>
            <a:pPr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D45E5E"/>
                </a:solidFill>
              </a:rPr>
              <a:t>H3: Optimizer Influence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[e.g., Adam produces faster but less stable interaction recovery than SGD]</a:t>
            </a:r>
          </a:p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D45E5E"/>
                </a:solidFill>
              </a:rPr>
              <a:t>Testing Strategy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[Evaluation metrics: precision, recall, F1 vs. ground truth at each training epoch]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[Statistical tests for stability: variance across seeds, convergence rate analysis]</a:t>
            </a:r>
          </a:p>
        </p:txBody>
      </p:sp>
    </p:spTree>
    <p:extLst>
      <p:ext uri="{BB962C8B-B14F-4D97-AF65-F5344CB8AC3E}">
        <p14:creationId xmlns:p14="http://schemas.microsoft.com/office/powerpoint/2010/main" val="20756191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77ACB-3A9B-6B16-257D-3252A82A3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9C76B-8A7C-1C3E-553D-4730416E73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600" b="1" dirty="0">
                <a:solidFill>
                  <a:srgbClr val="D45E5E"/>
                </a:solidFill>
              </a:rPr>
              <a:t>Completed</a:t>
            </a:r>
          </a:p>
          <a:p>
            <a:pPr marL="228600" indent="-228600">
              <a:spcBef>
                <a:spcPts val="200"/>
              </a:spcBef>
              <a:buFont typeface="Arial"/>
              <a:buChar char="✓"/>
            </a:pPr>
            <a:r>
              <a:rPr lang="en-US" sz="1400" dirty="0">
                <a:solidFill>
                  <a:srgbClr val="558B2F"/>
                </a:solidFill>
              </a:rPr>
              <a:t>[Literature review and problem formulation]</a:t>
            </a:r>
          </a:p>
          <a:p>
            <a:pPr marL="228600" indent="-228600">
              <a:spcBef>
                <a:spcPts val="200"/>
              </a:spcBef>
              <a:buFont typeface="Arial"/>
              <a:buChar char="✓"/>
            </a:pPr>
            <a:r>
              <a:rPr lang="en-US" sz="1400" dirty="0">
                <a:solidFill>
                  <a:srgbClr val="558B2F"/>
                </a:solidFill>
              </a:rPr>
              <a:t>[Data generation / dataset preparation with known ground truth]</a:t>
            </a:r>
          </a:p>
          <a:p>
            <a:pPr marL="228600" indent="-228600">
              <a:spcBef>
                <a:spcPts val="200"/>
              </a:spcBef>
              <a:buFont typeface="Arial"/>
              <a:buChar char="✓"/>
            </a:pPr>
            <a:r>
              <a:rPr lang="en-US" sz="1400" dirty="0">
                <a:solidFill>
                  <a:srgbClr val="558B2F"/>
                </a:solidFill>
              </a:rPr>
              <a:t>[MLP training pipeline with configurable regularization]</a:t>
            </a:r>
          </a:p>
          <a:p>
            <a:pPr marL="228600" indent="-228600">
              <a:spcBef>
                <a:spcPts val="200"/>
              </a:spcBef>
              <a:buFont typeface="Arial"/>
              <a:buChar char="✓"/>
            </a:pPr>
            <a:r>
              <a:rPr lang="en-US" sz="1400" dirty="0">
                <a:solidFill>
                  <a:srgbClr val="558B2F"/>
                </a:solidFill>
              </a:rPr>
              <a:t>[Initial experiments run across regularization conditions]</a:t>
            </a:r>
          </a:p>
          <a:p>
            <a:pPr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D45E5E"/>
                </a:solidFill>
              </a:rPr>
              <a:t>In Progress</a:t>
            </a:r>
          </a:p>
          <a:p>
            <a:pPr marL="228600" indent="-228600">
              <a:spcBef>
                <a:spcPts val="200"/>
              </a:spcBef>
              <a:buFont typeface="Arial"/>
              <a:buChar char="▶"/>
            </a:pPr>
            <a:r>
              <a:rPr lang="en-US" sz="1400" dirty="0">
                <a:solidFill>
                  <a:srgbClr val="BF873A"/>
                </a:solidFill>
              </a:rPr>
              <a:t>[Analyzing interaction recovery trajectories over training epochs]</a:t>
            </a:r>
          </a:p>
          <a:p>
            <a:pPr marL="228600" indent="-228600">
              <a:spcBef>
                <a:spcPts val="200"/>
              </a:spcBef>
              <a:buFont typeface="Arial"/>
              <a:buChar char="▶"/>
            </a:pPr>
            <a:r>
              <a:rPr lang="en-US" sz="1400" dirty="0">
                <a:solidFill>
                  <a:srgbClr val="BF873A"/>
                </a:solidFill>
              </a:rPr>
              <a:t>[Comparing stability metrics across experimental conditions]</a:t>
            </a:r>
          </a:p>
        </p:txBody>
      </p:sp>
    </p:spTree>
    <p:extLst>
      <p:ext uri="{BB962C8B-B14F-4D97-AF65-F5344CB8AC3E}">
        <p14:creationId xmlns:p14="http://schemas.microsoft.com/office/powerpoint/2010/main" val="30205691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A69AD-EE18-79A5-718B-FA9102828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Thesis / Next 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2B809F-18F0-D3BF-A2F5-D3D6F44FCD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sz="1600" b="1" dirty="0">
                <a:solidFill>
                  <a:srgbClr val="D45E5E"/>
                </a:solidFill>
              </a:rPr>
              <a:t>Remaining Work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[Additional experiments or ablation studies planned]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[Writing: chapters remaining, analysis to formalize]</a:t>
            </a:r>
          </a:p>
          <a:p>
            <a:pPr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D45E5E"/>
                </a:solidFill>
              </a:rPr>
              <a:t>Timeline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[Week X–Y: Complete remaining experiments]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[Week Y–Z: Analysis and results writing]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[Week Z+: Draft review and final submission]</a:t>
            </a:r>
          </a:p>
          <a:p>
            <a:pPr>
              <a:spcBef>
                <a:spcPts val="400"/>
              </a:spcBef>
              <a:buNone/>
            </a:pPr>
            <a:r>
              <a:rPr lang="en-US" sz="1600" b="1" dirty="0">
                <a:solidFill>
                  <a:srgbClr val="D45E5E"/>
                </a:solidFill>
              </a:rPr>
              <a:t>Potential Risks</a:t>
            </a:r>
          </a:p>
          <a:p>
            <a:pPr marL="228600" indent="-228600">
              <a:spcBef>
                <a:spcPts val="200"/>
              </a:spcBef>
              <a:buFont typeface="Arial"/>
              <a:buChar char="•"/>
            </a:pPr>
            <a:r>
              <a:rPr lang="en-US" sz="1400" dirty="0"/>
              <a:t>[Computational constraints, inconclusive results, or scope adjustments]</a:t>
            </a:r>
          </a:p>
        </p:txBody>
      </p:sp>
    </p:spTree>
    <p:extLst>
      <p:ext uri="{BB962C8B-B14F-4D97-AF65-F5344CB8AC3E}">
        <p14:creationId xmlns:p14="http://schemas.microsoft.com/office/powerpoint/2010/main" val="30665165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BF79A-823C-C3DD-6CFF-BEEBC6EEFD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Bibliography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158B78-7679-2C1D-7DF4-B617068E0D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i="0" dirty="0">
                <a:solidFill>
                  <a:srgbClr val="FF0000"/>
                </a:solidFill>
                <a:effectLst/>
                <a:latin typeface="Google Sans Text"/>
              </a:rPr>
              <a:t>[1 ]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 @</a:t>
            </a:r>
            <a:r>
              <a:rPr lang="en-US" sz="1800" dirty="0" err="1">
                <a:effectLst/>
                <a:latin typeface="Times New Roman" panose="02020603050405020304" pitchFamily="18" charset="0"/>
              </a:rPr>
              <a:t>misc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{Enouen_Liu_2022, title={Sparse interaction additive networks via feature interaction detection and sparse selection}, </a:t>
            </a:r>
            <a:r>
              <a:rPr lang="en-US" sz="1800" dirty="0" err="1">
                <a:effectLst/>
                <a:latin typeface="Times New Roman" panose="02020603050405020304" pitchFamily="18" charset="0"/>
              </a:rPr>
              <a:t>url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={https://</a:t>
            </a:r>
            <a:r>
              <a:rPr lang="en-US" sz="1800" dirty="0" err="1">
                <a:effectLst/>
                <a:latin typeface="Times New Roman" panose="02020603050405020304" pitchFamily="18" charset="0"/>
              </a:rPr>
              <a:t>arxiv.org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/abs/2209.09326}, journal={</a:t>
            </a:r>
            <a:r>
              <a:rPr lang="en-US" sz="1800" dirty="0" err="1">
                <a:effectLst/>
                <a:latin typeface="Times New Roman" panose="02020603050405020304" pitchFamily="18" charset="0"/>
              </a:rPr>
              <a:t>arXiv.org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}, author={</a:t>
            </a:r>
            <a:r>
              <a:rPr lang="en-US" sz="1800" dirty="0" err="1">
                <a:effectLst/>
                <a:latin typeface="Times New Roman" panose="02020603050405020304" pitchFamily="18" charset="0"/>
              </a:rPr>
              <a:t>Enouen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, James and Liu, Yan}, year={2022}, month=</a:t>
            </a:r>
            <a:r>
              <a:rPr lang="en-US" sz="1800" dirty="0" err="1">
                <a:effectLst/>
                <a:latin typeface="Times New Roman" panose="02020603050405020304" pitchFamily="18" charset="0"/>
              </a:rPr>
              <a:t>sep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 }</a:t>
            </a:r>
            <a:endParaRPr lang="en-US" b="1" i="0" dirty="0">
              <a:solidFill>
                <a:srgbClr val="FF0000"/>
              </a:solidFill>
              <a:effectLst/>
              <a:latin typeface="Google Sans Text"/>
            </a:endParaRPr>
          </a:p>
          <a:p>
            <a:r>
              <a:rPr lang="en-US" b="1" dirty="0">
                <a:solidFill>
                  <a:srgbClr val="FF0000"/>
                </a:solidFill>
                <a:latin typeface="Google Sans Text"/>
              </a:rPr>
              <a:t>[2] 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@</a:t>
            </a:r>
            <a:r>
              <a:rPr lang="en-US" sz="1800" dirty="0" err="1">
                <a:effectLst/>
                <a:latin typeface="Times New Roman" panose="02020603050405020304" pitchFamily="18" charset="0"/>
              </a:rPr>
              <a:t>misc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{Wong_Wang_Hryniowski_2020, title={How much can we really trust you? towards simple, interpretable trust quantification metrics for deep neural networks}, </a:t>
            </a:r>
            <a:r>
              <a:rPr lang="en-US" sz="1800" dirty="0" err="1">
                <a:effectLst/>
                <a:latin typeface="Times New Roman" panose="02020603050405020304" pitchFamily="18" charset="0"/>
              </a:rPr>
              <a:t>url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={https://</a:t>
            </a:r>
            <a:r>
              <a:rPr lang="en-US" sz="1800" dirty="0" err="1">
                <a:effectLst/>
                <a:latin typeface="Times New Roman" panose="02020603050405020304" pitchFamily="18" charset="0"/>
              </a:rPr>
              <a:t>arxiv.org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/abs/2009.05835}, journal={</a:t>
            </a:r>
            <a:r>
              <a:rPr lang="en-US" sz="1800" dirty="0" err="1">
                <a:effectLst/>
                <a:latin typeface="Times New Roman" panose="02020603050405020304" pitchFamily="18" charset="0"/>
              </a:rPr>
              <a:t>arXiv.org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}, author={Wong, Alexander and Wang, Xiao Yu and </a:t>
            </a:r>
            <a:r>
              <a:rPr lang="en-US" sz="1800" dirty="0" err="1">
                <a:effectLst/>
                <a:latin typeface="Times New Roman" panose="02020603050405020304" pitchFamily="18" charset="0"/>
              </a:rPr>
              <a:t>Hryniowski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, Andrew}, year={2020}, month=</a:t>
            </a:r>
            <a:r>
              <a:rPr lang="en-US" sz="1800" dirty="0" err="1">
                <a:effectLst/>
                <a:latin typeface="Times New Roman" panose="02020603050405020304" pitchFamily="18" charset="0"/>
              </a:rPr>
              <a:t>sep</a:t>
            </a:r>
            <a:r>
              <a:rPr lang="en-US" sz="1800" dirty="0">
                <a:effectLst/>
                <a:latin typeface="Times New Roman" panose="02020603050405020304" pitchFamily="18" charset="0"/>
              </a:rPr>
              <a:t> }</a:t>
            </a:r>
          </a:p>
          <a:p>
            <a:r>
              <a:rPr lang="en-US" sz="1600" dirty="0"/>
              <a:t>Tsang, M., Cheng, D., &amp; Liu, Y. (2018). </a:t>
            </a:r>
            <a:r>
              <a:rPr lang="en-US" sz="1600" i="1" dirty="0"/>
              <a:t>Detecting statistical interactions from neural network weights</a:t>
            </a:r>
            <a:r>
              <a:rPr lang="en-US" sz="1600" dirty="0"/>
              <a:t>. International Conference on Learning Representations.</a:t>
            </a:r>
          </a:p>
          <a:p>
            <a:r>
              <a:rPr lang="en-US" sz="1600" dirty="0"/>
              <a:t>van </a:t>
            </a:r>
            <a:r>
              <a:rPr lang="en-US" sz="1600" dirty="0" err="1"/>
              <a:t>Hilten</a:t>
            </a:r>
            <a:r>
              <a:rPr lang="en-US" sz="1600" dirty="0"/>
              <a:t>, A., </a:t>
            </a:r>
            <a:r>
              <a:rPr lang="en-US" sz="1600" dirty="0" err="1"/>
              <a:t>Melograna</a:t>
            </a:r>
            <a:r>
              <a:rPr lang="en-US" sz="1600" dirty="0"/>
              <a:t>, F., Fan, B., </a:t>
            </a:r>
            <a:r>
              <a:rPr lang="en-US" sz="1600" dirty="0" err="1"/>
              <a:t>Niessen</a:t>
            </a:r>
            <a:r>
              <a:rPr lang="en-US" sz="1600" dirty="0"/>
              <a:t>, W., van Steen, K., &amp; </a:t>
            </a:r>
            <a:r>
              <a:rPr lang="en-US" sz="1600" dirty="0" err="1"/>
              <a:t>Roshchupkin</a:t>
            </a:r>
            <a:r>
              <a:rPr lang="en-US" sz="1600" dirty="0"/>
              <a:t>, G. V. (2025). </a:t>
            </a:r>
            <a:r>
              <a:rPr lang="en-US" sz="1600" i="1" dirty="0"/>
              <a:t>Detecting genetic interactions with visible neural networks</a:t>
            </a:r>
            <a:r>
              <a:rPr lang="en-US" sz="1600" dirty="0"/>
              <a:t>. </a:t>
            </a:r>
            <a:r>
              <a:rPr lang="en-US" sz="1600" i="1" dirty="0"/>
              <a:t>Communications Biology, 8</a:t>
            </a:r>
            <a:r>
              <a:rPr lang="en-US" sz="1600" dirty="0"/>
              <a:t>, Article 874. </a:t>
            </a:r>
            <a:r>
              <a:rPr lang="en-US" sz="1600" dirty="0">
                <a:hlinkClick r:id="rId2"/>
              </a:rPr>
              <a:t>https://doi.org/10.1038/s42003-025-08157-x</a:t>
            </a:r>
            <a:endParaRPr lang="en-US" sz="1600" dirty="0"/>
          </a:p>
          <a:p>
            <a:r>
              <a:rPr lang="en-US" sz="1400" dirty="0"/>
              <a:t>Liu, Z., Song, Q., Zhou, K., Wang, T.-H., Shan, Y., &amp; Hu, X. (2020). </a:t>
            </a:r>
            <a:r>
              <a:rPr lang="en-US" sz="1400" i="1" dirty="0"/>
              <a:t>Towards interaction detection using topological analysis on neural networks</a:t>
            </a:r>
            <a:r>
              <a:rPr lang="en-US" sz="1400" dirty="0"/>
              <a:t>. </a:t>
            </a:r>
            <a:r>
              <a:rPr lang="en-US" sz="1400" i="1" dirty="0"/>
              <a:t>Advances in Neural Information Processing Systems 33</a:t>
            </a:r>
            <a:r>
              <a:rPr lang="en-US" sz="1400" dirty="0"/>
              <a:t>.</a:t>
            </a:r>
          </a:p>
          <a:p>
            <a:r>
              <a:rPr lang="en-US" sz="1200" dirty="0"/>
              <a:t>Srivastava, N., Hinton, G., </a:t>
            </a:r>
            <a:r>
              <a:rPr lang="en-US" sz="1200" dirty="0" err="1"/>
              <a:t>Krizhevsky</a:t>
            </a:r>
            <a:r>
              <a:rPr lang="en-US" sz="1200" dirty="0"/>
              <a:t>, A., </a:t>
            </a:r>
            <a:r>
              <a:rPr lang="en-US" sz="1200" dirty="0" err="1"/>
              <a:t>Sutskever</a:t>
            </a:r>
            <a:r>
              <a:rPr lang="en-US" sz="1200" dirty="0"/>
              <a:t>, I., &amp; </a:t>
            </a:r>
            <a:r>
              <a:rPr lang="en-US" sz="1200" dirty="0" err="1"/>
              <a:t>Salakhutdinov</a:t>
            </a:r>
            <a:r>
              <a:rPr lang="en-US" sz="1200" dirty="0"/>
              <a:t>, R. (2014). </a:t>
            </a:r>
            <a:r>
              <a:rPr lang="en-US" sz="1200" i="1" dirty="0"/>
              <a:t>Dropout: A simple way to prevent neural networks from overfitting</a:t>
            </a:r>
            <a:r>
              <a:rPr lang="en-US" sz="1200" dirty="0"/>
              <a:t>. </a:t>
            </a:r>
            <a:r>
              <a:rPr lang="en-US" sz="1200" b="1" dirty="0"/>
              <a:t>Journal of Machine Learning Research, 15</a:t>
            </a:r>
            <a:r>
              <a:rPr lang="en-US" sz="1200" dirty="0"/>
              <a:t>, 1929–1958.</a:t>
            </a:r>
          </a:p>
          <a:p>
            <a:r>
              <a:rPr lang="en-US" sz="1200" dirty="0"/>
              <a:t>Goodfellow, I., Bengio, Y., &amp; Courville, A. (2016). </a:t>
            </a:r>
            <a:r>
              <a:rPr lang="en-US" sz="1200" i="1" dirty="0"/>
              <a:t>Deep learning</a:t>
            </a:r>
            <a:r>
              <a:rPr lang="en-US" sz="1200" dirty="0"/>
              <a:t>. MIT Press.</a:t>
            </a:r>
          </a:p>
          <a:p>
            <a:r>
              <a:rPr lang="en-US" sz="1200" dirty="0" err="1"/>
              <a:t>Lengerich</a:t>
            </a:r>
            <a:r>
              <a:rPr lang="en-US" sz="1200" dirty="0"/>
              <a:t>, B. J., Xing, E. P., &amp; Caruana, R. (2022). </a:t>
            </a:r>
            <a:r>
              <a:rPr lang="en-US" sz="1200" i="1" dirty="0"/>
              <a:t>Dropout as a </a:t>
            </a:r>
            <a:r>
              <a:rPr lang="en-US" sz="1200" i="1" dirty="0" err="1"/>
              <a:t>regularizer</a:t>
            </a:r>
            <a:r>
              <a:rPr lang="en-US" sz="1200" i="1" dirty="0"/>
              <a:t> of interaction effects</a:t>
            </a:r>
            <a:r>
              <a:rPr lang="en-US" sz="1200" dirty="0"/>
              <a:t>. In </a:t>
            </a:r>
            <a:r>
              <a:rPr lang="en-US" sz="1200" i="1" dirty="0"/>
              <a:t>Proceedings of the 25th International Conference on Artificial Intelligence and Statistics</a:t>
            </a:r>
            <a:r>
              <a:rPr lang="en-US" sz="1200" dirty="0"/>
              <a:t>. PMLR</a:t>
            </a:r>
            <a:endParaRPr lang="en-US" sz="1600" dirty="0"/>
          </a:p>
          <a:p>
            <a:endParaRPr lang="en-US" sz="1800" dirty="0">
              <a:effectLst/>
              <a:latin typeface="Times New Roman" panose="02020603050405020304" pitchFamily="18" charset="0"/>
            </a:endParaRPr>
          </a:p>
          <a:p>
            <a:endParaRPr lang="en-US" b="1" i="0" dirty="0">
              <a:solidFill>
                <a:srgbClr val="FF0000"/>
              </a:solidFill>
              <a:effectLst/>
              <a:latin typeface="Google Sans Text"/>
            </a:endParaRPr>
          </a:p>
          <a:p>
            <a:pPr marL="457200" indent="-457200">
              <a:buAutoNum type="arabicPeriod"/>
            </a:pP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4135331"/>
      </p:ext>
    </p:extLst>
  </p:cSld>
  <p:clrMapOvr>
    <a:masterClrMapping/>
  </p:clrMapOvr>
</p:sld>
</file>

<file path=ppt/theme/theme1.xml><?xml version="1.0" encoding="utf-8"?>
<a:theme xmlns:a="http://schemas.openxmlformats.org/drawingml/2006/main" name="RocaVTI">
  <a:themeElements>
    <a:clrScheme name="Custom 101">
      <a:dk1>
        <a:sysClr val="windowText" lastClr="000000"/>
      </a:dk1>
      <a:lt1>
        <a:sysClr val="window" lastClr="FFFFFF"/>
      </a:lt1>
      <a:dk2>
        <a:srgbClr val="463443"/>
      </a:dk2>
      <a:lt2>
        <a:srgbClr val="F3F0E9"/>
      </a:lt2>
      <a:accent1>
        <a:srgbClr val="D45E5E"/>
      </a:accent1>
      <a:accent2>
        <a:srgbClr val="D49D8C"/>
      </a:accent2>
      <a:accent3>
        <a:srgbClr val="BF873A"/>
      </a:accent3>
      <a:accent4>
        <a:srgbClr val="C05050"/>
      </a:accent4>
      <a:accent5>
        <a:srgbClr val="A89F68"/>
      </a:accent5>
      <a:accent6>
        <a:srgbClr val="8F6B8A"/>
      </a:accent6>
      <a:hlink>
        <a:srgbClr val="D75681"/>
      </a:hlink>
      <a:folHlink>
        <a:srgbClr val="6C9D92"/>
      </a:folHlink>
    </a:clrScheme>
    <a:fontScheme name="Custom 36">
      <a:majorFont>
        <a:latin typeface="Georgia Pro Semibold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ocaVTI" id="{D79FE1D1-0489-4A69-8531-D0B8CDC31CBE}" vid="{CEBA7FE6-C04B-474E-964F-B022887AD13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D64530D-1953-F44E-BD7E-79F02D6E0F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8780ac03-b966-4812-a868-2e877222518a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1641</TotalTime>
  <Words>1365</Words>
  <Application>Microsoft Macintosh PowerPoint</Application>
  <PresentationFormat>Widescreen</PresentationFormat>
  <Paragraphs>168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5" baseType="lpstr">
      <vt:lpstr>Aptos</vt:lpstr>
      <vt:lpstr>Arial</vt:lpstr>
      <vt:lpstr>Avenir Next LT Pro</vt:lpstr>
      <vt:lpstr>Avenir Next LT Pro Light</vt:lpstr>
      <vt:lpstr>Georgia Pro Semibold</vt:lpstr>
      <vt:lpstr>Google Sans Text</vt:lpstr>
      <vt:lpstr>Times New Roman</vt:lpstr>
      <vt:lpstr>RocaVTI</vt:lpstr>
      <vt:lpstr>Mid-Term Presentation</vt:lpstr>
      <vt:lpstr>1 Research Question</vt:lpstr>
      <vt:lpstr>PowerPoint Presentation</vt:lpstr>
      <vt:lpstr>2 Previous Reasearch</vt:lpstr>
      <vt:lpstr>Neural interaction Detection</vt:lpstr>
      <vt:lpstr>Regularization Techniques</vt:lpstr>
      <vt:lpstr>Synthetic Data and GT Interactions</vt:lpstr>
      <vt:lpstr>2 Methodology</vt:lpstr>
      <vt:lpstr>Function 1</vt:lpstr>
      <vt:lpstr>Function 2</vt:lpstr>
      <vt:lpstr>Function 3</vt:lpstr>
      <vt:lpstr>Function 4</vt:lpstr>
      <vt:lpstr>Function 5</vt:lpstr>
      <vt:lpstr>Function 6</vt:lpstr>
      <vt:lpstr>Function 7</vt:lpstr>
      <vt:lpstr>Function 8</vt:lpstr>
      <vt:lpstr>Function 9</vt:lpstr>
      <vt:lpstr>Function 10</vt:lpstr>
      <vt:lpstr>Methods</vt:lpstr>
      <vt:lpstr>Experimental Design</vt:lpstr>
      <vt:lpstr>AUROC Evaluation: Binary Classification Setup</vt:lpstr>
      <vt:lpstr>Experimental Results</vt:lpstr>
      <vt:lpstr>Methods &amp; Algorithms (Details)</vt:lpstr>
      <vt:lpstr>Hypotheses &amp; Testing Strategy</vt:lpstr>
      <vt:lpstr>Progress So Far</vt:lpstr>
      <vt:lpstr>Plan for Thesis / Next Steps</vt:lpstr>
      <vt:lpstr>Bibliography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Edouard Dewaerheijd</dc:creator>
  <cp:lastModifiedBy>Edouard Dewaerheijd</cp:lastModifiedBy>
  <cp:revision>2</cp:revision>
  <dcterms:created xsi:type="dcterms:W3CDTF">2026-05-09T11:51:28Z</dcterms:created>
  <dcterms:modified xsi:type="dcterms:W3CDTF">2026-05-10T15:13:13Z</dcterms:modified>
</cp:coreProperties>
</file>