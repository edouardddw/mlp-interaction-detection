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27" r:id="rId1"/>
    <p:sldMasterId id="2147483839" r:id="rId2"/>
  </p:sldMasterIdLst>
  <p:sldIdLst>
    <p:sldId id="261" r:id="rId3"/>
    <p:sldId id="263" r:id="rId4"/>
    <p:sldId id="298" r:id="rId5"/>
    <p:sldId id="268" r:id="rId6"/>
    <p:sldId id="289" r:id="rId7"/>
    <p:sldId id="311" r:id="rId8"/>
    <p:sldId id="272" r:id="rId9"/>
    <p:sldId id="291" r:id="rId10"/>
    <p:sldId id="276" r:id="rId11"/>
    <p:sldId id="312" r:id="rId12"/>
    <p:sldId id="278" r:id="rId13"/>
    <p:sldId id="280" r:id="rId14"/>
    <p:sldId id="283" r:id="rId15"/>
    <p:sldId id="286" r:id="rId16"/>
    <p:sldId id="315" r:id="rId17"/>
    <p:sldId id="28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D783E0-F076-724B-A514-CE6E50FFD14C}" v="17" dt="2026-05-30T16:47:35.5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549"/>
  </p:normalViewPr>
  <p:slideViewPr>
    <p:cSldViewPr snapToGrid="0">
      <p:cViewPr varScale="1">
        <p:scale>
          <a:sx n="108" d="100"/>
          <a:sy n="108" d="100"/>
        </p:scale>
        <p:origin x="760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9F31D-C51D-BF36-0A43-F58562B694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A09F99-44E8-A620-A71E-798CB932DE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6E848-56A5-296C-B7C0-7D67D7C81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C37AC-147D-4040-9F70-1EF0307E0CB5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FA0AC7-585C-C86B-D5C1-9407C1F16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697698-F693-EE6A-170C-BE30FFFB8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3FBA0-6056-8447-BAFC-3573AE704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275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4C7CB-6BA5-3180-6606-421558CF5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5ED11-120F-98F9-8544-E028BBE029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389ECB-3135-38F9-34FB-06B4C1457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C37AC-147D-4040-9F70-1EF0307E0CB5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1BB5F-F07A-FDB7-8E6F-BD9ABE898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9EBCC-0B76-2C1C-457B-3D31B86C6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3FBA0-6056-8447-BAFC-3573AE704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607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D6BAA-CE49-2343-046D-CD27D5D97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F46242-B4DA-C0F6-98D3-043DFC944C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4B4DD-BA8E-B414-9C3D-8CDFD68C5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C37AC-147D-4040-9F70-1EF0307E0CB5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48950-DAAD-902A-84CE-A6B998943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580462-427F-FF95-A196-7794C9B22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3FBA0-6056-8447-BAFC-3573AE704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587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BAFDC-9621-1938-5CD0-ADF708B28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79F55-8A58-C552-A613-AA526A6C98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B6DE95-A226-9024-7D43-66CEACA186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6C82C3-4DEC-23C5-BB6B-4E25A6F3D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C37AC-147D-4040-9F70-1EF0307E0CB5}" type="datetimeFigureOut">
              <a:rPr lang="en-US" smtClean="0"/>
              <a:t>5/30/26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AC23D0-5A24-84A3-9A7C-77D3A59A6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1C1A51-137B-5FF6-64EB-F2C966140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3FBA0-6056-8447-BAFC-3573AE704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44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B4BBD-B9B4-3037-E3D4-A3FE814A0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B51EDA-BE1B-4158-B5DC-9C9689FA09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DBB4A4-471D-DCAE-9D79-1E3FE3DCCB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683F32-A469-397A-F151-73C72DFC37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79BC2D-B54A-1101-E75B-B301D7E335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C38D0B-42A5-BFDD-2FDD-ACE0CAE8F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C37AC-147D-4040-9F70-1EF0307E0CB5}" type="datetimeFigureOut">
              <a:rPr lang="en-US" smtClean="0"/>
              <a:t>5/30/26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42801E-BB46-F83F-C742-28A8C88A9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1B9D9B-D667-77FF-B150-9DC4A5A5B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3FBA0-6056-8447-BAFC-3573AE704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889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CEB00-C130-42A0-E8B0-3D818976C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24DDD8-B6D2-3C57-B79A-4B4C61630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C37AC-147D-4040-9F70-1EF0307E0CB5}" type="datetimeFigureOut">
              <a:rPr lang="en-US" smtClean="0"/>
              <a:t>5/30/26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5AFD2D-B884-16ED-AD1A-63D5D3BCD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A7A80B-9F47-69D1-364E-4DBA2E826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3FBA0-6056-8447-BAFC-3573AE704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204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FD80C0-8270-C7D6-6F7A-5ACF80395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C37AC-147D-4040-9F70-1EF0307E0CB5}" type="datetimeFigureOut">
              <a:rPr lang="en-US" smtClean="0"/>
              <a:t>5/30/26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420FFE-6DC6-6B4D-6D2A-54D8A77FB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004E70-FF08-8CD0-7B3A-360454DBB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3FBA0-6056-8447-BAFC-3573AE704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043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CE850-CEAD-B683-6D0E-358BF5401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B94EF8-44AA-E699-9B0B-875148F622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A70B84-7F81-5236-188E-9AE7AED192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210EB7-1B6E-FA69-9B78-677E6CEA7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C37AC-147D-4040-9F70-1EF0307E0CB5}" type="datetimeFigureOut">
              <a:rPr lang="en-US" smtClean="0"/>
              <a:t>5/30/26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20153C-1C68-A791-D1BA-1E10386C4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262B73-6ED4-D4B5-8683-28285BFE6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3FBA0-6056-8447-BAFC-3573AE704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72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FCBD5-BB90-A7CB-0C1C-586BF691E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DDAD2E-D5DD-A904-2D79-6458478C6E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938157-57BE-C184-31C4-9CDA22901E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542853-541C-1C79-08A3-D7CA1B86D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C37AC-147D-4040-9F70-1EF0307E0CB5}" type="datetimeFigureOut">
              <a:rPr lang="en-US" smtClean="0"/>
              <a:t>5/30/26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333DBE-70D4-C22A-8F23-181A4085C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F15D38-ABC6-1013-E8DF-87BA820DF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3FBA0-6056-8447-BAFC-3573AE704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79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59027-4515-0C77-797A-1649536F7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5C5593-AFD2-1510-8698-54240CB5B9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40C5C5-59D6-F4B2-76FB-9A99D19CE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C37AC-147D-4040-9F70-1EF0307E0CB5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E7675-CE67-DB02-0CCF-B21B21685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F52AD3-FA19-8018-30B5-39693550D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3FBA0-6056-8447-BAFC-3573AE704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318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3DE4A0-0CB9-4B62-88D3-9628BAB9AE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B7A667-477A-36BD-9DF7-BD22D27D66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AE9BA2-B213-5B0E-04AF-56034B5EA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C37AC-147D-4040-9F70-1EF0307E0CB5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4A57C5-D042-7B48-2F06-E82C72BAC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56153B-A1AA-45F1-6D75-CC703B56A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3FBA0-6056-8447-BAFC-3573AE704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4156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9F31D-C51D-BF36-0A43-F58562B694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A09F99-44E8-A620-A71E-798CB932DE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6E848-56A5-296C-B7C0-7D67D7C81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C37AC-147D-4040-9F70-1EF0307E0CB5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FA0AC7-585C-C86B-D5C1-9407C1F16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697698-F693-EE6A-170C-BE30FFFB8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3FBA0-6056-8447-BAFC-3573AE704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2758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4C7CB-6BA5-3180-6606-421558CF5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5ED11-120F-98F9-8544-E028BBE029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389ECB-3135-38F9-34FB-06B4C1457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C37AC-147D-4040-9F70-1EF0307E0CB5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1BB5F-F07A-FDB7-8E6F-BD9ABE898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9EBCC-0B76-2C1C-457B-3D31B86C6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3FBA0-6056-8447-BAFC-3573AE704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6078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D6BAA-CE49-2343-046D-CD27D5D97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F46242-B4DA-C0F6-98D3-043DFC944C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4B4DD-BA8E-B414-9C3D-8CDFD68C5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C37AC-147D-4040-9F70-1EF0307E0CB5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48950-DAAD-902A-84CE-A6B998943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580462-427F-FF95-A196-7794C9B22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3FBA0-6056-8447-BAFC-3573AE704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5878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BAFDC-9621-1938-5CD0-ADF708B28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79F55-8A58-C552-A613-AA526A6C98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B6DE95-A226-9024-7D43-66CEACA186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6C82C3-4DEC-23C5-BB6B-4E25A6F3D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C37AC-147D-4040-9F70-1EF0307E0CB5}" type="datetimeFigureOut">
              <a:rPr lang="en-US" smtClean="0"/>
              <a:t>5/30/26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AC23D0-5A24-84A3-9A7C-77D3A59A6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1C1A51-137B-5FF6-64EB-F2C966140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3FBA0-6056-8447-BAFC-3573AE704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441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B4BBD-B9B4-3037-E3D4-A3FE814A0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B51EDA-BE1B-4158-B5DC-9C9689FA09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DBB4A4-471D-DCAE-9D79-1E3FE3DCCB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683F32-A469-397A-F151-73C72DFC37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79BC2D-B54A-1101-E75B-B301D7E335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C38D0B-42A5-BFDD-2FDD-ACE0CAE8F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C37AC-147D-4040-9F70-1EF0307E0CB5}" type="datetimeFigureOut">
              <a:rPr lang="en-US" smtClean="0"/>
              <a:t>5/30/26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42801E-BB46-F83F-C742-28A8C88A9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1B9D9B-D667-77FF-B150-9DC4A5A5B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3FBA0-6056-8447-BAFC-3573AE704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8899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CEB00-C130-42A0-E8B0-3D818976C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24DDD8-B6D2-3C57-B79A-4B4C61630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C37AC-147D-4040-9F70-1EF0307E0CB5}" type="datetimeFigureOut">
              <a:rPr lang="en-US" smtClean="0"/>
              <a:t>5/30/26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5AFD2D-B884-16ED-AD1A-63D5D3BCD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A7A80B-9F47-69D1-364E-4DBA2E826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3FBA0-6056-8447-BAFC-3573AE704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2047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FD80C0-8270-C7D6-6F7A-5ACF80395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C37AC-147D-4040-9F70-1EF0307E0CB5}" type="datetimeFigureOut">
              <a:rPr lang="en-US" smtClean="0"/>
              <a:t>5/30/26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420FFE-6DC6-6B4D-6D2A-54D8A77FB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004E70-FF08-8CD0-7B3A-360454DBB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3FBA0-6056-8447-BAFC-3573AE704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0433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CE850-CEAD-B683-6D0E-358BF5401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B94EF8-44AA-E699-9B0B-875148F622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A70B84-7F81-5236-188E-9AE7AED192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210EB7-1B6E-FA69-9B78-677E6CEA7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C37AC-147D-4040-9F70-1EF0307E0CB5}" type="datetimeFigureOut">
              <a:rPr lang="en-US" smtClean="0"/>
              <a:t>5/30/26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20153C-1C68-A791-D1BA-1E10386C4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262B73-6ED4-D4B5-8683-28285BFE6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3FBA0-6056-8447-BAFC-3573AE704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721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FCBD5-BB90-A7CB-0C1C-586BF691E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DDAD2E-D5DD-A904-2D79-6458478C6E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938157-57BE-C184-31C4-9CDA22901E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542853-541C-1C79-08A3-D7CA1B86D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C37AC-147D-4040-9F70-1EF0307E0CB5}" type="datetimeFigureOut">
              <a:rPr lang="en-US" smtClean="0"/>
              <a:t>5/30/26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333DBE-70D4-C22A-8F23-181A4085C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F15D38-ABC6-1013-E8DF-87BA820DF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3FBA0-6056-8447-BAFC-3573AE704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794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59027-4515-0C77-797A-1649536F7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5C5593-AFD2-1510-8698-54240CB5B9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40C5C5-59D6-F4B2-76FB-9A99D19CE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C37AC-147D-4040-9F70-1EF0307E0CB5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E7675-CE67-DB02-0CCF-B21B21685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F52AD3-FA19-8018-30B5-39693550D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3FBA0-6056-8447-BAFC-3573AE704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3181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3DE4A0-0CB9-4B62-88D3-9628BAB9AE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B7A667-477A-36BD-9DF7-BD22D27D66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AE9BA2-B213-5B0E-04AF-56034B5EA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C37AC-147D-4040-9F70-1EF0307E0CB5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4A57C5-D042-7B48-2F06-E82C72BAC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56153B-A1AA-45F1-6D75-CC703B56A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3FBA0-6056-8447-BAFC-3573AE704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415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929611-3621-7740-7EFF-5EBD87B71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33F4E6-2E7F-48FB-45A6-4FE965689E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69E580-12F7-F76F-EB29-9DA5923EA8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DC37AC-147D-4040-9F70-1EF0307E0CB5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BFF478-4BBE-5189-5C71-608F4D9976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A7A474-2084-AAE7-546F-F0E400A2F0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F3FBA0-6056-8447-BAFC-3573AE704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091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29" r:id="rId2"/>
    <p:sldLayoutId id="2147483830" r:id="rId3"/>
    <p:sldLayoutId id="2147483831" r:id="rId4"/>
    <p:sldLayoutId id="2147483832" r:id="rId5"/>
    <p:sldLayoutId id="2147483833" r:id="rId6"/>
    <p:sldLayoutId id="2147483834" r:id="rId7"/>
    <p:sldLayoutId id="2147483835" r:id="rId8"/>
    <p:sldLayoutId id="2147483836" r:id="rId9"/>
    <p:sldLayoutId id="2147483837" r:id="rId10"/>
    <p:sldLayoutId id="214748383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929611-3621-7740-7EFF-5EBD87B71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33F4E6-2E7F-48FB-45A6-4FE965689E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69E580-12F7-F76F-EB29-9DA5923EA8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DC37AC-147D-4040-9F70-1EF0307E0CB5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BFF478-4BBE-5189-5C71-608F4D9976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A7A474-2084-AAE7-546F-F0E400A2F0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F3FBA0-6056-8447-BAFC-3573AE704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091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0" r:id="rId1"/>
    <p:sldLayoutId id="2147483841" r:id="rId2"/>
    <p:sldLayoutId id="2147483842" r:id="rId3"/>
    <p:sldLayoutId id="2147483843" r:id="rId4"/>
    <p:sldLayoutId id="2147483844" r:id="rId5"/>
    <p:sldLayoutId id="2147483845" r:id="rId6"/>
    <p:sldLayoutId id="2147483846" r:id="rId7"/>
    <p:sldLayoutId id="2147483847" r:id="rId8"/>
    <p:sldLayoutId id="2147483848" r:id="rId9"/>
    <p:sldLayoutId id="2147483849" r:id="rId10"/>
    <p:sldLayoutId id="214748385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A274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1A2740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775D3-8D86-641D-5004-655A0ACFEF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8988" y="1508840"/>
            <a:ext cx="10160000" cy="2286000"/>
          </a:xfrm>
        </p:spPr>
        <p:txBody>
          <a:bodyPr/>
          <a:lstStyle/>
          <a:p>
            <a:pPr algn="ctr">
              <a:lnSpc>
                <a:spcPct val="110000"/>
              </a:lnSpc>
            </a:pPr>
            <a:r>
              <a:rPr lang="en-US" sz="2800" i="1" dirty="0">
                <a:solidFill>
                  <a:srgbClr val="1A2740"/>
                </a:solidFill>
                <a:latin typeface="Garamond"/>
              </a:rPr>
              <a:t>How do regularization techniques and output noise influence the trajectory and stability of interaction recovery in MLPs, as measured against ground truth?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F3C459-0443-20C4-74FC-444579CA95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6000" y="5461000"/>
            <a:ext cx="10160000" cy="1397000"/>
          </a:xfrm>
        </p:spPr>
        <p:txBody>
          <a:bodyPr/>
          <a:lstStyle/>
          <a:p>
            <a:pPr algn="ctr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2000" dirty="0">
                <a:solidFill>
                  <a:srgbClr val="1A2740"/>
                </a:solidFill>
                <a:latin typeface="Garamond"/>
              </a:rPr>
              <a:t>Edouard Dewaerheijd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1" dirty="0">
                <a:solidFill>
                  <a:srgbClr val="4A5D7E"/>
                </a:solidFill>
                <a:latin typeface="Garamond"/>
              </a:rPr>
              <a:t>Supervised by Selim Eren   ·   June 2026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E90D0F-2175-F741-9835-D94C8144B470}"/>
              </a:ext>
            </a:extLst>
          </p:cNvPr>
          <p:cNvSpPr txBox="1"/>
          <p:nvPr/>
        </p:nvSpPr>
        <p:spPr>
          <a:xfrm>
            <a:off x="1016000" y="347662"/>
            <a:ext cx="10160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>
              <a:buNone/>
            </a:pPr>
            <a:r>
              <a:rPr lang="en-US" sz="1300" spc="600" dirty="0">
                <a:solidFill>
                  <a:srgbClr val="8B1A1A"/>
                </a:solidFill>
                <a:latin typeface="Garamond"/>
              </a:rPr>
              <a:t>MAASTRICHT UNIVERSITY  ·  SCHOOL OF BUSINESS AND ECONOMICS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0F5B34-B41C-EB4C-B612-A26E7433AE78}"/>
              </a:ext>
            </a:extLst>
          </p:cNvPr>
          <p:cNvSpPr/>
          <p:nvPr/>
        </p:nvSpPr>
        <p:spPr>
          <a:xfrm>
            <a:off x="4685322" y="979410"/>
            <a:ext cx="2540000" cy="38100"/>
          </a:xfrm>
          <a:prstGeom prst="rect">
            <a:avLst/>
          </a:prstGeom>
          <a:solidFill>
            <a:srgbClr val="8B1A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86C502-AFB1-5C42-BFD8-FC1B2DB5060A}"/>
              </a:ext>
            </a:extLst>
          </p:cNvPr>
          <p:cNvSpPr/>
          <p:nvPr/>
        </p:nvSpPr>
        <p:spPr>
          <a:xfrm>
            <a:off x="5461000" y="5270500"/>
            <a:ext cx="1270000" cy="25400"/>
          </a:xfrm>
          <a:prstGeom prst="rect">
            <a:avLst/>
          </a:prstGeom>
          <a:solidFill>
            <a:srgbClr val="1A27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0A6665-2E47-3643-889B-CE644D882B2E}"/>
              </a:ext>
            </a:extLst>
          </p:cNvPr>
          <p:cNvSpPr txBox="1"/>
          <p:nvPr/>
        </p:nvSpPr>
        <p:spPr>
          <a:xfrm>
            <a:off x="1016000" y="6477000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>
              <a:buNone/>
            </a:pPr>
            <a:r>
              <a:rPr lang="en-US" sz="1100" spc="400" dirty="0">
                <a:solidFill>
                  <a:srgbClr val="8B7355"/>
                </a:solidFill>
                <a:latin typeface="Garamond"/>
              </a:rPr>
              <a:t>BACHELOR OF SCIENCE IN BUSINESS ANALYTICS  ·  THESIS DEFENSE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4221E6B-843C-DAAD-D14F-5198B0D80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0597" y="1194592"/>
            <a:ext cx="5049449" cy="1049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1095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043BFB-6EF4-2643-B648-D57636AE6296}"/>
              </a:ext>
            </a:extLst>
          </p:cNvPr>
          <p:cNvSpPr txBox="1"/>
          <p:nvPr/>
        </p:nvSpPr>
        <p:spPr>
          <a:xfrm>
            <a:off x="1016000" y="889000"/>
            <a:ext cx="1016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1300" b="1" spc="600" dirty="0">
                <a:solidFill>
                  <a:srgbClr val="8B1A1A"/>
                </a:solidFill>
                <a:latin typeface="Garamond"/>
              </a:rPr>
              <a:t>THE PROBLEM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9BAFD7-ACCB-0B4F-88E6-F94A58919EE2}"/>
              </a:ext>
            </a:extLst>
          </p:cNvPr>
          <p:cNvSpPr/>
          <p:nvPr/>
        </p:nvSpPr>
        <p:spPr>
          <a:xfrm>
            <a:off x="1016000" y="1270000"/>
            <a:ext cx="762000" cy="25400"/>
          </a:xfrm>
          <a:prstGeom prst="rect">
            <a:avLst/>
          </a:prstGeom>
          <a:solidFill>
            <a:srgbClr val="8B1A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858B50-273D-C742-BDFA-91E606CC159B}"/>
              </a:ext>
            </a:extLst>
          </p:cNvPr>
          <p:cNvSpPr txBox="1"/>
          <p:nvPr/>
        </p:nvSpPr>
        <p:spPr>
          <a:xfrm>
            <a:off x="1016000" y="1651000"/>
            <a:ext cx="10160000" cy="177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35000"/>
              </a:lnSpc>
              <a:buNone/>
            </a:pPr>
            <a:r>
              <a:rPr lang="en-US" sz="2400" dirty="0">
                <a:solidFill>
                  <a:srgbClr val="1A2740"/>
                </a:solidFill>
                <a:latin typeface="Garamond"/>
              </a:rPr>
              <a:t>Neural networks are powerful but opaque. NID reads interactions from learned weights but those weights depend on </a:t>
            </a:r>
            <a:r>
              <a:rPr lang="en-US" sz="2400" i="1" dirty="0">
                <a:solidFill>
                  <a:srgbClr val="8B1A1A"/>
                </a:solidFill>
                <a:latin typeface="Garamond"/>
              </a:rPr>
              <a:t>how you trained the model</a:t>
            </a:r>
            <a:r>
              <a:rPr lang="en-US" sz="2400" dirty="0">
                <a:solidFill>
                  <a:srgbClr val="1A2740"/>
                </a:solidFill>
                <a:latin typeface="Garamond"/>
              </a:rPr>
              <a:t>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3ED339-490E-E94D-8729-7B9886B1D3E2}"/>
              </a:ext>
            </a:extLst>
          </p:cNvPr>
          <p:cNvSpPr/>
          <p:nvPr/>
        </p:nvSpPr>
        <p:spPr>
          <a:xfrm>
            <a:off x="4826000" y="3619500"/>
            <a:ext cx="2540000" cy="12700"/>
          </a:xfrm>
          <a:prstGeom prst="rect">
            <a:avLst/>
          </a:prstGeom>
          <a:solidFill>
            <a:srgbClr val="8B735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314CC3-3B11-4D4F-980C-43C5B388ECDD}"/>
              </a:ext>
            </a:extLst>
          </p:cNvPr>
          <p:cNvSpPr txBox="1"/>
          <p:nvPr/>
        </p:nvSpPr>
        <p:spPr>
          <a:xfrm>
            <a:off x="1016000" y="3873500"/>
            <a:ext cx="1016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1300" b="1" spc="600" dirty="0">
                <a:solidFill>
                  <a:srgbClr val="8B1A1A"/>
                </a:solidFill>
                <a:latin typeface="Garamond"/>
              </a:rPr>
              <a:t>RESEARCH QUESTION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9CF8622-BA67-A04A-AFD5-C3890E3FF4E0}"/>
              </a:ext>
            </a:extLst>
          </p:cNvPr>
          <p:cNvSpPr/>
          <p:nvPr/>
        </p:nvSpPr>
        <p:spPr>
          <a:xfrm>
            <a:off x="1016000" y="4254500"/>
            <a:ext cx="762000" cy="25400"/>
          </a:xfrm>
          <a:prstGeom prst="rect">
            <a:avLst/>
          </a:prstGeom>
          <a:solidFill>
            <a:srgbClr val="8B1A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2074A4-5276-9148-A607-C0F474F4B418}"/>
              </a:ext>
            </a:extLst>
          </p:cNvPr>
          <p:cNvSpPr/>
          <p:nvPr/>
        </p:nvSpPr>
        <p:spPr>
          <a:xfrm>
            <a:off x="1016000" y="4572000"/>
            <a:ext cx="10160000" cy="1778000"/>
          </a:xfrm>
          <a:prstGeom prst="rect">
            <a:avLst/>
          </a:prstGeom>
          <a:solidFill>
            <a:srgbClr val="F3EEE3"/>
          </a:solidFill>
          <a:ln w="19050" cap="flat" cmpd="sng" algn="ctr">
            <a:solidFill>
              <a:srgbClr val="1A274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528C3C2-573E-1842-B649-A6CF354D610D}"/>
              </a:ext>
            </a:extLst>
          </p:cNvPr>
          <p:cNvSpPr/>
          <p:nvPr/>
        </p:nvSpPr>
        <p:spPr>
          <a:xfrm>
            <a:off x="1016000" y="4572000"/>
            <a:ext cx="50800" cy="1778000"/>
          </a:xfrm>
          <a:prstGeom prst="rect">
            <a:avLst/>
          </a:prstGeom>
          <a:solidFill>
            <a:srgbClr val="8B1A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BB10DD-99CE-494C-AEB4-6D94F9F2EF70}"/>
              </a:ext>
            </a:extLst>
          </p:cNvPr>
          <p:cNvSpPr txBox="1"/>
          <p:nvPr/>
        </p:nvSpPr>
        <p:spPr>
          <a:xfrm>
            <a:off x="1397000" y="4699000"/>
            <a:ext cx="9652000" cy="152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>
              <a:lnSpc>
                <a:spcPct val="125000"/>
              </a:lnSpc>
              <a:buNone/>
            </a:pPr>
            <a:r>
              <a:rPr lang="en-US" sz="2400" i="1" dirty="0">
                <a:solidFill>
                  <a:srgbClr val="1A2740"/>
                </a:solidFill>
                <a:latin typeface="Garamond"/>
              </a:rPr>
              <a:t>How do regularization techniques and output noise influence the trajectory and stability of interaction recovery in MLPs, as measured against ground truth?</a:t>
            </a:r>
          </a:p>
        </p:txBody>
      </p:sp>
    </p:spTree>
    <p:extLst>
      <p:ext uri="{BB962C8B-B14F-4D97-AF65-F5344CB8AC3E}">
        <p14:creationId xmlns:p14="http://schemas.microsoft.com/office/powerpoint/2010/main" val="523649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128F8F-BBB4-F840-B1A2-361D3C37A4AE}"/>
              </a:ext>
            </a:extLst>
          </p:cNvPr>
          <p:cNvSpPr txBox="1"/>
          <p:nvPr/>
        </p:nvSpPr>
        <p:spPr>
          <a:xfrm>
            <a:off x="1016000" y="635000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1300" b="1" spc="600" dirty="0">
                <a:solidFill>
                  <a:srgbClr val="8B1A1A"/>
                </a:solidFill>
                <a:latin typeface="Garamond"/>
              </a:rPr>
              <a:t>BACKGROUND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59887A-FE05-374D-A468-8F505B33A647}"/>
              </a:ext>
            </a:extLst>
          </p:cNvPr>
          <p:cNvSpPr/>
          <p:nvPr/>
        </p:nvSpPr>
        <p:spPr>
          <a:xfrm>
            <a:off x="1016000" y="990600"/>
            <a:ext cx="762000" cy="25400"/>
          </a:xfrm>
          <a:prstGeom prst="rect">
            <a:avLst/>
          </a:prstGeom>
          <a:solidFill>
            <a:srgbClr val="8B1A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41D77E-0ED0-5D49-A70B-2DE30193A3D1}"/>
              </a:ext>
            </a:extLst>
          </p:cNvPr>
          <p:cNvSpPr txBox="1"/>
          <p:nvPr/>
        </p:nvSpPr>
        <p:spPr>
          <a:xfrm>
            <a:off x="1016000" y="1168400"/>
            <a:ext cx="1016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1A2740"/>
                </a:solidFill>
                <a:latin typeface="Garamond"/>
              </a:rPr>
              <a:t>What the literature already knows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616AF3-5FF7-F04C-A9B7-B999A66F6B5A}"/>
              </a:ext>
            </a:extLst>
          </p:cNvPr>
          <p:cNvSpPr/>
          <p:nvPr/>
        </p:nvSpPr>
        <p:spPr>
          <a:xfrm>
            <a:off x="1016000" y="2159000"/>
            <a:ext cx="3251200" cy="3048000"/>
          </a:xfrm>
          <a:prstGeom prst="rect">
            <a:avLst/>
          </a:prstGeom>
          <a:solidFill>
            <a:srgbClr val="F3EEE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847D24-3130-B643-8FB8-09D4D9EC72F8}"/>
              </a:ext>
            </a:extLst>
          </p:cNvPr>
          <p:cNvSpPr/>
          <p:nvPr/>
        </p:nvSpPr>
        <p:spPr>
          <a:xfrm>
            <a:off x="1016000" y="2159000"/>
            <a:ext cx="38100" cy="3048000"/>
          </a:xfrm>
          <a:prstGeom prst="rect">
            <a:avLst/>
          </a:prstGeom>
          <a:solidFill>
            <a:srgbClr val="8B1A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AC7E08-F640-EE4F-8EBB-BC87970419B3}"/>
              </a:ext>
            </a:extLst>
          </p:cNvPr>
          <p:cNvSpPr txBox="1"/>
          <p:nvPr/>
        </p:nvSpPr>
        <p:spPr>
          <a:xfrm>
            <a:off x="1244600" y="2336800"/>
            <a:ext cx="28702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n-US" sz="1100" b="1" spc="200" dirty="0">
                <a:solidFill>
                  <a:srgbClr val="8B7355"/>
                </a:solidFill>
                <a:latin typeface="Garamond"/>
              </a:rPr>
              <a:t>TSANG ET AL.  ·  2017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430A09-413D-7A42-A2EB-CA17FF0B862B}"/>
              </a:ext>
            </a:extLst>
          </p:cNvPr>
          <p:cNvSpPr txBox="1"/>
          <p:nvPr/>
        </p:nvSpPr>
        <p:spPr>
          <a:xfrm>
            <a:off x="1244600" y="3657600"/>
            <a:ext cx="28702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8B1A1A"/>
                </a:solidFill>
                <a:latin typeface="Garamond"/>
              </a:rPr>
              <a:t>NID reads weights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497323-F504-FD4F-904A-90006234E26C}"/>
              </a:ext>
            </a:extLst>
          </p:cNvPr>
          <p:cNvSpPr txBox="1"/>
          <p:nvPr/>
        </p:nvSpPr>
        <p:spPr>
          <a:xfrm>
            <a:off x="1244600" y="4318000"/>
            <a:ext cx="2870200" cy="812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1A2740"/>
                </a:solidFill>
                <a:latin typeface="Garamond"/>
              </a:rPr>
              <a:t>change the weights, change the readout.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0A49D01-53D6-0741-90C1-9095E16E6AF0}"/>
              </a:ext>
            </a:extLst>
          </p:cNvPr>
          <p:cNvSpPr/>
          <p:nvPr/>
        </p:nvSpPr>
        <p:spPr>
          <a:xfrm>
            <a:off x="4470400" y="2159000"/>
            <a:ext cx="3251200" cy="3048000"/>
          </a:xfrm>
          <a:prstGeom prst="rect">
            <a:avLst/>
          </a:prstGeom>
          <a:solidFill>
            <a:srgbClr val="F3EEE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4350310-5E27-6D43-830E-2E50A1387611}"/>
              </a:ext>
            </a:extLst>
          </p:cNvPr>
          <p:cNvSpPr/>
          <p:nvPr/>
        </p:nvSpPr>
        <p:spPr>
          <a:xfrm>
            <a:off x="4470400" y="2159000"/>
            <a:ext cx="38100" cy="3048000"/>
          </a:xfrm>
          <a:prstGeom prst="rect">
            <a:avLst/>
          </a:prstGeom>
          <a:solidFill>
            <a:srgbClr val="8B1A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FC768D-8A4F-C345-9BC4-32736B043171}"/>
              </a:ext>
            </a:extLst>
          </p:cNvPr>
          <p:cNvSpPr txBox="1"/>
          <p:nvPr/>
        </p:nvSpPr>
        <p:spPr>
          <a:xfrm>
            <a:off x="4699000" y="2336800"/>
            <a:ext cx="28702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n-US" sz="1100" b="1" spc="200" dirty="0">
                <a:solidFill>
                  <a:srgbClr val="8B7355"/>
                </a:solidFill>
                <a:latin typeface="Garamond"/>
              </a:rPr>
              <a:t>LENGERICH ET AL.  ·  2021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471776-8598-A54C-B511-714A79359594}"/>
              </a:ext>
            </a:extLst>
          </p:cNvPr>
          <p:cNvSpPr txBox="1"/>
          <p:nvPr/>
        </p:nvSpPr>
        <p:spPr>
          <a:xfrm>
            <a:off x="4699000" y="3657600"/>
            <a:ext cx="28702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8B1A1A"/>
                </a:solidFill>
                <a:latin typeface="Garamond"/>
              </a:rPr>
              <a:t>Dropout cuts interactions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53BCDA-6737-784B-88F0-AAA471EC353D}"/>
              </a:ext>
            </a:extLst>
          </p:cNvPr>
          <p:cNvSpPr txBox="1"/>
          <p:nvPr/>
        </p:nvSpPr>
        <p:spPr>
          <a:xfrm>
            <a:off x="4699000" y="4318000"/>
            <a:ext cx="2870200" cy="812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1A2740"/>
                </a:solidFill>
                <a:latin typeface="Garamond"/>
              </a:rPr>
              <a:t>decays higher-order paths exponentially.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90A4ED1-8B5D-8048-8BE4-DC22417D05A2}"/>
              </a:ext>
            </a:extLst>
          </p:cNvPr>
          <p:cNvSpPr/>
          <p:nvPr/>
        </p:nvSpPr>
        <p:spPr>
          <a:xfrm>
            <a:off x="7924800" y="2159000"/>
            <a:ext cx="3251200" cy="3048000"/>
          </a:xfrm>
          <a:prstGeom prst="rect">
            <a:avLst/>
          </a:prstGeom>
          <a:solidFill>
            <a:srgbClr val="F3EEE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64244C5-9593-9242-B9FB-B108F4025DD4}"/>
              </a:ext>
            </a:extLst>
          </p:cNvPr>
          <p:cNvSpPr/>
          <p:nvPr/>
        </p:nvSpPr>
        <p:spPr>
          <a:xfrm>
            <a:off x="7924800" y="2159000"/>
            <a:ext cx="38100" cy="3048000"/>
          </a:xfrm>
          <a:prstGeom prst="rect">
            <a:avLst/>
          </a:prstGeom>
          <a:solidFill>
            <a:srgbClr val="8B1A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4EE4783-74EE-B54A-B88F-9FA890F26BDE}"/>
              </a:ext>
            </a:extLst>
          </p:cNvPr>
          <p:cNvSpPr txBox="1"/>
          <p:nvPr/>
        </p:nvSpPr>
        <p:spPr>
          <a:xfrm>
            <a:off x="8153400" y="2336800"/>
            <a:ext cx="28702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n-US" sz="1100" b="1" spc="200" dirty="0">
                <a:solidFill>
                  <a:srgbClr val="8B7355"/>
                </a:solidFill>
                <a:latin typeface="Garamond"/>
              </a:rPr>
              <a:t>ARPIT ET AL.  ·  2017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744C225-8BEE-AD47-8A39-04A569C1B611}"/>
              </a:ext>
            </a:extLst>
          </p:cNvPr>
          <p:cNvSpPr txBox="1"/>
          <p:nvPr/>
        </p:nvSpPr>
        <p:spPr>
          <a:xfrm>
            <a:off x="8153400" y="3657600"/>
            <a:ext cx="28702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8B1A1A"/>
                </a:solidFill>
                <a:latin typeface="Garamond"/>
              </a:rPr>
              <a:t>Signal before noise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9712B2-6585-4946-9A7E-7AF37A14B376}"/>
              </a:ext>
            </a:extLst>
          </p:cNvPr>
          <p:cNvSpPr txBox="1"/>
          <p:nvPr/>
        </p:nvSpPr>
        <p:spPr>
          <a:xfrm>
            <a:off x="8153400" y="4318000"/>
            <a:ext cx="2870200" cy="812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1A2740"/>
                </a:solidFill>
                <a:latin typeface="Garamond"/>
              </a:rPr>
              <a:t>models learn structure in early epochs.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2083985-04C3-784F-98FF-CD19F34B4F3F}"/>
              </a:ext>
            </a:extLst>
          </p:cNvPr>
          <p:cNvSpPr/>
          <p:nvPr/>
        </p:nvSpPr>
        <p:spPr>
          <a:xfrm>
            <a:off x="1016000" y="5461000"/>
            <a:ext cx="10160000" cy="889000"/>
          </a:xfrm>
          <a:prstGeom prst="rect">
            <a:avLst/>
          </a:prstGeom>
          <a:solidFill>
            <a:srgbClr val="F3EEE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C8A6A26-02E0-EE46-BEA1-F1AE814AC633}"/>
              </a:ext>
            </a:extLst>
          </p:cNvPr>
          <p:cNvSpPr/>
          <p:nvPr/>
        </p:nvSpPr>
        <p:spPr>
          <a:xfrm>
            <a:off x="1016000" y="5461000"/>
            <a:ext cx="38100" cy="889000"/>
          </a:xfrm>
          <a:prstGeom prst="rect">
            <a:avLst/>
          </a:prstGeom>
          <a:solidFill>
            <a:srgbClr val="8B1A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843509C-F76F-4644-BBF2-5E7227EB78B7}"/>
              </a:ext>
            </a:extLst>
          </p:cNvPr>
          <p:cNvSpPr txBox="1"/>
          <p:nvPr/>
        </p:nvSpPr>
        <p:spPr>
          <a:xfrm>
            <a:off x="1270000" y="5613400"/>
            <a:ext cx="9779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120000" indent="0" algn="l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1A2740"/>
                </a:solidFill>
                <a:latin typeface="Garamond"/>
              </a:rPr>
              <a:t>What’s missing : how regularisation and noise </a:t>
            </a:r>
            <a:r>
              <a:rPr lang="en-US" sz="1600" b="1" i="1" dirty="0">
                <a:solidFill>
                  <a:srgbClr val="8B1A1A"/>
                </a:solidFill>
                <a:latin typeface="Garamond"/>
              </a:rPr>
              <a:t>jointly</a:t>
            </a:r>
            <a:r>
              <a:rPr lang="en-US" sz="1600" i="1" dirty="0">
                <a:solidFill>
                  <a:srgbClr val="1A2740"/>
                </a:solidFill>
                <a:latin typeface="Garamond"/>
              </a:rPr>
              <a:t> shape the weights NID reads, measured as a </a:t>
            </a:r>
            <a:r>
              <a:rPr lang="en-US" sz="1600" b="1" i="1" dirty="0">
                <a:solidFill>
                  <a:srgbClr val="8B1A1A"/>
                </a:solidFill>
                <a:latin typeface="Garamond"/>
              </a:rPr>
              <a:t>trajectory</a:t>
            </a:r>
            <a:r>
              <a:rPr lang="en-US" sz="1600" i="1" dirty="0">
                <a:solidFill>
                  <a:srgbClr val="1A2740"/>
                </a:solidFill>
                <a:latin typeface="Garamond"/>
              </a:rPr>
              <a:t> against ground truth.</a:t>
            </a:r>
          </a:p>
        </p:txBody>
      </p:sp>
      <p:pic>
        <p:nvPicPr>
          <p:cNvPr id="23" name="Graphic 23" descr="Network pictogram representing weight structur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35200" y="2641600"/>
            <a:ext cx="812800" cy="812800"/>
          </a:xfrm>
          <a:prstGeom prst="rect">
            <a:avLst/>
          </a:prstGeom>
        </p:spPr>
      </p:pic>
      <p:pic>
        <p:nvPicPr>
          <p:cNvPr id="24" name="Graphic 24" descr="Scissors pictogram for dropout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89600" y="2641600"/>
            <a:ext cx="812800" cy="812800"/>
          </a:xfrm>
          <a:prstGeom prst="rect">
            <a:avLst/>
          </a:prstGeom>
        </p:spPr>
      </p:pic>
      <p:pic>
        <p:nvPicPr>
          <p:cNvPr id="25" name="Graphic 25" descr="Hourglass pictogram for timi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44000" y="26416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507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6B5563-9FF3-CD4D-9E65-685739FC4A6A}"/>
              </a:ext>
            </a:extLst>
          </p:cNvPr>
          <p:cNvSpPr txBox="1"/>
          <p:nvPr/>
        </p:nvSpPr>
        <p:spPr>
          <a:xfrm>
            <a:off x="1016000" y="628650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1300" b="1" spc="600" dirty="0">
                <a:solidFill>
                  <a:srgbClr val="8B1A1A"/>
                </a:solidFill>
                <a:latin typeface="Garamond"/>
              </a:rPr>
              <a:t>BACKGROUND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D6C49F-FBB4-034A-87EB-62F493481A0B}"/>
              </a:ext>
            </a:extLst>
          </p:cNvPr>
          <p:cNvSpPr/>
          <p:nvPr/>
        </p:nvSpPr>
        <p:spPr>
          <a:xfrm>
            <a:off x="1016000" y="990600"/>
            <a:ext cx="762000" cy="25400"/>
          </a:xfrm>
          <a:prstGeom prst="rect">
            <a:avLst/>
          </a:prstGeom>
          <a:solidFill>
            <a:srgbClr val="8B1A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34A539-5862-2445-A20C-72B176E80323}"/>
              </a:ext>
            </a:extLst>
          </p:cNvPr>
          <p:cNvSpPr txBox="1"/>
          <p:nvPr/>
        </p:nvSpPr>
        <p:spPr>
          <a:xfrm>
            <a:off x="1016000" y="1168400"/>
            <a:ext cx="1016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1A2740"/>
                </a:solidFill>
                <a:latin typeface="Garamond"/>
              </a:rPr>
              <a:t>What NID does, and why it depends on training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B238BFD-F3CD-934E-B3BF-E6EA1D34CDEE}"/>
              </a:ext>
            </a:extLst>
          </p:cNvPr>
          <p:cNvCxnSpPr/>
          <p:nvPr/>
        </p:nvCxnSpPr>
        <p:spPr>
          <a:xfrm>
            <a:off x="1879600" y="2717800"/>
            <a:ext cx="1803400" cy="12700"/>
          </a:xfrm>
          <a:prstGeom prst="straightConnector1">
            <a:avLst/>
          </a:prstGeom>
          <a:ln w="6350" cap="flat" cmpd="sng" algn="ctr">
            <a:solidFill>
              <a:srgbClr val="D8CFB8"/>
            </a:solidFill>
            <a:prstDash val="solid"/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F287005-99DF-F24E-B056-94E2369A246F}"/>
              </a:ext>
            </a:extLst>
          </p:cNvPr>
          <p:cNvCxnSpPr/>
          <p:nvPr/>
        </p:nvCxnSpPr>
        <p:spPr>
          <a:xfrm>
            <a:off x="1879600" y="2717800"/>
            <a:ext cx="1803400" cy="1143000"/>
          </a:xfrm>
          <a:prstGeom prst="straightConnector1">
            <a:avLst/>
          </a:prstGeom>
          <a:ln w="6350" cap="flat" cmpd="sng" algn="ctr">
            <a:solidFill>
              <a:srgbClr val="D8CFB8"/>
            </a:solidFill>
            <a:prstDash val="solid"/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F2559CD-8CBF-114C-B6F0-BD33626AEEED}"/>
              </a:ext>
            </a:extLst>
          </p:cNvPr>
          <p:cNvCxnSpPr/>
          <p:nvPr/>
        </p:nvCxnSpPr>
        <p:spPr>
          <a:xfrm>
            <a:off x="1879600" y="2717800"/>
            <a:ext cx="1803400" cy="1714500"/>
          </a:xfrm>
          <a:prstGeom prst="straightConnector1">
            <a:avLst/>
          </a:prstGeom>
          <a:ln w="6350" cap="flat" cmpd="sng" algn="ctr">
            <a:solidFill>
              <a:srgbClr val="D8CFB8"/>
            </a:solidFill>
            <a:prstDash val="solid"/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E06F145-82D3-C84E-8B6B-DFBFAF3963B4}"/>
              </a:ext>
            </a:extLst>
          </p:cNvPr>
          <p:cNvCxnSpPr/>
          <p:nvPr/>
        </p:nvCxnSpPr>
        <p:spPr>
          <a:xfrm>
            <a:off x="1879600" y="2717800"/>
            <a:ext cx="1803400" cy="571500"/>
          </a:xfrm>
          <a:prstGeom prst="straightConnector1">
            <a:avLst/>
          </a:prstGeom>
          <a:ln w="6350" cap="flat" cmpd="sng" algn="ctr">
            <a:solidFill>
              <a:srgbClr val="D8CFB8"/>
            </a:solidFill>
            <a:prstDash val="solid"/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9147A68-B0C2-CA48-B83C-AA003D189D55}"/>
              </a:ext>
            </a:extLst>
          </p:cNvPr>
          <p:cNvCxnSpPr/>
          <p:nvPr/>
        </p:nvCxnSpPr>
        <p:spPr>
          <a:xfrm>
            <a:off x="1879600" y="3289300"/>
            <a:ext cx="1803400" cy="12700"/>
          </a:xfrm>
          <a:prstGeom prst="straightConnector1">
            <a:avLst/>
          </a:prstGeom>
          <a:ln w="6350" cap="flat" cmpd="sng" algn="ctr">
            <a:solidFill>
              <a:srgbClr val="D8CFB8"/>
            </a:solidFill>
            <a:prstDash val="solid"/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4A6BDA0-D2DB-CB41-8ECD-F3C4FA0A28F1}"/>
              </a:ext>
            </a:extLst>
          </p:cNvPr>
          <p:cNvCxnSpPr/>
          <p:nvPr/>
        </p:nvCxnSpPr>
        <p:spPr>
          <a:xfrm>
            <a:off x="1879600" y="3289300"/>
            <a:ext cx="1803400" cy="1143000"/>
          </a:xfrm>
          <a:prstGeom prst="straightConnector1">
            <a:avLst/>
          </a:prstGeom>
          <a:ln w="6350" cap="flat" cmpd="sng" algn="ctr">
            <a:solidFill>
              <a:srgbClr val="D8CFB8"/>
            </a:solidFill>
            <a:prstDash val="solid"/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48AF976-1D7D-E446-8B06-1BB37E3BAB02}"/>
              </a:ext>
            </a:extLst>
          </p:cNvPr>
          <p:cNvCxnSpPr/>
          <p:nvPr/>
        </p:nvCxnSpPr>
        <p:spPr>
          <a:xfrm>
            <a:off x="1879600" y="2717800"/>
            <a:ext cx="1803400" cy="1143000"/>
          </a:xfrm>
          <a:prstGeom prst="straightConnector1">
            <a:avLst/>
          </a:prstGeom>
          <a:ln w="6350" cap="flat" cmpd="sng" algn="ctr">
            <a:solidFill>
              <a:srgbClr val="D8CFB8"/>
            </a:solidFill>
            <a:prstDash val="solid"/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28A5DC9-82E1-6645-9D2E-E4EDEA1066FD}"/>
              </a:ext>
            </a:extLst>
          </p:cNvPr>
          <p:cNvCxnSpPr/>
          <p:nvPr/>
        </p:nvCxnSpPr>
        <p:spPr>
          <a:xfrm>
            <a:off x="1879600" y="3860800"/>
            <a:ext cx="1803400" cy="12700"/>
          </a:xfrm>
          <a:prstGeom prst="straightConnector1">
            <a:avLst/>
          </a:prstGeom>
          <a:ln w="6350" cap="flat" cmpd="sng" algn="ctr">
            <a:solidFill>
              <a:srgbClr val="D8CFB8"/>
            </a:solidFill>
            <a:prstDash val="solid"/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7E425CA-169C-8143-93FE-C3C76F54D9B7}"/>
              </a:ext>
            </a:extLst>
          </p:cNvPr>
          <p:cNvCxnSpPr/>
          <p:nvPr/>
        </p:nvCxnSpPr>
        <p:spPr>
          <a:xfrm>
            <a:off x="1879600" y="3860800"/>
            <a:ext cx="1803400" cy="571500"/>
          </a:xfrm>
          <a:prstGeom prst="straightConnector1">
            <a:avLst/>
          </a:prstGeom>
          <a:ln w="6350" cap="flat" cmpd="sng" algn="ctr">
            <a:solidFill>
              <a:srgbClr val="D8CFB8"/>
            </a:solidFill>
            <a:prstDash val="solid"/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7F3398C-7809-DE4E-8A3C-1675EC087A72}"/>
              </a:ext>
            </a:extLst>
          </p:cNvPr>
          <p:cNvCxnSpPr/>
          <p:nvPr/>
        </p:nvCxnSpPr>
        <p:spPr>
          <a:xfrm>
            <a:off x="1879600" y="2717800"/>
            <a:ext cx="1803400" cy="1714500"/>
          </a:xfrm>
          <a:prstGeom prst="straightConnector1">
            <a:avLst/>
          </a:prstGeom>
          <a:ln w="6350" cap="flat" cmpd="sng" algn="ctr">
            <a:solidFill>
              <a:srgbClr val="D8CFB8"/>
            </a:solidFill>
            <a:prstDash val="solid"/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34159EC-5F34-744A-AE94-2621F89AB2B8}"/>
              </a:ext>
            </a:extLst>
          </p:cNvPr>
          <p:cNvCxnSpPr/>
          <p:nvPr/>
        </p:nvCxnSpPr>
        <p:spPr>
          <a:xfrm>
            <a:off x="1879600" y="3289300"/>
            <a:ext cx="1803400" cy="1143000"/>
          </a:xfrm>
          <a:prstGeom prst="straightConnector1">
            <a:avLst/>
          </a:prstGeom>
          <a:ln w="6350" cap="flat" cmpd="sng" algn="ctr">
            <a:solidFill>
              <a:srgbClr val="D8CFB8"/>
            </a:solidFill>
            <a:prstDash val="solid"/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C67A112-D1CA-624B-A425-9457FEB36B0E}"/>
              </a:ext>
            </a:extLst>
          </p:cNvPr>
          <p:cNvCxnSpPr/>
          <p:nvPr/>
        </p:nvCxnSpPr>
        <p:spPr>
          <a:xfrm>
            <a:off x="1879600" y="4432300"/>
            <a:ext cx="1803400" cy="12700"/>
          </a:xfrm>
          <a:prstGeom prst="straightConnector1">
            <a:avLst/>
          </a:prstGeom>
          <a:ln w="6350" cap="flat" cmpd="sng" algn="ctr">
            <a:solidFill>
              <a:srgbClr val="D8CFB8"/>
            </a:solidFill>
            <a:prstDash val="solid"/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6AD78A1-7357-1041-805D-C5A1FFF489D7}"/>
              </a:ext>
            </a:extLst>
          </p:cNvPr>
          <p:cNvCxnSpPr/>
          <p:nvPr/>
        </p:nvCxnSpPr>
        <p:spPr>
          <a:xfrm>
            <a:off x="4038600" y="2717800"/>
            <a:ext cx="1295400" cy="863600"/>
          </a:xfrm>
          <a:prstGeom prst="straightConnector1">
            <a:avLst/>
          </a:prstGeom>
          <a:ln w="6350" cap="flat" cmpd="sng" algn="ctr">
            <a:solidFill>
              <a:srgbClr val="D8CFB8"/>
            </a:solidFill>
            <a:prstDash val="solid"/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0DE35CF-7980-024D-93C5-CD324297F453}"/>
              </a:ext>
            </a:extLst>
          </p:cNvPr>
          <p:cNvCxnSpPr>
            <a:cxnSpLocks/>
            <a:endCxn id="33" idx="2"/>
          </p:cNvCxnSpPr>
          <p:nvPr/>
        </p:nvCxnSpPr>
        <p:spPr>
          <a:xfrm flipV="1">
            <a:off x="4038600" y="3581400"/>
            <a:ext cx="1295400" cy="818750"/>
          </a:xfrm>
          <a:prstGeom prst="straightConnector1">
            <a:avLst/>
          </a:prstGeom>
          <a:ln w="6350" cap="flat" cmpd="sng" algn="ctr">
            <a:solidFill>
              <a:srgbClr val="D8CFB8"/>
            </a:solidFill>
            <a:prstDash val="solid"/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F1CD4FE-C423-2C4A-83CB-A5DE0AF5E5B3}"/>
              </a:ext>
            </a:extLst>
          </p:cNvPr>
          <p:cNvCxnSpPr/>
          <p:nvPr/>
        </p:nvCxnSpPr>
        <p:spPr>
          <a:xfrm>
            <a:off x="1879600" y="2717800"/>
            <a:ext cx="1803400" cy="571500"/>
          </a:xfrm>
          <a:prstGeom prst="straightConnector1">
            <a:avLst/>
          </a:prstGeom>
          <a:ln w="19050" cap="flat" cmpd="sng" algn="ctr">
            <a:solidFill>
              <a:srgbClr val="8B1A1A"/>
            </a:solidFill>
            <a:prstDash val="solid"/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72BE5F7-2EAC-F749-9ADA-12B1CD156719}"/>
              </a:ext>
            </a:extLst>
          </p:cNvPr>
          <p:cNvCxnSpPr/>
          <p:nvPr/>
        </p:nvCxnSpPr>
        <p:spPr>
          <a:xfrm>
            <a:off x="1879600" y="3289300"/>
            <a:ext cx="1803400" cy="571500"/>
          </a:xfrm>
          <a:prstGeom prst="straightConnector1">
            <a:avLst/>
          </a:prstGeom>
          <a:ln w="19050" cap="flat" cmpd="sng" algn="ctr">
            <a:solidFill>
              <a:srgbClr val="8B1A1A"/>
            </a:solidFill>
            <a:prstDash val="solid"/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1552F29-DDA5-FD47-949B-B9E88751AD38}"/>
              </a:ext>
            </a:extLst>
          </p:cNvPr>
          <p:cNvCxnSpPr/>
          <p:nvPr/>
        </p:nvCxnSpPr>
        <p:spPr>
          <a:xfrm>
            <a:off x="1879600" y="3289300"/>
            <a:ext cx="1803400" cy="571500"/>
          </a:xfrm>
          <a:prstGeom prst="straightConnector1">
            <a:avLst/>
          </a:prstGeom>
          <a:ln w="19050" cap="flat" cmpd="sng" algn="ctr">
            <a:solidFill>
              <a:srgbClr val="8B1A1A"/>
            </a:solidFill>
            <a:prstDash val="solid"/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0CD4477-C7EB-0D4A-8D2B-4AF731B938F3}"/>
              </a:ext>
            </a:extLst>
          </p:cNvPr>
          <p:cNvCxnSpPr/>
          <p:nvPr/>
        </p:nvCxnSpPr>
        <p:spPr>
          <a:xfrm>
            <a:off x="4038600" y="3289300"/>
            <a:ext cx="1295400" cy="292100"/>
          </a:xfrm>
          <a:prstGeom prst="straightConnector1">
            <a:avLst/>
          </a:prstGeom>
          <a:ln w="19050" cap="flat" cmpd="sng" algn="ctr">
            <a:solidFill>
              <a:srgbClr val="8B1A1A"/>
            </a:solidFill>
            <a:prstDash val="solid"/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B6D8CEA-7F5E-8F42-8403-28AFAEC7BBC2}"/>
              </a:ext>
            </a:extLst>
          </p:cNvPr>
          <p:cNvCxnSpPr>
            <a:cxnSpLocks/>
            <a:stCxn id="31" idx="6"/>
            <a:endCxn id="33" idx="2"/>
          </p:cNvCxnSpPr>
          <p:nvPr/>
        </p:nvCxnSpPr>
        <p:spPr>
          <a:xfrm flipV="1">
            <a:off x="4038600" y="3581400"/>
            <a:ext cx="1295400" cy="279400"/>
          </a:xfrm>
          <a:prstGeom prst="straightConnector1">
            <a:avLst/>
          </a:prstGeom>
          <a:ln w="19050" cap="flat" cmpd="sng" algn="ctr">
            <a:solidFill>
              <a:srgbClr val="8B1A1A"/>
            </a:solidFill>
            <a:prstDash val="solid"/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D5003D9E-933B-6A41-A3D3-40DC768BF256}"/>
              </a:ext>
            </a:extLst>
          </p:cNvPr>
          <p:cNvSpPr/>
          <p:nvPr/>
        </p:nvSpPr>
        <p:spPr>
          <a:xfrm>
            <a:off x="1460500" y="2476500"/>
            <a:ext cx="482600" cy="482600"/>
          </a:xfrm>
          <a:prstGeom prst="ellipse">
            <a:avLst/>
          </a:prstGeom>
          <a:solidFill>
            <a:srgbClr val="FBF8F3"/>
          </a:solidFill>
          <a:ln w="12700" cap="flat" cmpd="sng" algn="ctr">
            <a:solidFill>
              <a:srgbClr val="1A274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>
              <a:buNone/>
            </a:pPr>
            <a:r>
              <a:rPr lang="en-US" sz="1400" i="1" dirty="0">
                <a:solidFill>
                  <a:srgbClr val="1A2740"/>
                </a:solidFill>
                <a:latin typeface="Garamond"/>
              </a:rPr>
              <a:t>x</a:t>
            </a:r>
            <a:r>
              <a:rPr lang="en-US" sz="1100" dirty="0">
                <a:solidFill>
                  <a:srgbClr val="1A2740"/>
                </a:solidFill>
                <a:latin typeface="Garamond"/>
              </a:rPr>
              <a:t>1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7AE4188-5326-1248-8841-6D2522C71AA0}"/>
              </a:ext>
            </a:extLst>
          </p:cNvPr>
          <p:cNvSpPr/>
          <p:nvPr/>
        </p:nvSpPr>
        <p:spPr>
          <a:xfrm>
            <a:off x="1460500" y="3048000"/>
            <a:ext cx="482600" cy="482600"/>
          </a:xfrm>
          <a:prstGeom prst="ellipse">
            <a:avLst/>
          </a:prstGeom>
          <a:solidFill>
            <a:srgbClr val="FBF8F3"/>
          </a:solidFill>
          <a:ln w="12700" cap="flat" cmpd="sng" algn="ctr">
            <a:solidFill>
              <a:srgbClr val="1A274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>
              <a:buNone/>
            </a:pPr>
            <a:r>
              <a:rPr lang="en-US" sz="1400" i="1" dirty="0">
                <a:solidFill>
                  <a:srgbClr val="1A2740"/>
                </a:solidFill>
                <a:latin typeface="Garamond"/>
              </a:rPr>
              <a:t>x</a:t>
            </a:r>
            <a:r>
              <a:rPr lang="en-US" sz="1100" dirty="0">
                <a:solidFill>
                  <a:srgbClr val="1A2740"/>
                </a:solidFill>
                <a:latin typeface="Garamond"/>
              </a:rPr>
              <a:t>2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097D577-2AF8-1B47-B5B7-D4DFB60EB436}"/>
              </a:ext>
            </a:extLst>
          </p:cNvPr>
          <p:cNvSpPr/>
          <p:nvPr/>
        </p:nvSpPr>
        <p:spPr>
          <a:xfrm>
            <a:off x="1460500" y="3619500"/>
            <a:ext cx="482600" cy="482600"/>
          </a:xfrm>
          <a:prstGeom prst="ellipse">
            <a:avLst/>
          </a:prstGeom>
          <a:solidFill>
            <a:srgbClr val="FBF8F3"/>
          </a:solidFill>
          <a:ln w="12700" cap="flat" cmpd="sng" algn="ctr">
            <a:solidFill>
              <a:srgbClr val="1A274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>
              <a:buNone/>
            </a:pPr>
            <a:r>
              <a:rPr lang="en-US" sz="1400" i="1" dirty="0">
                <a:solidFill>
                  <a:srgbClr val="1A2740"/>
                </a:solidFill>
                <a:latin typeface="Garamond"/>
              </a:rPr>
              <a:t>x</a:t>
            </a:r>
            <a:r>
              <a:rPr lang="en-US" sz="1100" dirty="0">
                <a:solidFill>
                  <a:srgbClr val="1A2740"/>
                </a:solidFill>
                <a:latin typeface="Garamond"/>
              </a:rPr>
              <a:t>3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0EE2DBC-3968-5A40-BEA1-E5C296DE0B77}"/>
              </a:ext>
            </a:extLst>
          </p:cNvPr>
          <p:cNvSpPr/>
          <p:nvPr/>
        </p:nvSpPr>
        <p:spPr>
          <a:xfrm>
            <a:off x="1460500" y="4191000"/>
            <a:ext cx="482600" cy="482600"/>
          </a:xfrm>
          <a:prstGeom prst="ellipse">
            <a:avLst/>
          </a:prstGeom>
          <a:solidFill>
            <a:srgbClr val="FBF8F3"/>
          </a:solidFill>
          <a:ln w="12700" cap="flat" cmpd="sng" algn="ctr">
            <a:solidFill>
              <a:srgbClr val="1A274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>
              <a:buNone/>
            </a:pPr>
            <a:r>
              <a:rPr lang="en-US" sz="1400" i="1" dirty="0">
                <a:solidFill>
                  <a:srgbClr val="1A2740"/>
                </a:solidFill>
                <a:latin typeface="Garamond"/>
              </a:rPr>
              <a:t>x</a:t>
            </a:r>
            <a:r>
              <a:rPr lang="en-US" sz="1100" dirty="0">
                <a:solidFill>
                  <a:srgbClr val="1A2740"/>
                </a:solidFill>
                <a:latin typeface="Garamond"/>
              </a:rPr>
              <a:t>4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CF09274-AE71-F34D-AFE6-75B33A73CDB9}"/>
              </a:ext>
            </a:extLst>
          </p:cNvPr>
          <p:cNvSpPr/>
          <p:nvPr/>
        </p:nvSpPr>
        <p:spPr>
          <a:xfrm>
            <a:off x="3683000" y="2540000"/>
            <a:ext cx="355600" cy="355600"/>
          </a:xfrm>
          <a:prstGeom prst="ellipse">
            <a:avLst/>
          </a:prstGeom>
          <a:solidFill>
            <a:srgbClr val="FBF8F3"/>
          </a:solidFill>
          <a:ln w="12700" cap="flat" cmpd="sng" algn="ctr">
            <a:solidFill>
              <a:srgbClr val="1A274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E02B814-F8E2-804B-AD04-FCE4C3FEC306}"/>
              </a:ext>
            </a:extLst>
          </p:cNvPr>
          <p:cNvSpPr/>
          <p:nvPr/>
        </p:nvSpPr>
        <p:spPr>
          <a:xfrm>
            <a:off x="3683000" y="3111500"/>
            <a:ext cx="355600" cy="355600"/>
          </a:xfrm>
          <a:prstGeom prst="ellipse">
            <a:avLst/>
          </a:prstGeom>
          <a:solidFill>
            <a:srgbClr val="8B1A1A"/>
          </a:solidFill>
          <a:ln w="12700" cap="flat" cmpd="sng" algn="ctr">
            <a:solidFill>
              <a:srgbClr val="8B1A1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8C35A13B-B623-2448-BFF5-8473C8B38EB9}"/>
              </a:ext>
            </a:extLst>
          </p:cNvPr>
          <p:cNvSpPr/>
          <p:nvPr/>
        </p:nvSpPr>
        <p:spPr>
          <a:xfrm>
            <a:off x="3683000" y="3683000"/>
            <a:ext cx="355600" cy="355600"/>
          </a:xfrm>
          <a:prstGeom prst="ellipse">
            <a:avLst/>
          </a:prstGeom>
          <a:solidFill>
            <a:srgbClr val="8B1A1A"/>
          </a:solidFill>
          <a:ln w="12700" cap="flat" cmpd="sng" algn="ctr">
            <a:solidFill>
              <a:srgbClr val="8B1A1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B89FBED-AEBE-934F-B4C1-E565522A49F4}"/>
              </a:ext>
            </a:extLst>
          </p:cNvPr>
          <p:cNvSpPr/>
          <p:nvPr/>
        </p:nvSpPr>
        <p:spPr>
          <a:xfrm>
            <a:off x="3683000" y="4254500"/>
            <a:ext cx="355600" cy="355600"/>
          </a:xfrm>
          <a:prstGeom prst="ellipse">
            <a:avLst/>
          </a:prstGeom>
          <a:solidFill>
            <a:srgbClr val="FBF8F3"/>
          </a:solidFill>
          <a:ln w="12700" cap="flat" cmpd="sng" algn="ctr">
            <a:solidFill>
              <a:srgbClr val="1A274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328871C0-844A-6E46-94B8-A3D090F416BE}"/>
              </a:ext>
            </a:extLst>
          </p:cNvPr>
          <p:cNvSpPr/>
          <p:nvPr/>
        </p:nvSpPr>
        <p:spPr>
          <a:xfrm>
            <a:off x="5334000" y="3403600"/>
            <a:ext cx="355600" cy="355600"/>
          </a:xfrm>
          <a:prstGeom prst="ellipse">
            <a:avLst/>
          </a:prstGeom>
          <a:solidFill>
            <a:srgbClr val="1A2740"/>
          </a:solidFill>
          <a:ln w="12700" cap="flat" cmpd="sng" algn="ctr">
            <a:solidFill>
              <a:srgbClr val="1A274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1F46C61-4542-BB49-A168-FD28FA7366BE}"/>
              </a:ext>
            </a:extLst>
          </p:cNvPr>
          <p:cNvSpPr txBox="1"/>
          <p:nvPr/>
        </p:nvSpPr>
        <p:spPr>
          <a:xfrm>
            <a:off x="1346200" y="2159000"/>
            <a:ext cx="762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n-US" sz="1100" i="1" dirty="0">
                <a:solidFill>
                  <a:srgbClr val="8B7355"/>
                </a:solidFill>
                <a:latin typeface="Garamond"/>
              </a:rPr>
              <a:t>inputs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7F73500-A921-1C46-87BC-91209E7A57EB}"/>
              </a:ext>
            </a:extLst>
          </p:cNvPr>
          <p:cNvSpPr txBox="1"/>
          <p:nvPr/>
        </p:nvSpPr>
        <p:spPr>
          <a:xfrm>
            <a:off x="3505200" y="2159000"/>
            <a:ext cx="762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n-US" sz="1100" i="1" dirty="0">
                <a:solidFill>
                  <a:srgbClr val="8B7355"/>
                </a:solidFill>
                <a:latin typeface="Garamond"/>
              </a:rPr>
              <a:t>hidden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57D4FA3-464E-0348-96E0-B8F0FE46AD39}"/>
              </a:ext>
            </a:extLst>
          </p:cNvPr>
          <p:cNvSpPr txBox="1"/>
          <p:nvPr/>
        </p:nvSpPr>
        <p:spPr>
          <a:xfrm>
            <a:off x="5156200" y="3048000"/>
            <a:ext cx="762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n-US" sz="1100" i="1" dirty="0">
                <a:solidFill>
                  <a:srgbClr val="8B7355"/>
                </a:solidFill>
                <a:latin typeface="Garamond"/>
              </a:rPr>
              <a:t>output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85BE073-134F-0A4F-A71D-0C916B1187AB}"/>
              </a:ext>
            </a:extLst>
          </p:cNvPr>
          <p:cNvSpPr txBox="1"/>
          <p:nvPr/>
        </p:nvSpPr>
        <p:spPr>
          <a:xfrm>
            <a:off x="1270000" y="4889500"/>
            <a:ext cx="4572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8B1A1A"/>
                </a:solidFill>
                <a:latin typeface="Garamond"/>
              </a:rPr>
              <a:t>shared hidden units route the interaction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913AA4A-2C89-C24C-9E16-F87C85C7B353}"/>
              </a:ext>
            </a:extLst>
          </p:cNvPr>
          <p:cNvSpPr txBox="1"/>
          <p:nvPr/>
        </p:nvSpPr>
        <p:spPr>
          <a:xfrm>
            <a:off x="6223000" y="2159000"/>
            <a:ext cx="50800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1A2740"/>
                </a:solidFill>
                <a:latin typeface="Garamond"/>
              </a:rPr>
              <a:t>NID reads interaction strength from </a:t>
            </a:r>
            <a:r>
              <a:rPr lang="en-US" sz="1800" i="1" dirty="0">
                <a:solidFill>
                  <a:srgbClr val="8B1A1A"/>
                </a:solidFill>
                <a:latin typeface="Garamond"/>
              </a:rPr>
              <a:t>weight magnitudes</a:t>
            </a:r>
            <a:r>
              <a:rPr lang="en-US" i="1" dirty="0">
                <a:solidFill>
                  <a:srgbClr val="1A2740"/>
                </a:solidFill>
                <a:latin typeface="Garamond"/>
              </a:rPr>
              <a:t>,</a:t>
            </a:r>
            <a:r>
              <a:rPr lang="en-US" sz="1800" dirty="0">
                <a:solidFill>
                  <a:srgbClr val="1A2740"/>
                </a:solidFill>
                <a:latin typeface="Garamond"/>
              </a:rPr>
              <a:t> so any training decision that changes those weights also changes what NID detects.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7AEC36B-D9AD-9645-8955-137DEB91C51C}"/>
              </a:ext>
            </a:extLst>
          </p:cNvPr>
          <p:cNvSpPr txBox="1"/>
          <p:nvPr/>
        </p:nvSpPr>
        <p:spPr>
          <a:xfrm>
            <a:off x="6223000" y="38735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1300" b="1" spc="600" dirty="0">
                <a:solidFill>
                  <a:srgbClr val="8B1A1A"/>
                </a:solidFill>
                <a:latin typeface="Garamond"/>
              </a:rPr>
              <a:t>THREE GAPS THIS STUDY FILLS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500B411-81AC-FB4D-ABB5-A92D96B8F238}"/>
              </a:ext>
            </a:extLst>
          </p:cNvPr>
          <p:cNvSpPr/>
          <p:nvPr/>
        </p:nvSpPr>
        <p:spPr>
          <a:xfrm>
            <a:off x="6223000" y="4216400"/>
            <a:ext cx="762000" cy="25400"/>
          </a:xfrm>
          <a:prstGeom prst="rect">
            <a:avLst/>
          </a:prstGeom>
          <a:solidFill>
            <a:srgbClr val="8B1A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896FCD1-4399-894F-B697-E612C972ACCB}"/>
              </a:ext>
            </a:extLst>
          </p:cNvPr>
          <p:cNvSpPr txBox="1"/>
          <p:nvPr/>
        </p:nvSpPr>
        <p:spPr>
          <a:xfrm>
            <a:off x="6223000" y="4419600"/>
            <a:ext cx="5080000" cy="190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342900" indent="-342900" algn="l">
              <a:lnSpc>
                <a:spcPct val="125000"/>
              </a:lnSpc>
              <a:spcAft>
                <a:spcPts val="400"/>
              </a:spcAft>
              <a:buFont typeface="Garamond"/>
              <a:buAutoNum type="arabicPeriod"/>
            </a:pPr>
            <a:r>
              <a:rPr lang="en-US" sz="1500" b="1" dirty="0">
                <a:solidFill>
                  <a:srgbClr val="1A2740"/>
                </a:solidFill>
                <a:latin typeface="Garamond"/>
              </a:rPr>
              <a:t>Weight-level effects : </a:t>
            </a:r>
            <a:r>
              <a:rPr lang="en-US" sz="1500" dirty="0">
                <a:solidFill>
                  <a:srgbClr val="1A2740"/>
                </a:solidFill>
                <a:latin typeface="Garamond"/>
              </a:rPr>
              <a:t>do training choices change the very weights NID reads, or only generalisation?</a:t>
            </a:r>
          </a:p>
          <a:p>
            <a:pPr marL="342900" indent="-342900" algn="l">
              <a:lnSpc>
                <a:spcPct val="125000"/>
              </a:lnSpc>
              <a:spcAft>
                <a:spcPts val="400"/>
              </a:spcAft>
              <a:buFont typeface="Garamond"/>
              <a:buAutoNum type="arabicPeriod"/>
            </a:pPr>
            <a:r>
              <a:rPr lang="en-US" sz="1500" b="1" dirty="0">
                <a:solidFill>
                  <a:srgbClr val="1A2740"/>
                </a:solidFill>
                <a:latin typeface="Garamond"/>
              </a:rPr>
              <a:t>Trajectories, not endpoints : </a:t>
            </a:r>
            <a:r>
              <a:rPr lang="en-US" sz="1500" dirty="0">
                <a:solidFill>
                  <a:srgbClr val="1A2740"/>
                </a:solidFill>
                <a:latin typeface="Garamond"/>
              </a:rPr>
              <a:t>do recovery patterns across epochs reveal what a final checkpoint misses?</a:t>
            </a:r>
          </a:p>
          <a:p>
            <a:pPr marL="342900" indent="-342900" algn="l">
              <a:lnSpc>
                <a:spcPct val="125000"/>
              </a:lnSpc>
              <a:spcAft>
                <a:spcPts val="400"/>
              </a:spcAft>
              <a:buFont typeface="Garamond"/>
              <a:buAutoNum type="arabicPeriod"/>
            </a:pPr>
            <a:r>
              <a:rPr lang="en-US" sz="1500" b="1" dirty="0">
                <a:solidFill>
                  <a:srgbClr val="1A2740"/>
                </a:solidFill>
                <a:latin typeface="Garamond"/>
              </a:rPr>
              <a:t>Joint regularisation + noise : h</a:t>
            </a:r>
            <a:r>
              <a:rPr lang="en-US" sz="1500" dirty="0">
                <a:solidFill>
                  <a:srgbClr val="1A2740"/>
                </a:solidFill>
                <a:latin typeface="Garamond"/>
              </a:rPr>
              <a:t>ow do these two factors interact when both are present?</a:t>
            </a:r>
          </a:p>
        </p:txBody>
      </p:sp>
    </p:spTree>
    <p:extLst>
      <p:ext uri="{BB962C8B-B14F-4D97-AF65-F5344CB8AC3E}">
        <p14:creationId xmlns:p14="http://schemas.microsoft.com/office/powerpoint/2010/main" val="28053501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B866EF-BAA9-2249-961D-00FC4876C6B7}"/>
              </a:ext>
            </a:extLst>
          </p:cNvPr>
          <p:cNvSpPr txBox="1"/>
          <p:nvPr/>
        </p:nvSpPr>
        <p:spPr>
          <a:xfrm>
            <a:off x="1016000" y="635000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1300" b="1" spc="600" dirty="0">
                <a:solidFill>
                  <a:srgbClr val="8B1A1A"/>
                </a:solidFill>
                <a:latin typeface="Garamond"/>
              </a:rPr>
              <a:t>METHODOLOGY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CD5136-7E60-224C-8F51-99F4D10386C0}"/>
              </a:ext>
            </a:extLst>
          </p:cNvPr>
          <p:cNvSpPr/>
          <p:nvPr/>
        </p:nvSpPr>
        <p:spPr>
          <a:xfrm>
            <a:off x="1016000" y="990600"/>
            <a:ext cx="762000" cy="25400"/>
          </a:xfrm>
          <a:prstGeom prst="rect">
            <a:avLst/>
          </a:prstGeom>
          <a:solidFill>
            <a:srgbClr val="8B1A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BFDE69-27B1-9345-8900-5AFFF46A6994}"/>
              </a:ext>
            </a:extLst>
          </p:cNvPr>
          <p:cNvSpPr txBox="1"/>
          <p:nvPr/>
        </p:nvSpPr>
        <p:spPr>
          <a:xfrm>
            <a:off x="1016000" y="1168400"/>
            <a:ext cx="1016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1A2740"/>
                </a:solidFill>
                <a:latin typeface="Garamond"/>
              </a:rPr>
              <a:t>Experimental design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F45AAD6-ABB8-C041-8D33-FD04D79C6C35}"/>
              </a:ext>
            </a:extLst>
          </p:cNvPr>
          <p:cNvSpPr txBox="1"/>
          <p:nvPr/>
        </p:nvSpPr>
        <p:spPr>
          <a:xfrm>
            <a:off x="8001000" y="2159000"/>
            <a:ext cx="3175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n-US" sz="7200" b="1" dirty="0">
                <a:solidFill>
                  <a:srgbClr val="8B1A1A"/>
                </a:solidFill>
                <a:latin typeface="Garamond"/>
              </a:rPr>
              <a:t>800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E57BE90-19B6-2C4B-88C5-9B6A74143A9D}"/>
              </a:ext>
            </a:extLst>
          </p:cNvPr>
          <p:cNvSpPr txBox="1"/>
          <p:nvPr/>
        </p:nvSpPr>
        <p:spPr>
          <a:xfrm>
            <a:off x="8001000" y="3251200"/>
            <a:ext cx="3175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n-US" sz="1300" b="1" spc="600" dirty="0">
                <a:solidFill>
                  <a:srgbClr val="1A2740"/>
                </a:solidFill>
                <a:latin typeface="Garamond"/>
              </a:rPr>
              <a:t>MODEL RUNS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AABD621-9FD4-564E-A21D-92813952F02E}"/>
              </a:ext>
            </a:extLst>
          </p:cNvPr>
          <p:cNvSpPr/>
          <p:nvPr/>
        </p:nvSpPr>
        <p:spPr>
          <a:xfrm>
            <a:off x="8382000" y="4064000"/>
            <a:ext cx="2413000" cy="12700"/>
          </a:xfrm>
          <a:prstGeom prst="rect">
            <a:avLst/>
          </a:prstGeom>
          <a:solidFill>
            <a:srgbClr val="8B735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3668445-946A-7643-9C32-FAE9C91C076D}"/>
              </a:ext>
            </a:extLst>
          </p:cNvPr>
          <p:cNvSpPr txBox="1"/>
          <p:nvPr/>
        </p:nvSpPr>
        <p:spPr>
          <a:xfrm>
            <a:off x="8001000" y="4318000"/>
            <a:ext cx="3175000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A2740"/>
                </a:solidFill>
                <a:latin typeface="Garamond"/>
              </a:rPr>
              <a:t>10 synthetic functions </a:t>
            </a:r>
            <a:r>
              <a:rPr lang="en-US" sz="1500" dirty="0">
                <a:solidFill>
                  <a:srgbClr val="1A2740"/>
                </a:solidFill>
                <a:latin typeface="Garamond"/>
              </a:rPr>
              <a:t>with </a:t>
            </a:r>
            <a:r>
              <a:rPr lang="en-US" sz="1500" i="1" dirty="0">
                <a:solidFill>
                  <a:srgbClr val="8B1A1A"/>
                </a:solidFill>
                <a:latin typeface="Garamond"/>
              </a:rPr>
              <a:t>known ground truth</a:t>
            </a:r>
            <a:r>
              <a:rPr lang="en-US" sz="1500" i="1" dirty="0">
                <a:solidFill>
                  <a:srgbClr val="1A2740"/>
                </a:solidFill>
                <a:latin typeface="Garamond"/>
              </a:rPr>
              <a:t>.</a:t>
            </a:r>
            <a:r>
              <a:rPr lang="en-US" sz="1500" dirty="0">
                <a:solidFill>
                  <a:srgbClr val="1A2740"/>
                </a:solidFill>
                <a:latin typeface="Garamond"/>
              </a:rPr>
              <a:t> so detected interactions can be checked against the true ones.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19FA06C-35B1-094D-80D5-913103A8E707}"/>
              </a:ext>
            </a:extLst>
          </p:cNvPr>
          <p:cNvSpPr txBox="1"/>
          <p:nvPr/>
        </p:nvSpPr>
        <p:spPr>
          <a:xfrm>
            <a:off x="1016000" y="5588000"/>
            <a:ext cx="10160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n-US" sz="1500" i="1" dirty="0">
                <a:solidFill>
                  <a:srgbClr val="8B7355"/>
                </a:solidFill>
                <a:latin typeface="Garamond"/>
              </a:rPr>
              <a:t>5 noise  ×  2 optimizers  ×  2 dropout  ×  2 weight decay  ×  10 functions  ×  2 architectures  =  </a:t>
            </a:r>
            <a:r>
              <a:rPr lang="en-US" sz="1500" b="1" dirty="0">
                <a:solidFill>
                  <a:srgbClr val="8B1A1A"/>
                </a:solidFill>
                <a:latin typeface="Garamond"/>
              </a:rPr>
              <a:t>800 runs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08BB4BE-FCE7-7548-98A0-E7F4DC46EC77}"/>
              </a:ext>
            </a:extLst>
          </p:cNvPr>
          <p:cNvSpPr/>
          <p:nvPr/>
        </p:nvSpPr>
        <p:spPr>
          <a:xfrm>
            <a:off x="1016000" y="2095500"/>
            <a:ext cx="6604000" cy="584200"/>
          </a:xfrm>
          <a:prstGeom prst="rect">
            <a:avLst/>
          </a:prstGeom>
          <a:solidFill>
            <a:srgbClr val="F3EEE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D90A82A-BFED-AD44-A7E9-82E45E61ECE2}"/>
              </a:ext>
            </a:extLst>
          </p:cNvPr>
          <p:cNvSpPr/>
          <p:nvPr/>
        </p:nvSpPr>
        <p:spPr>
          <a:xfrm>
            <a:off x="1016000" y="2095500"/>
            <a:ext cx="38100" cy="584200"/>
          </a:xfrm>
          <a:prstGeom prst="rect">
            <a:avLst/>
          </a:prstGeom>
          <a:solidFill>
            <a:srgbClr val="8B1A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577AA68-E343-1643-BC93-54FA9E1CEFFF}"/>
              </a:ext>
            </a:extLst>
          </p:cNvPr>
          <p:cNvSpPr txBox="1"/>
          <p:nvPr/>
        </p:nvSpPr>
        <p:spPr>
          <a:xfrm>
            <a:off x="1219200" y="2184400"/>
            <a:ext cx="2159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1200" b="1" spc="400" dirty="0">
                <a:solidFill>
                  <a:srgbClr val="8B1A1A"/>
                </a:solidFill>
                <a:latin typeface="Garamond"/>
              </a:rPr>
              <a:t>OUTPUT NOISE</a:t>
            </a:r>
            <a:r>
              <a:rPr lang="en-US" sz="1500" b="1" i="1" dirty="0">
                <a:solidFill>
                  <a:srgbClr val="8B1A1A"/>
                </a:solidFill>
                <a:latin typeface="Garamond"/>
              </a:rPr>
              <a:t>  η</a:t>
            </a:r>
            <a:r>
              <a:rPr lang="en-US" sz="1000" i="1" dirty="0">
                <a:solidFill>
                  <a:srgbClr val="8B7355"/>
                </a:solidFill>
                <a:latin typeface="Garamond"/>
              </a:rPr>
              <a:t>     5 levels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97BB649-792F-7748-888A-3479A316CD24}"/>
              </a:ext>
            </a:extLst>
          </p:cNvPr>
          <p:cNvSpPr txBox="1"/>
          <p:nvPr/>
        </p:nvSpPr>
        <p:spPr>
          <a:xfrm>
            <a:off x="3429000" y="2184400"/>
            <a:ext cx="40894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r">
              <a:buNone/>
            </a:pPr>
            <a:r>
              <a:rPr lang="en-US" sz="1500" dirty="0">
                <a:solidFill>
                  <a:srgbClr val="1A2740"/>
                </a:solidFill>
                <a:latin typeface="Garamond"/>
              </a:rPr>
              <a:t>0,  0.1,  0.2,  0.5,  1.0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30E988F-93C2-F34E-9C9F-F46AF9676716}"/>
              </a:ext>
            </a:extLst>
          </p:cNvPr>
          <p:cNvSpPr/>
          <p:nvPr/>
        </p:nvSpPr>
        <p:spPr>
          <a:xfrm>
            <a:off x="1016000" y="2755900"/>
            <a:ext cx="6604000" cy="584200"/>
          </a:xfrm>
          <a:prstGeom prst="rect">
            <a:avLst/>
          </a:prstGeom>
          <a:solidFill>
            <a:srgbClr val="F3EEE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B45EE86-122D-1E44-BAFE-E095AA3F5F62}"/>
              </a:ext>
            </a:extLst>
          </p:cNvPr>
          <p:cNvSpPr/>
          <p:nvPr/>
        </p:nvSpPr>
        <p:spPr>
          <a:xfrm>
            <a:off x="1016000" y="2755900"/>
            <a:ext cx="38100" cy="584200"/>
          </a:xfrm>
          <a:prstGeom prst="rect">
            <a:avLst/>
          </a:prstGeom>
          <a:solidFill>
            <a:srgbClr val="8B1A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E7C5ADF-7141-8C46-8482-EB01681F9A93}"/>
              </a:ext>
            </a:extLst>
          </p:cNvPr>
          <p:cNvSpPr txBox="1"/>
          <p:nvPr/>
        </p:nvSpPr>
        <p:spPr>
          <a:xfrm>
            <a:off x="1219200" y="2844800"/>
            <a:ext cx="2159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1200" b="1" spc="400" dirty="0">
                <a:solidFill>
                  <a:srgbClr val="8B1A1A"/>
                </a:solidFill>
                <a:latin typeface="Garamond"/>
              </a:rPr>
              <a:t>OPTIMIZER</a:t>
            </a:r>
            <a:r>
              <a:rPr lang="en-US" sz="1000" i="1" dirty="0">
                <a:solidFill>
                  <a:srgbClr val="8B7355"/>
                </a:solidFill>
                <a:latin typeface="Garamond"/>
              </a:rPr>
              <a:t>     2 levels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A75FB13-3830-6B4D-8D9B-44095FCEF37B}"/>
              </a:ext>
            </a:extLst>
          </p:cNvPr>
          <p:cNvSpPr txBox="1"/>
          <p:nvPr/>
        </p:nvSpPr>
        <p:spPr>
          <a:xfrm>
            <a:off x="3429000" y="2844800"/>
            <a:ext cx="40894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r">
              <a:buNone/>
            </a:pPr>
            <a:r>
              <a:rPr lang="en-US" sz="1500" dirty="0">
                <a:solidFill>
                  <a:srgbClr val="1A2740"/>
                </a:solidFill>
                <a:latin typeface="Garamond"/>
              </a:rPr>
              <a:t>Adam,  SGD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6FB7221-1E9D-934D-AC8A-CBD66CE56A2F}"/>
              </a:ext>
            </a:extLst>
          </p:cNvPr>
          <p:cNvSpPr/>
          <p:nvPr/>
        </p:nvSpPr>
        <p:spPr>
          <a:xfrm>
            <a:off x="1016000" y="3416300"/>
            <a:ext cx="6604000" cy="584200"/>
          </a:xfrm>
          <a:prstGeom prst="rect">
            <a:avLst/>
          </a:prstGeom>
          <a:solidFill>
            <a:srgbClr val="F3EEE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912CFA9-A75E-014F-BA88-D21566900DED}"/>
              </a:ext>
            </a:extLst>
          </p:cNvPr>
          <p:cNvSpPr/>
          <p:nvPr/>
        </p:nvSpPr>
        <p:spPr>
          <a:xfrm>
            <a:off x="1016000" y="3416300"/>
            <a:ext cx="38100" cy="584200"/>
          </a:xfrm>
          <a:prstGeom prst="rect">
            <a:avLst/>
          </a:prstGeom>
          <a:solidFill>
            <a:srgbClr val="8B1A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0A08DA6-5C8B-1846-9FAA-F018E969CA03}"/>
              </a:ext>
            </a:extLst>
          </p:cNvPr>
          <p:cNvSpPr txBox="1"/>
          <p:nvPr/>
        </p:nvSpPr>
        <p:spPr>
          <a:xfrm>
            <a:off x="1219200" y="3505200"/>
            <a:ext cx="2159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1200" b="1" spc="400" dirty="0">
                <a:solidFill>
                  <a:srgbClr val="8B1A1A"/>
                </a:solidFill>
                <a:latin typeface="Garamond"/>
              </a:rPr>
              <a:t>DROPOUT</a:t>
            </a:r>
            <a:r>
              <a:rPr lang="en-US" sz="1000" i="1" dirty="0">
                <a:solidFill>
                  <a:srgbClr val="8B7355"/>
                </a:solidFill>
                <a:latin typeface="Garamond"/>
              </a:rPr>
              <a:t>     2 levels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1208163-EC11-3B46-B66F-AAA7EF42BCE2}"/>
              </a:ext>
            </a:extLst>
          </p:cNvPr>
          <p:cNvSpPr txBox="1"/>
          <p:nvPr/>
        </p:nvSpPr>
        <p:spPr>
          <a:xfrm>
            <a:off x="3429000" y="3505200"/>
            <a:ext cx="40894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r">
              <a:buNone/>
            </a:pPr>
            <a:r>
              <a:rPr lang="en-US" sz="1500" dirty="0">
                <a:solidFill>
                  <a:srgbClr val="1A2740"/>
                </a:solidFill>
                <a:latin typeface="Garamond"/>
              </a:rPr>
              <a:t>off,  0.2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630036B-7EF3-9140-981B-846085271CEB}"/>
              </a:ext>
            </a:extLst>
          </p:cNvPr>
          <p:cNvSpPr/>
          <p:nvPr/>
        </p:nvSpPr>
        <p:spPr>
          <a:xfrm>
            <a:off x="1016000" y="4076700"/>
            <a:ext cx="6604000" cy="584200"/>
          </a:xfrm>
          <a:prstGeom prst="rect">
            <a:avLst/>
          </a:prstGeom>
          <a:solidFill>
            <a:srgbClr val="F3EEE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3C77122-E3CD-9F48-A7B8-6233BDBFBB12}"/>
              </a:ext>
            </a:extLst>
          </p:cNvPr>
          <p:cNvSpPr/>
          <p:nvPr/>
        </p:nvSpPr>
        <p:spPr>
          <a:xfrm>
            <a:off x="1016000" y="4076700"/>
            <a:ext cx="38100" cy="584200"/>
          </a:xfrm>
          <a:prstGeom prst="rect">
            <a:avLst/>
          </a:prstGeom>
          <a:solidFill>
            <a:srgbClr val="8B1A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5EA28B5-EA97-1647-A028-BC9C4BCA8A06}"/>
              </a:ext>
            </a:extLst>
          </p:cNvPr>
          <p:cNvSpPr txBox="1"/>
          <p:nvPr/>
        </p:nvSpPr>
        <p:spPr>
          <a:xfrm>
            <a:off x="1219200" y="4165600"/>
            <a:ext cx="2159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1200" b="1" spc="400" dirty="0">
                <a:solidFill>
                  <a:srgbClr val="8B1A1A"/>
                </a:solidFill>
                <a:latin typeface="Garamond"/>
              </a:rPr>
              <a:t>WEIGHT DECAY</a:t>
            </a:r>
            <a:r>
              <a:rPr lang="en-US" sz="1500" b="1" i="1" dirty="0">
                <a:solidFill>
                  <a:srgbClr val="8B1A1A"/>
                </a:solidFill>
                <a:latin typeface="Garamond"/>
              </a:rPr>
              <a:t>  λ</a:t>
            </a:r>
            <a:r>
              <a:rPr lang="en-US" sz="1000" i="1" dirty="0">
                <a:solidFill>
                  <a:srgbClr val="8B7355"/>
                </a:solidFill>
                <a:latin typeface="Garamond"/>
              </a:rPr>
              <a:t>     2 levels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4AED3B3-DB0C-2A4C-AF89-0869DC866770}"/>
              </a:ext>
            </a:extLst>
          </p:cNvPr>
          <p:cNvSpPr txBox="1"/>
          <p:nvPr/>
        </p:nvSpPr>
        <p:spPr>
          <a:xfrm>
            <a:off x="3429000" y="4165600"/>
            <a:ext cx="40894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r">
              <a:buNone/>
            </a:pPr>
            <a:r>
              <a:rPr lang="en-US" sz="1500" dirty="0">
                <a:solidFill>
                  <a:srgbClr val="1A2740"/>
                </a:solidFill>
                <a:latin typeface="Garamond"/>
              </a:rPr>
              <a:t>off,  10⁻⁴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FC5CC23-6324-F249-804A-3D288361B55A}"/>
              </a:ext>
            </a:extLst>
          </p:cNvPr>
          <p:cNvSpPr/>
          <p:nvPr/>
        </p:nvSpPr>
        <p:spPr>
          <a:xfrm>
            <a:off x="1016000" y="4737100"/>
            <a:ext cx="6604000" cy="584200"/>
          </a:xfrm>
          <a:prstGeom prst="rect">
            <a:avLst/>
          </a:prstGeom>
          <a:solidFill>
            <a:srgbClr val="F3EEE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EAD59A3-C1D2-4849-B290-30AF7D6DB567}"/>
              </a:ext>
            </a:extLst>
          </p:cNvPr>
          <p:cNvSpPr/>
          <p:nvPr/>
        </p:nvSpPr>
        <p:spPr>
          <a:xfrm>
            <a:off x="1016000" y="4737100"/>
            <a:ext cx="38100" cy="584200"/>
          </a:xfrm>
          <a:prstGeom prst="rect">
            <a:avLst/>
          </a:prstGeom>
          <a:solidFill>
            <a:srgbClr val="8B1A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F62F936-4CB5-A54A-8D1B-7D7A8EBDC2C9}"/>
              </a:ext>
            </a:extLst>
          </p:cNvPr>
          <p:cNvSpPr txBox="1"/>
          <p:nvPr/>
        </p:nvSpPr>
        <p:spPr>
          <a:xfrm>
            <a:off x="1219200" y="4826000"/>
            <a:ext cx="2159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1200" b="1" spc="400" dirty="0">
                <a:solidFill>
                  <a:srgbClr val="8B1A1A"/>
                </a:solidFill>
                <a:latin typeface="Garamond"/>
              </a:rPr>
              <a:t>ARCHITECTURE</a:t>
            </a:r>
            <a:r>
              <a:rPr lang="en-US" sz="1000" i="1" dirty="0">
                <a:solidFill>
                  <a:srgbClr val="8B7355"/>
                </a:solidFill>
                <a:latin typeface="Garamond"/>
              </a:rPr>
              <a:t>     2 models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9C97808-37F4-BD4C-A274-CE76AEB16486}"/>
              </a:ext>
            </a:extLst>
          </p:cNvPr>
          <p:cNvSpPr txBox="1"/>
          <p:nvPr/>
        </p:nvSpPr>
        <p:spPr>
          <a:xfrm>
            <a:off x="3429000" y="4826000"/>
            <a:ext cx="40894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r">
              <a:buNone/>
            </a:pPr>
            <a:r>
              <a:rPr lang="en-US" sz="1500" b="1" dirty="0">
                <a:solidFill>
                  <a:srgbClr val="1A2740"/>
                </a:solidFill>
                <a:latin typeface="Garamond"/>
              </a:rPr>
              <a:t>small </a:t>
            </a:r>
            <a:r>
              <a:rPr lang="en-US" sz="1500" dirty="0">
                <a:solidFill>
                  <a:srgbClr val="1A2740"/>
                </a:solidFill>
                <a:latin typeface="Garamond"/>
              </a:rPr>
              <a:t>[64, 64]   ·   </a:t>
            </a:r>
            <a:r>
              <a:rPr lang="en-US" sz="1500" b="1" dirty="0">
                <a:solidFill>
                  <a:srgbClr val="1A2740"/>
                </a:solidFill>
                <a:latin typeface="Garamond"/>
              </a:rPr>
              <a:t>big </a:t>
            </a:r>
            <a:r>
              <a:rPr lang="en-US" sz="1500" dirty="0">
                <a:solidFill>
                  <a:srgbClr val="1A2740"/>
                </a:solidFill>
                <a:latin typeface="Garamond"/>
              </a:rPr>
              <a:t>[140, 100, 60, 20]</a:t>
            </a:r>
          </a:p>
        </p:txBody>
      </p:sp>
    </p:spTree>
    <p:extLst>
      <p:ext uri="{BB962C8B-B14F-4D97-AF65-F5344CB8AC3E}">
        <p14:creationId xmlns:p14="http://schemas.microsoft.com/office/powerpoint/2010/main" val="25945668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3FF498-6AD4-5C49-A004-E77ADB22CF41}"/>
              </a:ext>
            </a:extLst>
          </p:cNvPr>
          <p:cNvSpPr txBox="1"/>
          <p:nvPr/>
        </p:nvSpPr>
        <p:spPr>
          <a:xfrm>
            <a:off x="1016000" y="635000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1300" b="1" spc="600" dirty="0">
                <a:solidFill>
                  <a:srgbClr val="8B1A1A"/>
                </a:solidFill>
                <a:latin typeface="Garamond"/>
              </a:rPr>
              <a:t>METHODOLOGY · METRIC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DA0C7CC-5DBA-D344-947D-BFD2144A80CF}"/>
              </a:ext>
            </a:extLst>
          </p:cNvPr>
          <p:cNvSpPr/>
          <p:nvPr/>
        </p:nvSpPr>
        <p:spPr>
          <a:xfrm>
            <a:off x="1016000" y="990600"/>
            <a:ext cx="762000" cy="25400"/>
          </a:xfrm>
          <a:prstGeom prst="rect">
            <a:avLst/>
          </a:prstGeom>
          <a:solidFill>
            <a:srgbClr val="8B1A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A36E22-6ED1-3947-BDA4-B374B0F61683}"/>
              </a:ext>
            </a:extLst>
          </p:cNvPr>
          <p:cNvSpPr txBox="1"/>
          <p:nvPr/>
        </p:nvSpPr>
        <p:spPr>
          <a:xfrm>
            <a:off x="1016000" y="1168400"/>
            <a:ext cx="1016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1A2740"/>
                </a:solidFill>
                <a:latin typeface="Garamond"/>
              </a:rPr>
              <a:t>How we measure recovery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F16909-31EC-954C-A1E4-40A66497F749}"/>
              </a:ext>
            </a:extLst>
          </p:cNvPr>
          <p:cNvSpPr/>
          <p:nvPr/>
        </p:nvSpPr>
        <p:spPr>
          <a:xfrm>
            <a:off x="1270000" y="2222500"/>
            <a:ext cx="5080000" cy="3556000"/>
          </a:xfrm>
          <a:prstGeom prst="rect">
            <a:avLst/>
          </a:prstGeom>
          <a:solidFill>
            <a:srgbClr val="F3EEE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A7E2FBD-5CF7-B04F-81B0-3CEA117EFF38}"/>
              </a:ext>
            </a:extLst>
          </p:cNvPr>
          <p:cNvCxnSpPr/>
          <p:nvPr/>
        </p:nvCxnSpPr>
        <p:spPr>
          <a:xfrm>
            <a:off x="1778000" y="2540000"/>
            <a:ext cx="12700" cy="3048000"/>
          </a:xfrm>
          <a:prstGeom prst="straightConnector1">
            <a:avLst/>
          </a:prstGeom>
          <a:ln w="15875" cap="flat" cmpd="sng" algn="ctr">
            <a:solidFill>
              <a:srgbClr val="1A2740"/>
            </a:solidFill>
            <a:prstDash val="solid"/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B8D74F8-725A-254A-B85F-DA5EC62A1295}"/>
              </a:ext>
            </a:extLst>
          </p:cNvPr>
          <p:cNvCxnSpPr/>
          <p:nvPr/>
        </p:nvCxnSpPr>
        <p:spPr>
          <a:xfrm>
            <a:off x="1778000" y="5588000"/>
            <a:ext cx="4318000" cy="12700"/>
          </a:xfrm>
          <a:prstGeom prst="straightConnector1">
            <a:avLst/>
          </a:prstGeom>
          <a:ln w="15875" cap="flat" cmpd="sng" algn="ctr">
            <a:solidFill>
              <a:srgbClr val="1A2740"/>
            </a:solidFill>
            <a:prstDash val="solid"/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0" name="AUPRCRegion"/>
          <p:cNvSpPr/>
          <p:nvPr/>
        </p:nvSpPr>
        <p:spPr>
          <a:xfrm>
            <a:off x="1841500" y="2667000"/>
            <a:ext cx="4127500" cy="2819400"/>
          </a:xfrm>
          <a:custGeom>
            <a:avLst/>
            <a:gdLst/>
            <a:ahLst/>
            <a:cxnLst/>
            <a:rect l="0" t="0" r="0" b="0"/>
            <a:pathLst>
              <a:path w="4127500" h="2819400">
                <a:moveTo>
                  <a:pt x="0" y="0"/>
                </a:moveTo>
                <a:lnTo>
                  <a:pt x="317500" y="63500"/>
                </a:lnTo>
                <a:lnTo>
                  <a:pt x="698500" y="190500"/>
                </a:lnTo>
                <a:lnTo>
                  <a:pt x="1143000" y="444500"/>
                </a:lnTo>
                <a:lnTo>
                  <a:pt x="1651000" y="825500"/>
                </a:lnTo>
                <a:lnTo>
                  <a:pt x="2222500" y="1333500"/>
                </a:lnTo>
                <a:lnTo>
                  <a:pt x="2794000" y="1905000"/>
                </a:lnTo>
                <a:lnTo>
                  <a:pt x="3238500" y="2349500"/>
                </a:lnTo>
                <a:lnTo>
                  <a:pt x="3683000" y="2667000"/>
                </a:lnTo>
                <a:lnTo>
                  <a:pt x="4127500" y="2819400"/>
                </a:lnTo>
                <a:lnTo>
                  <a:pt x="4127500" y="2794000"/>
                </a:lnTo>
                <a:lnTo>
                  <a:pt x="0" y="2794000"/>
                </a:lnTo>
                <a:close/>
              </a:path>
            </a:pathLst>
          </a:custGeom>
          <a:solidFill>
            <a:srgbClr val="8B1A1A">
              <a:alpha val="2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FA9F2EC-19A1-9342-956A-EB824520A12E}"/>
              </a:ext>
            </a:extLst>
          </p:cNvPr>
          <p:cNvCxnSpPr/>
          <p:nvPr/>
        </p:nvCxnSpPr>
        <p:spPr>
          <a:xfrm>
            <a:off x="1841500" y="2667000"/>
            <a:ext cx="317500" cy="63500"/>
          </a:xfrm>
          <a:prstGeom prst="straightConnector1">
            <a:avLst/>
          </a:prstGeom>
          <a:ln w="31750" cap="flat" cmpd="sng" algn="ctr">
            <a:solidFill>
              <a:srgbClr val="8B1A1A"/>
            </a:solidFill>
            <a:prstDash val="solid"/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61621E0-2906-CF4D-BF48-79810C934BA8}"/>
              </a:ext>
            </a:extLst>
          </p:cNvPr>
          <p:cNvCxnSpPr/>
          <p:nvPr/>
        </p:nvCxnSpPr>
        <p:spPr>
          <a:xfrm>
            <a:off x="2159000" y="2730500"/>
            <a:ext cx="381000" cy="127000"/>
          </a:xfrm>
          <a:prstGeom prst="straightConnector1">
            <a:avLst/>
          </a:prstGeom>
          <a:ln w="31750" cap="flat" cmpd="sng" algn="ctr">
            <a:solidFill>
              <a:srgbClr val="8B1A1A"/>
            </a:solidFill>
            <a:prstDash val="solid"/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8AF53F6-C7E2-4B44-AB9D-34AB151F9EEE}"/>
              </a:ext>
            </a:extLst>
          </p:cNvPr>
          <p:cNvCxnSpPr/>
          <p:nvPr/>
        </p:nvCxnSpPr>
        <p:spPr>
          <a:xfrm>
            <a:off x="2540000" y="2857500"/>
            <a:ext cx="444500" cy="254000"/>
          </a:xfrm>
          <a:prstGeom prst="straightConnector1">
            <a:avLst/>
          </a:prstGeom>
          <a:ln w="31750" cap="flat" cmpd="sng" algn="ctr">
            <a:solidFill>
              <a:srgbClr val="8B1A1A"/>
            </a:solidFill>
            <a:prstDash val="solid"/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E71AF7D-2443-F745-9EA6-D7B0DFD81596}"/>
              </a:ext>
            </a:extLst>
          </p:cNvPr>
          <p:cNvCxnSpPr/>
          <p:nvPr/>
        </p:nvCxnSpPr>
        <p:spPr>
          <a:xfrm>
            <a:off x="2984500" y="3111500"/>
            <a:ext cx="508000" cy="381000"/>
          </a:xfrm>
          <a:prstGeom prst="straightConnector1">
            <a:avLst/>
          </a:prstGeom>
          <a:ln w="31750" cap="flat" cmpd="sng" algn="ctr">
            <a:solidFill>
              <a:srgbClr val="8B1A1A"/>
            </a:solidFill>
            <a:prstDash val="solid"/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188E985-F01D-354D-A084-6B4EA81536C7}"/>
              </a:ext>
            </a:extLst>
          </p:cNvPr>
          <p:cNvCxnSpPr/>
          <p:nvPr/>
        </p:nvCxnSpPr>
        <p:spPr>
          <a:xfrm>
            <a:off x="3492500" y="3492500"/>
            <a:ext cx="571500" cy="508000"/>
          </a:xfrm>
          <a:prstGeom prst="straightConnector1">
            <a:avLst/>
          </a:prstGeom>
          <a:ln w="31750" cap="flat" cmpd="sng" algn="ctr">
            <a:solidFill>
              <a:srgbClr val="8B1A1A"/>
            </a:solidFill>
            <a:prstDash val="solid"/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3019074-7E8F-804D-B5D8-B86EF47DB22C}"/>
              </a:ext>
            </a:extLst>
          </p:cNvPr>
          <p:cNvCxnSpPr/>
          <p:nvPr/>
        </p:nvCxnSpPr>
        <p:spPr>
          <a:xfrm>
            <a:off x="4064000" y="4000500"/>
            <a:ext cx="571500" cy="571500"/>
          </a:xfrm>
          <a:prstGeom prst="straightConnector1">
            <a:avLst/>
          </a:prstGeom>
          <a:ln w="31750" cap="flat" cmpd="sng" algn="ctr">
            <a:solidFill>
              <a:srgbClr val="8B1A1A"/>
            </a:solidFill>
            <a:prstDash val="solid"/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8FDD4BD-D568-AE42-AAD5-38700327405C}"/>
              </a:ext>
            </a:extLst>
          </p:cNvPr>
          <p:cNvCxnSpPr/>
          <p:nvPr/>
        </p:nvCxnSpPr>
        <p:spPr>
          <a:xfrm>
            <a:off x="4635500" y="4572000"/>
            <a:ext cx="444500" cy="444500"/>
          </a:xfrm>
          <a:prstGeom prst="straightConnector1">
            <a:avLst/>
          </a:prstGeom>
          <a:ln w="31750" cap="flat" cmpd="sng" algn="ctr">
            <a:solidFill>
              <a:srgbClr val="8B1A1A"/>
            </a:solidFill>
            <a:prstDash val="solid"/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6B3781B-43B4-594C-8E63-5C6DEEE4C027}"/>
              </a:ext>
            </a:extLst>
          </p:cNvPr>
          <p:cNvCxnSpPr/>
          <p:nvPr/>
        </p:nvCxnSpPr>
        <p:spPr>
          <a:xfrm>
            <a:off x="5080000" y="5016500"/>
            <a:ext cx="444500" cy="317500"/>
          </a:xfrm>
          <a:prstGeom prst="straightConnector1">
            <a:avLst/>
          </a:prstGeom>
          <a:ln w="31750" cap="flat" cmpd="sng" algn="ctr">
            <a:solidFill>
              <a:srgbClr val="8B1A1A"/>
            </a:solidFill>
            <a:prstDash val="solid"/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9AF5B65-CFC1-CF48-A208-C7634C98EF0D}"/>
              </a:ext>
            </a:extLst>
          </p:cNvPr>
          <p:cNvCxnSpPr/>
          <p:nvPr/>
        </p:nvCxnSpPr>
        <p:spPr>
          <a:xfrm>
            <a:off x="5524500" y="5334000"/>
            <a:ext cx="444500" cy="152400"/>
          </a:xfrm>
          <a:prstGeom prst="straightConnector1">
            <a:avLst/>
          </a:prstGeom>
          <a:ln w="31750" cap="flat" cmpd="sng" algn="ctr">
            <a:solidFill>
              <a:srgbClr val="8B1A1A"/>
            </a:solidFill>
            <a:prstDash val="solid"/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B7991AC-A24F-2245-AB32-818AFFA70368}"/>
              </a:ext>
            </a:extLst>
          </p:cNvPr>
          <p:cNvCxnSpPr/>
          <p:nvPr/>
        </p:nvCxnSpPr>
        <p:spPr>
          <a:xfrm>
            <a:off x="1778000" y="5461000"/>
            <a:ext cx="4318000" cy="12700"/>
          </a:xfrm>
          <a:prstGeom prst="straightConnector1">
            <a:avLst/>
          </a:prstGeom>
          <a:ln w="15875" cap="flat" cmpd="sng" algn="ctr">
            <a:solidFill>
              <a:srgbClr val="8B7355"/>
            </a:solidFill>
            <a:prstDash val="dash"/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BD4C545-C548-CC4A-B321-DF7D1B681CEC}"/>
              </a:ext>
            </a:extLst>
          </p:cNvPr>
          <p:cNvSpPr txBox="1"/>
          <p:nvPr/>
        </p:nvSpPr>
        <p:spPr>
          <a:xfrm>
            <a:off x="1079500" y="3175000"/>
            <a:ext cx="762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1200" i="1" dirty="0">
                <a:solidFill>
                  <a:srgbClr val="8B7355"/>
                </a:solidFill>
                <a:latin typeface="Garamond"/>
              </a:rPr>
              <a:t>Precision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6647D7-AB7A-B343-A5F0-249255A92806}"/>
              </a:ext>
            </a:extLst>
          </p:cNvPr>
          <p:cNvSpPr txBox="1"/>
          <p:nvPr/>
        </p:nvSpPr>
        <p:spPr>
          <a:xfrm>
            <a:off x="1778000" y="5715000"/>
            <a:ext cx="4318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n-US" sz="1200" i="1" dirty="0">
                <a:solidFill>
                  <a:srgbClr val="8B7355"/>
                </a:solidFill>
                <a:latin typeface="Garamond"/>
              </a:rPr>
              <a:t>Recall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F14FAA6-80BC-1B48-85E3-98ED7748AE32}"/>
              </a:ext>
            </a:extLst>
          </p:cNvPr>
          <p:cNvSpPr txBox="1"/>
          <p:nvPr/>
        </p:nvSpPr>
        <p:spPr>
          <a:xfrm>
            <a:off x="1371600" y="2489200"/>
            <a:ext cx="381000" cy="152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r">
              <a:buNone/>
            </a:pPr>
            <a:r>
              <a:rPr lang="en-US" sz="1000" spc="0" dirty="0">
                <a:solidFill>
                  <a:srgbClr val="8B7355"/>
                </a:solidFill>
                <a:latin typeface="Garamond"/>
              </a:rPr>
              <a:t>1.0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B57CD85-C8C4-7741-B54D-D71A6C2B1C32}"/>
              </a:ext>
            </a:extLst>
          </p:cNvPr>
          <p:cNvSpPr txBox="1"/>
          <p:nvPr/>
        </p:nvSpPr>
        <p:spPr>
          <a:xfrm>
            <a:off x="1625600" y="5486400"/>
            <a:ext cx="152400" cy="152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r">
              <a:buNone/>
            </a:pPr>
            <a:r>
              <a:rPr lang="en-US" sz="1000" dirty="0">
                <a:solidFill>
                  <a:srgbClr val="8B7355"/>
                </a:solidFill>
                <a:latin typeface="Garamond"/>
              </a:rPr>
              <a:t>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0BCADC2-5B7F-234D-8D20-939F39B3F7C8}"/>
              </a:ext>
            </a:extLst>
          </p:cNvPr>
          <p:cNvSpPr txBox="1"/>
          <p:nvPr/>
        </p:nvSpPr>
        <p:spPr>
          <a:xfrm>
            <a:off x="1752600" y="5664200"/>
            <a:ext cx="101600" cy="152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1000" dirty="0">
                <a:solidFill>
                  <a:srgbClr val="8B7355"/>
                </a:solidFill>
                <a:latin typeface="Garamond"/>
              </a:rPr>
              <a:t>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B70482A-8510-9E4A-8F1F-7E382456C9C2}"/>
              </a:ext>
            </a:extLst>
          </p:cNvPr>
          <p:cNvSpPr txBox="1"/>
          <p:nvPr/>
        </p:nvSpPr>
        <p:spPr>
          <a:xfrm>
            <a:off x="5816600" y="5664200"/>
            <a:ext cx="381000" cy="152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1000" spc="0" dirty="0">
                <a:solidFill>
                  <a:srgbClr val="8B7355"/>
                </a:solidFill>
                <a:latin typeface="Garamond"/>
              </a:rPr>
              <a:t>1.0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AA68AF5-8800-1B44-A62C-7DE07E41C0CB}"/>
              </a:ext>
            </a:extLst>
          </p:cNvPr>
          <p:cNvSpPr txBox="1"/>
          <p:nvPr/>
        </p:nvSpPr>
        <p:spPr>
          <a:xfrm>
            <a:off x="2794000" y="4318000"/>
            <a:ext cx="1143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n-US" sz="1800" b="1" dirty="0">
                <a:solidFill>
                  <a:srgbClr val="8B1A1A"/>
                </a:solidFill>
                <a:latin typeface="Garamond"/>
              </a:rPr>
              <a:t>AUPRC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926602A-FA32-C44C-9700-BAF47718456A}"/>
              </a:ext>
            </a:extLst>
          </p:cNvPr>
          <p:cNvSpPr txBox="1"/>
          <p:nvPr/>
        </p:nvSpPr>
        <p:spPr>
          <a:xfrm>
            <a:off x="4635500" y="5029200"/>
            <a:ext cx="14605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r">
              <a:buNone/>
            </a:pPr>
            <a:r>
              <a:rPr lang="en-US" sz="1000" i="1" dirty="0">
                <a:solidFill>
                  <a:srgbClr val="8B7355"/>
                </a:solidFill>
                <a:latin typeface="Garamond"/>
              </a:rPr>
              <a:t>random baseline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F69DA03-A03F-0244-9DBC-ABAC5B74B63C}"/>
              </a:ext>
            </a:extLst>
          </p:cNvPr>
          <p:cNvSpPr/>
          <p:nvPr/>
        </p:nvSpPr>
        <p:spPr>
          <a:xfrm>
            <a:off x="6858000" y="2095500"/>
            <a:ext cx="4318000" cy="1841500"/>
          </a:xfrm>
          <a:prstGeom prst="rect">
            <a:avLst/>
          </a:prstGeom>
          <a:solidFill>
            <a:srgbClr val="F3EEE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BAAC170-A9AA-7143-A6D3-802A28DBEDF6}"/>
              </a:ext>
            </a:extLst>
          </p:cNvPr>
          <p:cNvSpPr/>
          <p:nvPr/>
        </p:nvSpPr>
        <p:spPr>
          <a:xfrm>
            <a:off x="6858000" y="2095500"/>
            <a:ext cx="38100" cy="1841500"/>
          </a:xfrm>
          <a:prstGeom prst="rect">
            <a:avLst/>
          </a:prstGeom>
          <a:solidFill>
            <a:srgbClr val="8B1A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7A24AD1-2939-1F43-AE3A-F8E615CA17A7}"/>
              </a:ext>
            </a:extLst>
          </p:cNvPr>
          <p:cNvSpPr txBox="1"/>
          <p:nvPr/>
        </p:nvSpPr>
        <p:spPr>
          <a:xfrm>
            <a:off x="7061200" y="2286000"/>
            <a:ext cx="39624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1200" b="1" spc="400" dirty="0">
                <a:solidFill>
                  <a:srgbClr val="8B1A1A"/>
                </a:solidFill>
                <a:latin typeface="Garamond"/>
              </a:rPr>
              <a:t>WHAT IT MEASURES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C1E6E10-9A41-0A4F-BBC4-FB4369781E3A}"/>
              </a:ext>
            </a:extLst>
          </p:cNvPr>
          <p:cNvSpPr txBox="1"/>
          <p:nvPr/>
        </p:nvSpPr>
        <p:spPr>
          <a:xfrm>
            <a:off x="7061200" y="2641600"/>
            <a:ext cx="39624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1A2740"/>
                </a:solidFill>
                <a:latin typeface="Garamond"/>
              </a:rPr>
              <a:t>Does NID </a:t>
            </a:r>
            <a:r>
              <a:rPr lang="en-US" sz="1500" i="1" dirty="0">
                <a:solidFill>
                  <a:srgbClr val="8B1A1A"/>
                </a:solidFill>
                <a:latin typeface="Garamond"/>
              </a:rPr>
              <a:t>rank true interactions above false ones</a:t>
            </a:r>
            <a:r>
              <a:rPr lang="en-US" sz="1500" dirty="0">
                <a:solidFill>
                  <a:srgbClr val="1A2740"/>
                </a:solidFill>
                <a:latin typeface="Garamond"/>
              </a:rPr>
              <a:t>? AUPRC rewards finding all true interactions before accumulating false positives.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D180212-EC2D-9943-8386-AF7F60320C9B}"/>
              </a:ext>
            </a:extLst>
          </p:cNvPr>
          <p:cNvSpPr/>
          <p:nvPr/>
        </p:nvSpPr>
        <p:spPr>
          <a:xfrm>
            <a:off x="6858000" y="4064000"/>
            <a:ext cx="4318000" cy="2222500"/>
          </a:xfrm>
          <a:prstGeom prst="rect">
            <a:avLst/>
          </a:prstGeom>
          <a:solidFill>
            <a:srgbClr val="F3EEE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E7EE93C-A245-9A4A-8274-8D28528B2231}"/>
              </a:ext>
            </a:extLst>
          </p:cNvPr>
          <p:cNvSpPr/>
          <p:nvPr/>
        </p:nvSpPr>
        <p:spPr>
          <a:xfrm>
            <a:off x="6858000" y="4064000"/>
            <a:ext cx="38100" cy="2222500"/>
          </a:xfrm>
          <a:prstGeom prst="rect">
            <a:avLst/>
          </a:prstGeom>
          <a:solidFill>
            <a:srgbClr val="8B1A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91858F9-4C09-7C46-9793-5C5D1BC1BC48}"/>
              </a:ext>
            </a:extLst>
          </p:cNvPr>
          <p:cNvSpPr txBox="1"/>
          <p:nvPr/>
        </p:nvSpPr>
        <p:spPr>
          <a:xfrm>
            <a:off x="7061200" y="4254500"/>
            <a:ext cx="39624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1200" b="1" spc="400" dirty="0">
                <a:solidFill>
                  <a:srgbClr val="8B1A1A"/>
                </a:solidFill>
                <a:latin typeface="Garamond"/>
              </a:rPr>
              <a:t>THE NUMBERS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DF0EDC2-8266-BE4A-A92B-5E8DB52C5173}"/>
              </a:ext>
            </a:extLst>
          </p:cNvPr>
          <p:cNvSpPr txBox="1"/>
          <p:nvPr/>
        </p:nvSpPr>
        <p:spPr>
          <a:xfrm>
            <a:off x="7061200" y="4546600"/>
            <a:ext cx="39624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n-US" sz="2000" b="1" dirty="0">
                <a:solidFill>
                  <a:srgbClr val="1A2740"/>
                </a:solidFill>
                <a:latin typeface="Garamond"/>
              </a:rPr>
              <a:t>AUPRC  =  </a:t>
            </a:r>
            <a:r>
              <a:rPr lang="en-US" sz="2400" dirty="0">
                <a:solidFill>
                  <a:srgbClr val="8B1A1A"/>
                </a:solidFill>
                <a:latin typeface="Cambria Math"/>
              </a:rPr>
              <a:t>∫</a:t>
            </a:r>
            <a:r>
              <a:rPr lang="en-US" sz="2000" i="1" dirty="0">
                <a:solidFill>
                  <a:srgbClr val="1A2740"/>
                </a:solidFill>
                <a:latin typeface="Garamond"/>
              </a:rPr>
              <a:t> P(r) dr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C3290F3-ACDA-594A-8CD1-5C64286D5908}"/>
              </a:ext>
            </a:extLst>
          </p:cNvPr>
          <p:cNvSpPr txBox="1"/>
          <p:nvPr/>
        </p:nvSpPr>
        <p:spPr>
          <a:xfrm>
            <a:off x="7061200" y="5080000"/>
            <a:ext cx="101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2400" b="1" dirty="0">
                <a:solidFill>
                  <a:srgbClr val="8B1A1A"/>
                </a:solidFill>
                <a:latin typeface="Garamond"/>
              </a:rPr>
              <a:t>~4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ACD7D83-EE42-1446-BB6B-F3D9D4436485}"/>
              </a:ext>
            </a:extLst>
          </p:cNvPr>
          <p:cNvSpPr txBox="1"/>
          <p:nvPr/>
        </p:nvSpPr>
        <p:spPr>
          <a:xfrm>
            <a:off x="7061200" y="5486400"/>
            <a:ext cx="1651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1100" b="1" spc="50" dirty="0">
                <a:solidFill>
                  <a:srgbClr val="8B7355"/>
                </a:solidFill>
                <a:latin typeface="Garamond"/>
              </a:rPr>
              <a:t>TRUE INTERACTIONS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B2948C0-6312-2D41-BDDA-278FF301FD13}"/>
              </a:ext>
            </a:extLst>
          </p:cNvPr>
          <p:cNvSpPr txBox="1"/>
          <p:nvPr/>
        </p:nvSpPr>
        <p:spPr>
          <a:xfrm>
            <a:off x="8636000" y="5080000"/>
            <a:ext cx="1143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2400" b="1" dirty="0">
                <a:solidFill>
                  <a:srgbClr val="1A2740"/>
                </a:solidFill>
                <a:latin typeface="Garamond"/>
              </a:rPr>
              <a:t>1,013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1DBB2AE-AD0E-EB42-BB21-37BBD1352BB5}"/>
              </a:ext>
            </a:extLst>
          </p:cNvPr>
          <p:cNvSpPr txBox="1"/>
          <p:nvPr/>
        </p:nvSpPr>
        <p:spPr>
          <a:xfrm>
            <a:off x="8636000" y="5486400"/>
            <a:ext cx="1651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1100" b="1" spc="200" dirty="0">
                <a:solidFill>
                  <a:srgbClr val="8B7355"/>
                </a:solidFill>
                <a:latin typeface="Garamond"/>
              </a:rPr>
              <a:t>CANDIDATES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0BBF285-8BD8-2A4A-B2D2-9F57F735B1B4}"/>
              </a:ext>
            </a:extLst>
          </p:cNvPr>
          <p:cNvSpPr txBox="1"/>
          <p:nvPr/>
        </p:nvSpPr>
        <p:spPr>
          <a:xfrm>
            <a:off x="7061200" y="5994400"/>
            <a:ext cx="39624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1100" i="1" dirty="0">
                <a:solidFill>
                  <a:srgbClr val="8B7355"/>
                </a:solidFill>
                <a:latin typeface="Garamond"/>
              </a:rPr>
              <a:t>random baseline ≈ 0.004</a:t>
            </a:r>
          </a:p>
        </p:txBody>
      </p:sp>
    </p:spTree>
    <p:extLst>
      <p:ext uri="{BB962C8B-B14F-4D97-AF65-F5344CB8AC3E}">
        <p14:creationId xmlns:p14="http://schemas.microsoft.com/office/powerpoint/2010/main" val="38274957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B946BC-67A9-4645-9D57-B871D8A8E4F9}"/>
              </a:ext>
            </a:extLst>
          </p:cNvPr>
          <p:cNvSpPr txBox="1"/>
          <p:nvPr/>
        </p:nvSpPr>
        <p:spPr>
          <a:xfrm>
            <a:off x="1016000" y="635000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1300" b="1" spc="600" dirty="0">
                <a:solidFill>
                  <a:srgbClr val="8B1A1A"/>
                </a:solidFill>
                <a:latin typeface="Garamond"/>
              </a:rPr>
              <a:t>METHODOLOGY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E6ABCD2-380C-2149-ACFB-F852166A35D3}"/>
              </a:ext>
            </a:extLst>
          </p:cNvPr>
          <p:cNvSpPr/>
          <p:nvPr/>
        </p:nvSpPr>
        <p:spPr>
          <a:xfrm>
            <a:off x="1016000" y="990600"/>
            <a:ext cx="762000" cy="25400"/>
          </a:xfrm>
          <a:prstGeom prst="rect">
            <a:avLst/>
          </a:prstGeom>
          <a:solidFill>
            <a:srgbClr val="8B1A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4AEFA0-FB95-E84F-8BCC-16E169F6A1ED}"/>
              </a:ext>
            </a:extLst>
          </p:cNvPr>
          <p:cNvSpPr txBox="1"/>
          <p:nvPr/>
        </p:nvSpPr>
        <p:spPr>
          <a:xfrm>
            <a:off x="504182" y="1004809"/>
            <a:ext cx="1016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1A2740"/>
                </a:solidFill>
                <a:latin typeface="Garamond"/>
              </a:rPr>
              <a:t>Measuring recovery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869DB1-BDC8-A241-8F21-EFCE04B6FB47}"/>
              </a:ext>
            </a:extLst>
          </p:cNvPr>
          <p:cNvSpPr txBox="1"/>
          <p:nvPr/>
        </p:nvSpPr>
        <p:spPr>
          <a:xfrm>
            <a:off x="466082" y="1592206"/>
            <a:ext cx="482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1300" b="1" spc="600" dirty="0">
                <a:solidFill>
                  <a:srgbClr val="8B1A1A"/>
                </a:solidFill>
                <a:latin typeface="Garamond"/>
              </a:rPr>
              <a:t>WHY AUPRC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F241D7-BE65-7B44-A1A5-F8A26EF99709}"/>
              </a:ext>
            </a:extLst>
          </p:cNvPr>
          <p:cNvSpPr/>
          <p:nvPr/>
        </p:nvSpPr>
        <p:spPr>
          <a:xfrm>
            <a:off x="466082" y="1973206"/>
            <a:ext cx="4826000" cy="1651000"/>
          </a:xfrm>
          <a:prstGeom prst="rect">
            <a:avLst/>
          </a:prstGeom>
          <a:solidFill>
            <a:srgbClr val="F3EEE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3BB5A1-1275-2843-8170-CBD58559D036}"/>
              </a:ext>
            </a:extLst>
          </p:cNvPr>
          <p:cNvSpPr/>
          <p:nvPr/>
        </p:nvSpPr>
        <p:spPr>
          <a:xfrm>
            <a:off x="466082" y="1973206"/>
            <a:ext cx="38100" cy="1651000"/>
          </a:xfrm>
          <a:prstGeom prst="rect">
            <a:avLst/>
          </a:prstGeom>
          <a:solidFill>
            <a:srgbClr val="8B1A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4A336F-6885-1B44-B4ED-210DE1A452C1}"/>
              </a:ext>
            </a:extLst>
          </p:cNvPr>
          <p:cNvSpPr txBox="1"/>
          <p:nvPr/>
        </p:nvSpPr>
        <p:spPr>
          <a:xfrm>
            <a:off x="656582" y="2170012"/>
            <a:ext cx="20955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n-US" sz="4800" b="1" dirty="0">
                <a:solidFill>
                  <a:srgbClr val="8B1A1A"/>
                </a:solidFill>
                <a:latin typeface="Garamond"/>
              </a:rPr>
              <a:t>1,013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F67F61-24D1-0748-A4FD-445BCC33682A}"/>
              </a:ext>
            </a:extLst>
          </p:cNvPr>
          <p:cNvSpPr txBox="1"/>
          <p:nvPr/>
        </p:nvSpPr>
        <p:spPr>
          <a:xfrm>
            <a:off x="669282" y="2963806"/>
            <a:ext cx="20955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n-US" sz="1200" b="1" spc="200" dirty="0">
                <a:solidFill>
                  <a:srgbClr val="1A2740"/>
                </a:solidFill>
                <a:latin typeface="Garamond"/>
              </a:rPr>
              <a:t>candidates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A34AC33-3870-0847-A305-9B37812B5142}"/>
              </a:ext>
            </a:extLst>
          </p:cNvPr>
          <p:cNvSpPr/>
          <p:nvPr/>
        </p:nvSpPr>
        <p:spPr>
          <a:xfrm>
            <a:off x="2879082" y="2201806"/>
            <a:ext cx="12700" cy="1219200"/>
          </a:xfrm>
          <a:prstGeom prst="rect">
            <a:avLst/>
          </a:prstGeom>
          <a:solidFill>
            <a:srgbClr val="8B735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DD3660-AD1C-EF40-9B78-19BC1B3D9230}"/>
              </a:ext>
            </a:extLst>
          </p:cNvPr>
          <p:cNvSpPr txBox="1"/>
          <p:nvPr/>
        </p:nvSpPr>
        <p:spPr>
          <a:xfrm>
            <a:off x="3006082" y="2151006"/>
            <a:ext cx="20955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n-US" sz="4800" b="1" dirty="0">
                <a:solidFill>
                  <a:srgbClr val="1A2740"/>
                </a:solidFill>
                <a:latin typeface="Garamond"/>
              </a:rPr>
              <a:t>~4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3F86B5-C578-0B4D-A3B4-ECD9CFEF083F}"/>
              </a:ext>
            </a:extLst>
          </p:cNvPr>
          <p:cNvSpPr txBox="1"/>
          <p:nvPr/>
        </p:nvSpPr>
        <p:spPr>
          <a:xfrm>
            <a:off x="3006082" y="2963806"/>
            <a:ext cx="20955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n-US" sz="1200" b="1" spc="200" dirty="0">
                <a:solidFill>
                  <a:srgbClr val="1A2740"/>
                </a:solidFill>
                <a:latin typeface="Garamond"/>
              </a:rPr>
              <a:t>true positives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90345F-A5E1-5B43-BBF2-42E3065412CA}"/>
              </a:ext>
            </a:extLst>
          </p:cNvPr>
          <p:cNvSpPr txBox="1"/>
          <p:nvPr/>
        </p:nvSpPr>
        <p:spPr>
          <a:xfrm>
            <a:off x="6572428" y="690596"/>
            <a:ext cx="5262241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1300" b="1" spc="600" dirty="0">
                <a:solidFill>
                  <a:srgbClr val="8B1A1A"/>
                </a:solidFill>
                <a:latin typeface="Garamond"/>
              </a:rPr>
              <a:t>WHY THE CONVERGENCE FILTER</a:t>
            </a:r>
          </a:p>
        </p:txBody>
      </p:sp>
      <p:pic>
        <p:nvPicPr>
          <p:cNvPr id="40" name="Picture 39" descr="A graph of loss and loss&#10;&#10;AI-generated content may be incorrect.">
            <a:extLst>
              <a:ext uri="{FF2B5EF4-FFF2-40B4-BE49-F238E27FC236}">
                <a16:creationId xmlns:a16="http://schemas.microsoft.com/office/drawing/2014/main" id="{A06FEE47-0238-5D7E-2531-03EC52E423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1546" y="1204456"/>
            <a:ext cx="5922786" cy="2616200"/>
          </a:xfrm>
          <a:prstGeom prst="rect">
            <a:avLst/>
          </a:prstGeom>
        </p:spPr>
      </p:pic>
      <p:pic>
        <p:nvPicPr>
          <p:cNvPr id="42" name="Picture 41" descr="A graph of a model and a model&#10;&#10;AI-generated content may be incorrect.">
            <a:extLst>
              <a:ext uri="{FF2B5EF4-FFF2-40B4-BE49-F238E27FC236}">
                <a16:creationId xmlns:a16="http://schemas.microsoft.com/office/drawing/2014/main" id="{EA44B3B1-445E-A5BF-4346-3A0D7C72A6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3631" y="3960446"/>
            <a:ext cx="5138616" cy="2495598"/>
          </a:xfrm>
          <a:prstGeom prst="rect">
            <a:avLst/>
          </a:prstGeom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381A8E36-C802-D03A-0248-483C7E8679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0" y="4562588"/>
            <a:ext cx="2722609" cy="868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54B3BF08-60AF-3852-8506-FF0CA9CBD624}"/>
              </a:ext>
            </a:extLst>
          </p:cNvPr>
          <p:cNvSpPr txBox="1"/>
          <p:nvPr/>
        </p:nvSpPr>
        <p:spPr>
          <a:xfrm>
            <a:off x="504182" y="4157606"/>
            <a:ext cx="5262241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1300" b="1" spc="600" dirty="0">
                <a:solidFill>
                  <a:srgbClr val="8B1A1A"/>
                </a:solidFill>
                <a:latin typeface="Garamond"/>
              </a:rPr>
              <a:t>CONVERGENCE FILTER</a:t>
            </a:r>
          </a:p>
        </p:txBody>
      </p:sp>
    </p:spTree>
    <p:extLst>
      <p:ext uri="{BB962C8B-B14F-4D97-AF65-F5344CB8AC3E}">
        <p14:creationId xmlns:p14="http://schemas.microsoft.com/office/powerpoint/2010/main" val="7292015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BB85E6D-0630-9649-81D3-E540B115D93E}"/>
              </a:ext>
            </a:extLst>
          </p:cNvPr>
          <p:cNvSpPr txBox="1"/>
          <p:nvPr/>
        </p:nvSpPr>
        <p:spPr>
          <a:xfrm>
            <a:off x="1016000" y="635000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1300" b="1" spc="600" dirty="0">
                <a:solidFill>
                  <a:srgbClr val="8B1A1A"/>
                </a:solidFill>
                <a:latin typeface="Garamond"/>
              </a:rPr>
              <a:t>RESULTS · REGULARIZATION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3535FB-276B-B440-ABC0-070560B28FD8}"/>
              </a:ext>
            </a:extLst>
          </p:cNvPr>
          <p:cNvSpPr/>
          <p:nvPr/>
        </p:nvSpPr>
        <p:spPr>
          <a:xfrm>
            <a:off x="1016000" y="990600"/>
            <a:ext cx="762000" cy="25400"/>
          </a:xfrm>
          <a:prstGeom prst="rect">
            <a:avLst/>
          </a:prstGeom>
          <a:solidFill>
            <a:srgbClr val="8B1A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B8ACB0-6B04-F242-9AAD-DE5BABC7B205}"/>
              </a:ext>
            </a:extLst>
          </p:cNvPr>
          <p:cNvSpPr txBox="1"/>
          <p:nvPr/>
        </p:nvSpPr>
        <p:spPr>
          <a:xfrm>
            <a:off x="1016000" y="1168400"/>
            <a:ext cx="1016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1A2740"/>
                </a:solidFill>
                <a:latin typeface="Garamond"/>
              </a:rPr>
              <a:t>Dropout suppresses interaction recovery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FE9E02-1778-614E-A42B-757ECCB3257B}"/>
              </a:ext>
            </a:extLst>
          </p:cNvPr>
          <p:cNvSpPr/>
          <p:nvPr/>
        </p:nvSpPr>
        <p:spPr>
          <a:xfrm>
            <a:off x="7493000" y="2095500"/>
            <a:ext cx="3683000" cy="889000"/>
          </a:xfrm>
          <a:prstGeom prst="rect">
            <a:avLst/>
          </a:prstGeom>
          <a:solidFill>
            <a:srgbClr val="F3EEE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5314877-E0E9-EE4E-8D19-49B12BECA6DB}"/>
              </a:ext>
            </a:extLst>
          </p:cNvPr>
          <p:cNvSpPr/>
          <p:nvPr/>
        </p:nvSpPr>
        <p:spPr>
          <a:xfrm>
            <a:off x="7493000" y="2095500"/>
            <a:ext cx="38100" cy="889000"/>
          </a:xfrm>
          <a:prstGeom prst="rect">
            <a:avLst/>
          </a:prstGeom>
          <a:solidFill>
            <a:srgbClr val="1A27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85D0B1-C8A6-474A-81AB-8421C99D91E8}"/>
              </a:ext>
            </a:extLst>
          </p:cNvPr>
          <p:cNvSpPr txBox="1"/>
          <p:nvPr/>
        </p:nvSpPr>
        <p:spPr>
          <a:xfrm>
            <a:off x="7696200" y="2247900"/>
            <a:ext cx="1651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1100" b="1" spc="400" dirty="0">
                <a:solidFill>
                  <a:srgbClr val="8B7355"/>
                </a:solidFill>
                <a:latin typeface="Garamond"/>
              </a:rPr>
              <a:t>BASE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485A27-F5B8-5C47-BC80-F71DF2B74C1E}"/>
              </a:ext>
            </a:extLst>
          </p:cNvPr>
          <p:cNvSpPr txBox="1"/>
          <p:nvPr/>
        </p:nvSpPr>
        <p:spPr>
          <a:xfrm>
            <a:off x="7696200" y="2476500"/>
            <a:ext cx="1651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1A2740"/>
                </a:solidFill>
                <a:latin typeface="Garamond"/>
              </a:rPr>
              <a:t>0.524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6195B7-EDDF-7F47-A912-2B8C6670C075}"/>
              </a:ext>
            </a:extLst>
          </p:cNvPr>
          <p:cNvSpPr txBox="1"/>
          <p:nvPr/>
        </p:nvSpPr>
        <p:spPr>
          <a:xfrm>
            <a:off x="9525000" y="2374900"/>
            <a:ext cx="15748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r">
              <a:buNone/>
            </a:pPr>
            <a:r>
              <a:rPr lang="en-US" sz="1300" i="1" dirty="0">
                <a:solidFill>
                  <a:srgbClr val="8B7355"/>
                </a:solidFill>
                <a:latin typeface="Garamond"/>
              </a:rPr>
              <a:t>reference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9655F66-2625-0843-985B-B2A45A3ED81F}"/>
              </a:ext>
            </a:extLst>
          </p:cNvPr>
          <p:cNvSpPr/>
          <p:nvPr/>
        </p:nvSpPr>
        <p:spPr>
          <a:xfrm>
            <a:off x="7493000" y="3111500"/>
            <a:ext cx="3683000" cy="889000"/>
          </a:xfrm>
          <a:prstGeom prst="rect">
            <a:avLst/>
          </a:prstGeom>
          <a:solidFill>
            <a:srgbClr val="F3EEE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C60373C-C456-474D-85B0-1BC810CB3D74}"/>
              </a:ext>
            </a:extLst>
          </p:cNvPr>
          <p:cNvSpPr/>
          <p:nvPr/>
        </p:nvSpPr>
        <p:spPr>
          <a:xfrm>
            <a:off x="7493000" y="3111500"/>
            <a:ext cx="38100" cy="889000"/>
          </a:xfrm>
          <a:prstGeom prst="rect">
            <a:avLst/>
          </a:prstGeom>
          <a:solidFill>
            <a:srgbClr val="1A27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C38163-96FB-3F44-976C-572E4EA18D4E}"/>
              </a:ext>
            </a:extLst>
          </p:cNvPr>
          <p:cNvSpPr txBox="1"/>
          <p:nvPr/>
        </p:nvSpPr>
        <p:spPr>
          <a:xfrm>
            <a:off x="7696200" y="3263900"/>
            <a:ext cx="1651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1100" b="1" spc="400" dirty="0">
                <a:solidFill>
                  <a:srgbClr val="8B7355"/>
                </a:solidFill>
                <a:latin typeface="Garamond"/>
              </a:rPr>
              <a:t>WEIGHT DECAY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C6FF37-877A-F746-8B62-312A4A453961}"/>
              </a:ext>
            </a:extLst>
          </p:cNvPr>
          <p:cNvSpPr txBox="1"/>
          <p:nvPr/>
        </p:nvSpPr>
        <p:spPr>
          <a:xfrm>
            <a:off x="7696200" y="3492500"/>
            <a:ext cx="1651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1A2740"/>
                </a:solidFill>
                <a:latin typeface="Garamond"/>
              </a:rPr>
              <a:t>0.486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F365CD-A975-5141-BC5E-0306EA23E8A2}"/>
              </a:ext>
            </a:extLst>
          </p:cNvPr>
          <p:cNvSpPr txBox="1"/>
          <p:nvPr/>
        </p:nvSpPr>
        <p:spPr>
          <a:xfrm>
            <a:off x="9525000" y="3390900"/>
            <a:ext cx="15748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r">
              <a:buNone/>
            </a:pPr>
            <a:r>
              <a:rPr lang="en-US" sz="1800" b="1" dirty="0">
                <a:solidFill>
                  <a:srgbClr val="8B7355"/>
                </a:solidFill>
                <a:latin typeface="Garamond"/>
              </a:rPr>
              <a:t>−7.1%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49B7547-1553-A24D-BB1F-5AA8A572FF2A}"/>
              </a:ext>
            </a:extLst>
          </p:cNvPr>
          <p:cNvSpPr/>
          <p:nvPr/>
        </p:nvSpPr>
        <p:spPr>
          <a:xfrm>
            <a:off x="7493000" y="4127500"/>
            <a:ext cx="3683000" cy="889000"/>
          </a:xfrm>
          <a:prstGeom prst="rect">
            <a:avLst/>
          </a:prstGeom>
          <a:solidFill>
            <a:srgbClr val="F3EEE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5CE2820-7E3D-634F-A9BE-18202BFB81CF}"/>
              </a:ext>
            </a:extLst>
          </p:cNvPr>
          <p:cNvSpPr/>
          <p:nvPr/>
        </p:nvSpPr>
        <p:spPr>
          <a:xfrm>
            <a:off x="7493000" y="4127500"/>
            <a:ext cx="38100" cy="889000"/>
          </a:xfrm>
          <a:prstGeom prst="rect">
            <a:avLst/>
          </a:prstGeom>
          <a:solidFill>
            <a:srgbClr val="8B1A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92DA01-D9AE-124D-9896-D4A6FE0FD38B}"/>
              </a:ext>
            </a:extLst>
          </p:cNvPr>
          <p:cNvSpPr txBox="1"/>
          <p:nvPr/>
        </p:nvSpPr>
        <p:spPr>
          <a:xfrm>
            <a:off x="7696200" y="4279900"/>
            <a:ext cx="1651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1100" b="1" spc="400" dirty="0">
                <a:solidFill>
                  <a:srgbClr val="8B1A1A"/>
                </a:solidFill>
                <a:latin typeface="Garamond"/>
              </a:rPr>
              <a:t>DROPOUT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33E738E-60CC-EA4D-BCB1-B6D472193B9C}"/>
              </a:ext>
            </a:extLst>
          </p:cNvPr>
          <p:cNvSpPr txBox="1"/>
          <p:nvPr/>
        </p:nvSpPr>
        <p:spPr>
          <a:xfrm>
            <a:off x="7696200" y="4508500"/>
            <a:ext cx="1651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8B1A1A"/>
                </a:solidFill>
                <a:latin typeface="Garamond"/>
              </a:rPr>
              <a:t>0.404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16EEBC5-8D87-4146-BEAE-084026F2C6A0}"/>
              </a:ext>
            </a:extLst>
          </p:cNvPr>
          <p:cNvSpPr txBox="1"/>
          <p:nvPr/>
        </p:nvSpPr>
        <p:spPr>
          <a:xfrm>
            <a:off x="9525000" y="4406900"/>
            <a:ext cx="15748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r">
              <a:buNone/>
            </a:pPr>
            <a:r>
              <a:rPr lang="en-US" sz="1800" b="1" dirty="0">
                <a:solidFill>
                  <a:srgbClr val="8B1A1A"/>
                </a:solidFill>
                <a:latin typeface="Garamond"/>
              </a:rPr>
              <a:t>−22.9%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BC09176-E2FF-A948-AF2A-486D050863A3}"/>
              </a:ext>
            </a:extLst>
          </p:cNvPr>
          <p:cNvSpPr/>
          <p:nvPr/>
        </p:nvSpPr>
        <p:spPr>
          <a:xfrm>
            <a:off x="1016000" y="6197600"/>
            <a:ext cx="38100" cy="635000"/>
          </a:xfrm>
          <a:prstGeom prst="rect">
            <a:avLst/>
          </a:prstGeom>
          <a:solidFill>
            <a:srgbClr val="8B1A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0F759CA-A1B4-3449-B094-F8D22B36C4BA}"/>
              </a:ext>
            </a:extLst>
          </p:cNvPr>
          <p:cNvSpPr txBox="1"/>
          <p:nvPr/>
        </p:nvSpPr>
        <p:spPr>
          <a:xfrm>
            <a:off x="1219200" y="6159500"/>
            <a:ext cx="99568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120000" indent="0" algn="l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1A2740"/>
                </a:solidFill>
                <a:latin typeface="Garamond"/>
              </a:rPr>
              <a:t>The mechanism designed to prevent overfitting actively </a:t>
            </a:r>
            <a:r>
              <a:rPr lang="en-US" sz="1600" b="1" i="1" dirty="0">
                <a:solidFill>
                  <a:srgbClr val="8B1A1A"/>
                </a:solidFill>
                <a:latin typeface="Garamond"/>
              </a:rPr>
              <a:t>suppresses the weight structure that NID needs</a:t>
            </a:r>
            <a:r>
              <a:rPr lang="en-US" sz="1600" i="1" dirty="0">
                <a:solidFill>
                  <a:srgbClr val="1A2740"/>
                </a:solidFill>
                <a:latin typeface="Garamond"/>
              </a:rPr>
              <a:t>.</a:t>
            </a:r>
          </a:p>
          <a:p>
            <a:pPr marL="120000" indent="0" algn="l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8B7355"/>
                </a:solidFill>
                <a:latin typeface="Garamond"/>
              </a:rPr>
              <a:t>Dropout + weight decay ≈ dropout alone, dropout is the dominant factor.</a:t>
            </a:r>
          </a:p>
        </p:txBody>
      </p:sp>
      <p:pic>
        <p:nvPicPr>
          <p:cNvPr id="3" name="Picture 2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F5CEE741-B1AE-C7AA-51BB-8B47F2626F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652" y="2044701"/>
            <a:ext cx="6197600" cy="300990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D2037415-67E4-CA40-9F8C-1B861070816E}"/>
              </a:ext>
            </a:extLst>
          </p:cNvPr>
          <p:cNvSpPr/>
          <p:nvPr/>
        </p:nvSpPr>
        <p:spPr>
          <a:xfrm>
            <a:off x="7493000" y="5143500"/>
            <a:ext cx="3683000" cy="889000"/>
          </a:xfrm>
          <a:prstGeom prst="rect">
            <a:avLst/>
          </a:prstGeom>
          <a:solidFill>
            <a:srgbClr val="F3EEE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98DDB5B-0DEC-3947-AD60-A02958FA9F6C}"/>
              </a:ext>
            </a:extLst>
          </p:cNvPr>
          <p:cNvSpPr/>
          <p:nvPr/>
        </p:nvSpPr>
        <p:spPr>
          <a:xfrm>
            <a:off x="7493000" y="5143500"/>
            <a:ext cx="38100" cy="889000"/>
          </a:xfrm>
          <a:prstGeom prst="rect">
            <a:avLst/>
          </a:prstGeom>
          <a:solidFill>
            <a:srgbClr val="8B1A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2483A94-090D-714B-B04E-D01A7442C17D}"/>
              </a:ext>
            </a:extLst>
          </p:cNvPr>
          <p:cNvSpPr txBox="1"/>
          <p:nvPr/>
        </p:nvSpPr>
        <p:spPr>
          <a:xfrm>
            <a:off x="7569200" y="5295900"/>
            <a:ext cx="2159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1100" b="1" spc="100" dirty="0">
                <a:solidFill>
                  <a:srgbClr val="8B1A1A"/>
                </a:solidFill>
                <a:latin typeface="Garamond"/>
              </a:rPr>
              <a:t>DROPOUT + WEIGHT DECAY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71A856C-C5E6-9C4A-8457-8C5EC993DFF0}"/>
              </a:ext>
            </a:extLst>
          </p:cNvPr>
          <p:cNvSpPr txBox="1"/>
          <p:nvPr/>
        </p:nvSpPr>
        <p:spPr>
          <a:xfrm>
            <a:off x="7696200" y="5524500"/>
            <a:ext cx="1651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8B1A1A"/>
                </a:solidFill>
                <a:latin typeface="Garamond"/>
              </a:rPr>
              <a:t>0.400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7F53776-27B4-1B4C-BBCD-86FDB03F579B}"/>
              </a:ext>
            </a:extLst>
          </p:cNvPr>
          <p:cNvSpPr txBox="1"/>
          <p:nvPr/>
        </p:nvSpPr>
        <p:spPr>
          <a:xfrm>
            <a:off x="9525000" y="5422900"/>
            <a:ext cx="15748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r">
              <a:buNone/>
            </a:pPr>
            <a:r>
              <a:rPr lang="en-US" sz="1800" b="1" dirty="0">
                <a:solidFill>
                  <a:srgbClr val="8B1A1A"/>
                </a:solidFill>
                <a:latin typeface="Garamond"/>
              </a:rPr>
              <a:t>−23.7%</a:t>
            </a:r>
          </a:p>
        </p:txBody>
      </p:sp>
    </p:spTree>
    <p:extLst>
      <p:ext uri="{BB962C8B-B14F-4D97-AF65-F5344CB8AC3E}">
        <p14:creationId xmlns:p14="http://schemas.microsoft.com/office/powerpoint/2010/main" val="20179380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FA9E2F9-2FEB-6C46-AFA5-58806F1FDB93}"/>
              </a:ext>
            </a:extLst>
          </p:cNvPr>
          <p:cNvSpPr txBox="1"/>
          <p:nvPr/>
        </p:nvSpPr>
        <p:spPr>
          <a:xfrm>
            <a:off x="1016000" y="622212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1300" b="1" spc="600" dirty="0">
                <a:solidFill>
                  <a:srgbClr val="8B1A1A"/>
                </a:solidFill>
                <a:latin typeface="Garamond"/>
              </a:rPr>
              <a:t>RESULTS · NOISE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86FAE2-3D40-A342-8E58-66129733A923}"/>
              </a:ext>
            </a:extLst>
          </p:cNvPr>
          <p:cNvSpPr/>
          <p:nvPr/>
        </p:nvSpPr>
        <p:spPr>
          <a:xfrm>
            <a:off x="1016000" y="990600"/>
            <a:ext cx="762000" cy="25400"/>
          </a:xfrm>
          <a:prstGeom prst="rect">
            <a:avLst/>
          </a:prstGeom>
          <a:solidFill>
            <a:srgbClr val="8B1A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304FF6-164C-CC45-8AAB-0B35D5D31CC1}"/>
              </a:ext>
            </a:extLst>
          </p:cNvPr>
          <p:cNvSpPr txBox="1"/>
          <p:nvPr/>
        </p:nvSpPr>
        <p:spPr>
          <a:xfrm>
            <a:off x="1016000" y="1162050"/>
            <a:ext cx="1016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1A2740"/>
                </a:solidFill>
                <a:latin typeface="Garamond"/>
              </a:rPr>
              <a:t>Noise lowers the ceiling, not the shape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325DAF-5EFE-AE42-8132-9693CCF00D6A}"/>
              </a:ext>
            </a:extLst>
          </p:cNvPr>
          <p:cNvSpPr/>
          <p:nvPr/>
        </p:nvSpPr>
        <p:spPr>
          <a:xfrm>
            <a:off x="7493000" y="2095500"/>
            <a:ext cx="3683000" cy="952500"/>
          </a:xfrm>
          <a:prstGeom prst="rect">
            <a:avLst/>
          </a:prstGeom>
          <a:solidFill>
            <a:srgbClr val="F3EEE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C133B1-7F0C-BC4D-938C-241B0D94E804}"/>
              </a:ext>
            </a:extLst>
          </p:cNvPr>
          <p:cNvSpPr/>
          <p:nvPr/>
        </p:nvSpPr>
        <p:spPr>
          <a:xfrm>
            <a:off x="7493000" y="2095500"/>
            <a:ext cx="38100" cy="952500"/>
          </a:xfrm>
          <a:prstGeom prst="rect">
            <a:avLst/>
          </a:prstGeom>
          <a:solidFill>
            <a:srgbClr val="1A27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1EA084-1926-8241-8504-AD596B364FC4}"/>
              </a:ext>
            </a:extLst>
          </p:cNvPr>
          <p:cNvSpPr txBox="1"/>
          <p:nvPr/>
        </p:nvSpPr>
        <p:spPr>
          <a:xfrm>
            <a:off x="7696200" y="2260600"/>
            <a:ext cx="1651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1100" b="1" spc="400" dirty="0">
                <a:solidFill>
                  <a:srgbClr val="8B7355"/>
                </a:solidFill>
                <a:latin typeface="Garamond"/>
              </a:rPr>
              <a:t>NOISE  η = 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1CFD31-70C8-EB4F-B83C-B066454DAB9F}"/>
              </a:ext>
            </a:extLst>
          </p:cNvPr>
          <p:cNvSpPr txBox="1"/>
          <p:nvPr/>
        </p:nvSpPr>
        <p:spPr>
          <a:xfrm>
            <a:off x="7696200" y="2514600"/>
            <a:ext cx="1651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3200" b="1" dirty="0">
                <a:solidFill>
                  <a:srgbClr val="1A2740"/>
                </a:solidFill>
                <a:latin typeface="Garamond"/>
              </a:rPr>
              <a:t>0.564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51F32A-DF34-7049-900B-AA69B2F1A021}"/>
              </a:ext>
            </a:extLst>
          </p:cNvPr>
          <p:cNvSpPr txBox="1"/>
          <p:nvPr/>
        </p:nvSpPr>
        <p:spPr>
          <a:xfrm>
            <a:off x="9525000" y="2438400"/>
            <a:ext cx="15748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r">
              <a:buNone/>
            </a:pPr>
            <a:r>
              <a:rPr lang="en-US" sz="1300" i="1" dirty="0">
                <a:solidFill>
                  <a:srgbClr val="8B7355"/>
                </a:solidFill>
                <a:latin typeface="Garamond"/>
              </a:rPr>
              <a:t>reference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1B90217-184A-FB4C-8222-6C288D272B12}"/>
              </a:ext>
            </a:extLst>
          </p:cNvPr>
          <p:cNvSpPr/>
          <p:nvPr/>
        </p:nvSpPr>
        <p:spPr>
          <a:xfrm>
            <a:off x="7493000" y="3200400"/>
            <a:ext cx="3683000" cy="952500"/>
          </a:xfrm>
          <a:prstGeom prst="rect">
            <a:avLst/>
          </a:prstGeom>
          <a:solidFill>
            <a:srgbClr val="F3EEE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9B0A62-4E29-324A-97A5-FA619D520A11}"/>
              </a:ext>
            </a:extLst>
          </p:cNvPr>
          <p:cNvSpPr/>
          <p:nvPr/>
        </p:nvSpPr>
        <p:spPr>
          <a:xfrm>
            <a:off x="7493000" y="3200400"/>
            <a:ext cx="38100" cy="952500"/>
          </a:xfrm>
          <a:prstGeom prst="rect">
            <a:avLst/>
          </a:prstGeom>
          <a:solidFill>
            <a:srgbClr val="8B1A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F1CE78-07FD-204C-BD34-1D513B483B18}"/>
              </a:ext>
            </a:extLst>
          </p:cNvPr>
          <p:cNvSpPr txBox="1"/>
          <p:nvPr/>
        </p:nvSpPr>
        <p:spPr>
          <a:xfrm>
            <a:off x="7696200" y="3365500"/>
            <a:ext cx="1651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1100" b="1" spc="400" dirty="0">
                <a:solidFill>
                  <a:srgbClr val="8B1A1A"/>
                </a:solidFill>
                <a:latin typeface="Garamond"/>
              </a:rPr>
              <a:t>NOISE  η = 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7A5673-A728-9B48-BB04-37B5769B5DB0}"/>
              </a:ext>
            </a:extLst>
          </p:cNvPr>
          <p:cNvSpPr txBox="1"/>
          <p:nvPr/>
        </p:nvSpPr>
        <p:spPr>
          <a:xfrm>
            <a:off x="7696200" y="3619500"/>
            <a:ext cx="1651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3200" b="1" dirty="0">
                <a:solidFill>
                  <a:srgbClr val="8B1A1A"/>
                </a:solidFill>
                <a:latin typeface="Garamond"/>
              </a:rPr>
              <a:t>0.360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46242F-5ACC-A148-BAE3-569B691D7822}"/>
              </a:ext>
            </a:extLst>
          </p:cNvPr>
          <p:cNvSpPr txBox="1"/>
          <p:nvPr/>
        </p:nvSpPr>
        <p:spPr>
          <a:xfrm>
            <a:off x="9525000" y="3543300"/>
            <a:ext cx="15748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r">
              <a:buNone/>
            </a:pPr>
            <a:r>
              <a:rPr lang="en-US" sz="1800" b="1" dirty="0">
                <a:solidFill>
                  <a:srgbClr val="8B1A1A"/>
                </a:solidFill>
                <a:latin typeface="Garamond"/>
              </a:rPr>
              <a:t>−36%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32EAD3-3F6F-7B47-AB06-58C753B62AE1}"/>
              </a:ext>
            </a:extLst>
          </p:cNvPr>
          <p:cNvSpPr txBox="1"/>
          <p:nvPr/>
        </p:nvSpPr>
        <p:spPr>
          <a:xfrm>
            <a:off x="7493000" y="4381500"/>
            <a:ext cx="3683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1100" b="1" spc="400" dirty="0">
                <a:solidFill>
                  <a:srgbClr val="8B1A1A"/>
                </a:solidFill>
                <a:latin typeface="Garamond"/>
              </a:rPr>
              <a:t>SAME SHAPE, DIFFERENT CEILING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B983EC-1B81-2A49-B8CD-666E8DEFA8ED}"/>
              </a:ext>
            </a:extLst>
          </p:cNvPr>
          <p:cNvSpPr txBox="1"/>
          <p:nvPr/>
        </p:nvSpPr>
        <p:spPr>
          <a:xfrm>
            <a:off x="7493000" y="4699000"/>
            <a:ext cx="3683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A2740"/>
                </a:solidFill>
                <a:latin typeface="Garamond"/>
              </a:rPr>
              <a:t>All five noise levels show the same early rise and plateau by epoch ~20 only the </a:t>
            </a:r>
            <a:r>
              <a:rPr lang="en-US" sz="1400" i="1" dirty="0">
                <a:solidFill>
                  <a:srgbClr val="8B1A1A"/>
                </a:solidFill>
                <a:latin typeface="Garamond"/>
              </a:rPr>
              <a:t>height</a:t>
            </a:r>
            <a:r>
              <a:rPr lang="en-US" sz="1400" dirty="0">
                <a:solidFill>
                  <a:srgbClr val="1A2740"/>
                </a:solidFill>
                <a:latin typeface="Garamond"/>
              </a:rPr>
              <a:t> changes.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7209894-8427-7942-BCE1-05C5F1E7CB90}"/>
              </a:ext>
            </a:extLst>
          </p:cNvPr>
          <p:cNvSpPr/>
          <p:nvPr/>
        </p:nvSpPr>
        <p:spPr>
          <a:xfrm>
            <a:off x="1016000" y="5969000"/>
            <a:ext cx="38100" cy="635000"/>
          </a:xfrm>
          <a:prstGeom prst="rect">
            <a:avLst/>
          </a:prstGeom>
          <a:solidFill>
            <a:srgbClr val="8B1A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6FAF49C-249A-1B41-BF27-658DFA445C60}"/>
              </a:ext>
            </a:extLst>
          </p:cNvPr>
          <p:cNvSpPr txBox="1"/>
          <p:nvPr/>
        </p:nvSpPr>
        <p:spPr>
          <a:xfrm>
            <a:off x="1219200" y="5930900"/>
            <a:ext cx="99568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120000" indent="0" algn="l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1A2740"/>
                </a:solidFill>
                <a:latin typeface="Garamond"/>
              </a:rPr>
              <a:t>Interaction structure is encoded in the </a:t>
            </a:r>
            <a:r>
              <a:rPr lang="en-US" sz="1600" b="1" i="1" dirty="0">
                <a:solidFill>
                  <a:srgbClr val="8B1A1A"/>
                </a:solidFill>
                <a:latin typeface="Garamond"/>
              </a:rPr>
              <a:t>first 20 epochs</a:t>
            </a:r>
            <a:r>
              <a:rPr lang="en-US" sz="1600" b="1" i="1" dirty="0">
                <a:solidFill>
                  <a:srgbClr val="1A2740"/>
                </a:solidFill>
                <a:latin typeface="Garamond"/>
              </a:rPr>
              <a:t>,</a:t>
            </a:r>
            <a:r>
              <a:rPr lang="en-US" sz="1600" i="1" dirty="0">
                <a:solidFill>
                  <a:srgbClr val="1A2740"/>
                </a:solidFill>
                <a:latin typeface="Garamond"/>
              </a:rPr>
              <a:t> before noise fitting competes.</a:t>
            </a:r>
          </a:p>
        </p:txBody>
      </p:sp>
      <p:pic>
        <p:nvPicPr>
          <p:cNvPr id="20" name="Picture 19" descr="A graph of a graph showing different colored lines&#10;&#10;AI-generated content may be incorrect.">
            <a:extLst>
              <a:ext uri="{FF2B5EF4-FFF2-40B4-BE49-F238E27FC236}">
                <a16:creationId xmlns:a16="http://schemas.microsoft.com/office/drawing/2014/main" id="{36440C49-487F-3439-94D9-E68B714D06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045" y="1964060"/>
            <a:ext cx="6560110" cy="3179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6179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graphs showing different types of data&#10;&#10;AI-generated content may be incorrect.">
            <a:extLst>
              <a:ext uri="{FF2B5EF4-FFF2-40B4-BE49-F238E27FC236}">
                <a16:creationId xmlns:a16="http://schemas.microsoft.com/office/drawing/2014/main" id="{121DBD32-547D-8705-88DE-6501FBD51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0" y="1968500"/>
            <a:ext cx="5842000" cy="41402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9E3555F-83B3-6B49-8B69-11D82F9ABF9A}"/>
              </a:ext>
            </a:extLst>
          </p:cNvPr>
          <p:cNvSpPr txBox="1"/>
          <p:nvPr/>
        </p:nvSpPr>
        <p:spPr>
          <a:xfrm>
            <a:off x="1016000" y="635000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1300" b="1" spc="600" dirty="0">
                <a:solidFill>
                  <a:srgbClr val="8B1A1A"/>
                </a:solidFill>
                <a:latin typeface="Garamond"/>
              </a:rPr>
              <a:t>RESULTS · STABILITY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92D998-C84D-5745-B7BC-92CFA0659CC0}"/>
              </a:ext>
            </a:extLst>
          </p:cNvPr>
          <p:cNvSpPr/>
          <p:nvPr/>
        </p:nvSpPr>
        <p:spPr>
          <a:xfrm>
            <a:off x="1016000" y="990600"/>
            <a:ext cx="762000" cy="25400"/>
          </a:xfrm>
          <a:prstGeom prst="rect">
            <a:avLst/>
          </a:prstGeom>
          <a:solidFill>
            <a:srgbClr val="8B1A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C12483-4D97-D94B-BE9E-797DB5930CF4}"/>
              </a:ext>
            </a:extLst>
          </p:cNvPr>
          <p:cNvSpPr txBox="1"/>
          <p:nvPr/>
        </p:nvSpPr>
        <p:spPr>
          <a:xfrm>
            <a:off x="1016000" y="1168400"/>
            <a:ext cx="1016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1A2740"/>
                </a:solidFill>
                <a:latin typeface="Garamond"/>
              </a:rPr>
              <a:t>Trajectory reveals what endpoints miss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AF804D-177D-FE44-86FE-4A450CDCCE85}"/>
              </a:ext>
            </a:extLst>
          </p:cNvPr>
          <p:cNvSpPr/>
          <p:nvPr/>
        </p:nvSpPr>
        <p:spPr>
          <a:xfrm>
            <a:off x="7366000" y="2159000"/>
            <a:ext cx="38100" cy="1143000"/>
          </a:xfrm>
          <a:prstGeom prst="rect">
            <a:avLst/>
          </a:prstGeom>
          <a:solidFill>
            <a:srgbClr val="8B1A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E8F956-E3F6-8C4B-A873-BBB4063F9E3D}"/>
              </a:ext>
            </a:extLst>
          </p:cNvPr>
          <p:cNvSpPr txBox="1"/>
          <p:nvPr/>
        </p:nvSpPr>
        <p:spPr>
          <a:xfrm>
            <a:off x="7518400" y="2209800"/>
            <a:ext cx="1778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1000" b="1" spc="400" dirty="0">
                <a:solidFill>
                  <a:srgbClr val="8B1A1A"/>
                </a:solidFill>
                <a:latin typeface="Garamond"/>
              </a:rPr>
              <a:t>TOP  ·  LEFT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42E831-B0E2-D84B-93A4-3607E8F39144}"/>
              </a:ext>
            </a:extLst>
          </p:cNvPr>
          <p:cNvSpPr txBox="1"/>
          <p:nvPr/>
        </p:nvSpPr>
        <p:spPr>
          <a:xfrm>
            <a:off x="7518400" y="2463800"/>
            <a:ext cx="1778000" cy="812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A2740"/>
                </a:solidFill>
                <a:latin typeface="Garamond"/>
              </a:rPr>
              <a:t>Progressive recovery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buNone/>
            </a:pPr>
            <a:r>
              <a:rPr lang="en-US" sz="1100" i="1" dirty="0">
                <a:solidFill>
                  <a:srgbClr val="8B7355"/>
                </a:solidFill>
                <a:latin typeface="Garamond"/>
              </a:rPr>
              <a:t>base condition keeps improving through epoch 100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DAE471-7F88-484C-919E-37379C4408BC}"/>
              </a:ext>
            </a:extLst>
          </p:cNvPr>
          <p:cNvSpPr/>
          <p:nvPr/>
        </p:nvSpPr>
        <p:spPr>
          <a:xfrm>
            <a:off x="9334500" y="2159000"/>
            <a:ext cx="38100" cy="1143000"/>
          </a:xfrm>
          <a:prstGeom prst="rect">
            <a:avLst/>
          </a:prstGeom>
          <a:solidFill>
            <a:srgbClr val="8B1A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82A6EA-503C-9947-80EA-71E25B47CF4F}"/>
              </a:ext>
            </a:extLst>
          </p:cNvPr>
          <p:cNvSpPr txBox="1"/>
          <p:nvPr/>
        </p:nvSpPr>
        <p:spPr>
          <a:xfrm>
            <a:off x="9486900" y="2209800"/>
            <a:ext cx="1778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1000" b="1" spc="400" dirty="0">
                <a:solidFill>
                  <a:srgbClr val="8B1A1A"/>
                </a:solidFill>
                <a:latin typeface="Garamond"/>
              </a:rPr>
              <a:t>TOP  ·  RIGHT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309DE9-E766-8042-810F-A5413E953C6A}"/>
              </a:ext>
            </a:extLst>
          </p:cNvPr>
          <p:cNvSpPr txBox="1"/>
          <p:nvPr/>
        </p:nvSpPr>
        <p:spPr>
          <a:xfrm>
            <a:off x="9486900" y="2463800"/>
            <a:ext cx="1778000" cy="812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A2740"/>
                </a:solidFill>
                <a:latin typeface="Garamond"/>
              </a:rPr>
              <a:t>Flat from epoch 5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buNone/>
            </a:pPr>
            <a:r>
              <a:rPr lang="en-US" sz="1100" i="1" dirty="0">
                <a:solidFill>
                  <a:srgbClr val="8B7355"/>
                </a:solidFill>
                <a:latin typeface="Garamond"/>
              </a:rPr>
              <a:t>dropout destroys recovery immediately, not gradually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0E06CB-822C-DC44-AF23-C94F6D2DF185}"/>
              </a:ext>
            </a:extLst>
          </p:cNvPr>
          <p:cNvSpPr/>
          <p:nvPr/>
        </p:nvSpPr>
        <p:spPr>
          <a:xfrm>
            <a:off x="7366000" y="4381500"/>
            <a:ext cx="38100" cy="1143000"/>
          </a:xfrm>
          <a:prstGeom prst="rect">
            <a:avLst/>
          </a:prstGeom>
          <a:solidFill>
            <a:srgbClr val="8B1A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2DC321-4AD5-8143-AC9B-BE839ADEBA06}"/>
              </a:ext>
            </a:extLst>
          </p:cNvPr>
          <p:cNvSpPr txBox="1"/>
          <p:nvPr/>
        </p:nvSpPr>
        <p:spPr>
          <a:xfrm>
            <a:off x="7518400" y="4432300"/>
            <a:ext cx="1778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1000" b="1" spc="400" dirty="0">
                <a:solidFill>
                  <a:srgbClr val="8B1A1A"/>
                </a:solidFill>
                <a:latin typeface="Garamond"/>
              </a:rPr>
              <a:t>BOTTOM  ·  LEFT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808C5A-8331-FB41-91BE-841C0805D1E4}"/>
              </a:ext>
            </a:extLst>
          </p:cNvPr>
          <p:cNvSpPr txBox="1"/>
          <p:nvPr/>
        </p:nvSpPr>
        <p:spPr>
          <a:xfrm>
            <a:off x="7518400" y="4686300"/>
            <a:ext cx="1778000" cy="812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A2740"/>
                </a:solidFill>
                <a:latin typeface="Garamond"/>
              </a:rPr>
              <a:t>Early ceiling, stable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buNone/>
            </a:pPr>
            <a:r>
              <a:rPr lang="en-US" sz="1100" i="1" dirty="0">
                <a:solidFill>
                  <a:srgbClr val="8B7355"/>
                </a:solidFill>
                <a:latin typeface="Garamond"/>
              </a:rPr>
              <a:t>noise sets the floor — trajectory shape unchanged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C85830C-A1D2-A54B-ABF7-1C951E92475A}"/>
              </a:ext>
            </a:extLst>
          </p:cNvPr>
          <p:cNvSpPr/>
          <p:nvPr/>
        </p:nvSpPr>
        <p:spPr>
          <a:xfrm>
            <a:off x="9334500" y="4381500"/>
            <a:ext cx="38100" cy="1143000"/>
          </a:xfrm>
          <a:prstGeom prst="rect">
            <a:avLst/>
          </a:prstGeom>
          <a:solidFill>
            <a:srgbClr val="8B1A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D224A0-B267-D04E-8E7C-ABED7A64B21C}"/>
              </a:ext>
            </a:extLst>
          </p:cNvPr>
          <p:cNvSpPr txBox="1"/>
          <p:nvPr/>
        </p:nvSpPr>
        <p:spPr>
          <a:xfrm>
            <a:off x="9486900" y="4432300"/>
            <a:ext cx="1778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1000" b="1" spc="400" dirty="0">
                <a:solidFill>
                  <a:srgbClr val="8B1A1A"/>
                </a:solidFill>
                <a:latin typeface="Garamond"/>
              </a:rPr>
              <a:t>BOTTOM  ·  RIGHT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812ACDC-816A-6D4B-8931-2B970E7FF797}"/>
              </a:ext>
            </a:extLst>
          </p:cNvPr>
          <p:cNvSpPr txBox="1"/>
          <p:nvPr/>
        </p:nvSpPr>
        <p:spPr>
          <a:xfrm>
            <a:off x="9486900" y="4686300"/>
            <a:ext cx="1778000" cy="812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A2740"/>
                </a:solidFill>
                <a:latin typeface="Garamond"/>
              </a:rPr>
              <a:t>Brief rise, then suppressed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buNone/>
            </a:pPr>
            <a:r>
              <a:rPr lang="en-US" sz="1100" i="1" dirty="0">
                <a:solidFill>
                  <a:srgbClr val="8B7355"/>
                </a:solidFill>
                <a:latin typeface="Garamond"/>
              </a:rPr>
              <a:t>regularization briefly delays noise fitting but can’t sustain it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D6D55B-8A12-A54E-984B-999A02E99DBB}"/>
              </a:ext>
            </a:extLst>
          </p:cNvPr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1A27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3CB7F6D-1555-1049-8F8C-28BD72B62C09}"/>
              </a:ext>
            </a:extLst>
          </p:cNvPr>
          <p:cNvSpPr txBox="1"/>
          <p:nvPr/>
        </p:nvSpPr>
        <p:spPr>
          <a:xfrm>
            <a:off x="762000" y="6388100"/>
            <a:ext cx="1066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n-US" sz="1500" i="1" dirty="0">
                <a:solidFill>
                  <a:srgbClr val="FFFFFF"/>
                </a:solidFill>
                <a:latin typeface="Garamond"/>
              </a:rPr>
              <a:t>Evaluating only at best validation loss misses all of this — </a:t>
            </a:r>
            <a:r>
              <a:rPr lang="en-US" sz="1500" b="1" dirty="0">
                <a:solidFill>
                  <a:srgbClr val="FFFFFF"/>
                </a:solidFill>
                <a:latin typeface="Garamond"/>
              </a:rPr>
              <a:t>the trajectory is the finding</a:t>
            </a:r>
            <a:r>
              <a:rPr lang="en-US" sz="1500" i="1" dirty="0">
                <a:solidFill>
                  <a:srgbClr val="FFFFFF"/>
                </a:solidFill>
                <a:latin typeface="Garamond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528836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8B975F-D5C0-9048-9197-25304767F0C0}"/>
              </a:ext>
            </a:extLst>
          </p:cNvPr>
          <p:cNvSpPr txBox="1"/>
          <p:nvPr/>
        </p:nvSpPr>
        <p:spPr>
          <a:xfrm>
            <a:off x="1016000" y="635000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1300" b="1" spc="600" dirty="0">
                <a:solidFill>
                  <a:srgbClr val="8B1A1A"/>
                </a:solidFill>
                <a:latin typeface="Garamond"/>
              </a:rPr>
              <a:t>RESULTS · MODEL SELECTION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098B13-CBF7-3044-BB4A-F61E831781CC}"/>
              </a:ext>
            </a:extLst>
          </p:cNvPr>
          <p:cNvSpPr/>
          <p:nvPr/>
        </p:nvSpPr>
        <p:spPr>
          <a:xfrm>
            <a:off x="1016000" y="990600"/>
            <a:ext cx="762000" cy="25400"/>
          </a:xfrm>
          <a:prstGeom prst="rect">
            <a:avLst/>
          </a:prstGeom>
          <a:solidFill>
            <a:srgbClr val="8B1A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B45D5C-2BFF-BB48-910B-22DC84CED17C}"/>
              </a:ext>
            </a:extLst>
          </p:cNvPr>
          <p:cNvSpPr txBox="1"/>
          <p:nvPr/>
        </p:nvSpPr>
        <p:spPr>
          <a:xfrm>
            <a:off x="1016000" y="1168400"/>
            <a:ext cx="1016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1A2740"/>
                </a:solidFill>
                <a:latin typeface="Garamond"/>
              </a:rPr>
              <a:t>Validation loss </a:t>
            </a:r>
            <a:r>
              <a:rPr lang="en-US" sz="2800" b="1" dirty="0">
                <a:solidFill>
                  <a:srgbClr val="8B1A1A"/>
                </a:solidFill>
                <a:latin typeface="Garamond"/>
              </a:rPr>
              <a:t>≠</a:t>
            </a:r>
            <a:r>
              <a:rPr lang="en-US" sz="2800" b="1" dirty="0">
                <a:solidFill>
                  <a:srgbClr val="1A2740"/>
                </a:solidFill>
                <a:latin typeface="Garamond"/>
              </a:rPr>
              <a:t> interaction recovery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2D574C-AC62-524B-83DE-50B5812BE22C}"/>
              </a:ext>
            </a:extLst>
          </p:cNvPr>
          <p:cNvSpPr txBox="1"/>
          <p:nvPr/>
        </p:nvSpPr>
        <p:spPr>
          <a:xfrm>
            <a:off x="841309" y="1577775"/>
            <a:ext cx="4572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l-GR" sz="6000" dirty="0">
                <a:solidFill>
                  <a:schemeClr val="accent1"/>
                </a:solidFill>
              </a:rPr>
              <a:t>Ρ</a:t>
            </a:r>
            <a:r>
              <a:rPr lang="en-US" sz="6000" b="1" dirty="0">
                <a:solidFill>
                  <a:schemeClr val="accent1"/>
                </a:solidFill>
                <a:latin typeface="Garamond"/>
              </a:rPr>
              <a:t> =</a:t>
            </a:r>
            <a:r>
              <a:rPr lang="en-US" sz="6000" b="1" dirty="0">
                <a:solidFill>
                  <a:srgbClr val="8B1A1A"/>
                </a:solidFill>
                <a:latin typeface="Garamond"/>
              </a:rPr>
              <a:t> −0.22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0B6600-99D6-E648-8036-77EEC4C83FF0}"/>
              </a:ext>
            </a:extLst>
          </p:cNvPr>
          <p:cNvSpPr txBox="1"/>
          <p:nvPr/>
        </p:nvSpPr>
        <p:spPr>
          <a:xfrm>
            <a:off x="549209" y="2479475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1400" i="1" dirty="0">
                <a:solidFill>
                  <a:srgbClr val="8B7355"/>
                </a:solidFill>
                <a:latin typeface="Garamond"/>
              </a:rPr>
              <a:t>Spearman correlation · n = 626 · p &lt; 0.001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721F82B-DC46-3F4A-872E-0BBE6230BD41}"/>
              </a:ext>
            </a:extLst>
          </p:cNvPr>
          <p:cNvSpPr/>
          <p:nvPr/>
        </p:nvSpPr>
        <p:spPr>
          <a:xfrm>
            <a:off x="6350000" y="2222500"/>
            <a:ext cx="4826000" cy="4000500"/>
          </a:xfrm>
          <a:prstGeom prst="rect">
            <a:avLst/>
          </a:prstGeom>
          <a:solidFill>
            <a:srgbClr val="F3EEE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B228E6E-615D-FF4C-AAA5-2D88368853AD}"/>
              </a:ext>
            </a:extLst>
          </p:cNvPr>
          <p:cNvSpPr/>
          <p:nvPr/>
        </p:nvSpPr>
        <p:spPr>
          <a:xfrm>
            <a:off x="6350000" y="2222500"/>
            <a:ext cx="38100" cy="4000500"/>
          </a:xfrm>
          <a:prstGeom prst="rect">
            <a:avLst/>
          </a:prstGeom>
          <a:solidFill>
            <a:srgbClr val="8B1A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DADFF46-7557-EB47-94FC-5B6B1BCA91E3}"/>
              </a:ext>
            </a:extLst>
          </p:cNvPr>
          <p:cNvSpPr txBox="1"/>
          <p:nvPr/>
        </p:nvSpPr>
        <p:spPr>
          <a:xfrm>
            <a:off x="6553200" y="2476500"/>
            <a:ext cx="444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1300" b="1" spc="600" dirty="0">
                <a:solidFill>
                  <a:srgbClr val="8B1A1A"/>
                </a:solidFill>
                <a:latin typeface="Garamond"/>
              </a:rPr>
              <a:t>WHAT THIS MEANS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8B45ED6-DF11-344E-A7F8-AC3006E50560}"/>
              </a:ext>
            </a:extLst>
          </p:cNvPr>
          <p:cNvSpPr txBox="1"/>
          <p:nvPr/>
        </p:nvSpPr>
        <p:spPr>
          <a:xfrm>
            <a:off x="6553200" y="3048000"/>
            <a:ext cx="304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1800" b="1" dirty="0">
                <a:solidFill>
                  <a:srgbClr val="8B1A1A"/>
                </a:solidFill>
                <a:latin typeface="Garamond"/>
              </a:rPr>
              <a:t>→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B8B9BDF-B79D-1A41-9B7C-96F34830C168}"/>
              </a:ext>
            </a:extLst>
          </p:cNvPr>
          <p:cNvSpPr txBox="1"/>
          <p:nvPr/>
        </p:nvSpPr>
        <p:spPr>
          <a:xfrm>
            <a:off x="6959600" y="3022600"/>
            <a:ext cx="4064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1A2740"/>
                </a:solidFill>
                <a:latin typeface="Garamond"/>
              </a:rPr>
              <a:t>Validation loss explains only a </a:t>
            </a:r>
            <a:r>
              <a:rPr lang="en-US" sz="1500" b="1" dirty="0">
                <a:solidFill>
                  <a:srgbClr val="1A2740"/>
                </a:solidFill>
                <a:latin typeface="Garamond"/>
              </a:rPr>
              <a:t>small fraction</a:t>
            </a:r>
            <a:r>
              <a:rPr lang="en-US" sz="1500" dirty="0">
                <a:solidFill>
                  <a:srgbClr val="1A2740"/>
                </a:solidFill>
                <a:latin typeface="Garamond"/>
              </a:rPr>
              <a:t> of variance in AUPRC.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003F768-712E-FF46-96BD-08CF8B6AAABA}"/>
              </a:ext>
            </a:extLst>
          </p:cNvPr>
          <p:cNvSpPr txBox="1"/>
          <p:nvPr/>
        </p:nvSpPr>
        <p:spPr>
          <a:xfrm>
            <a:off x="6553200" y="3873500"/>
            <a:ext cx="304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1800" b="1" dirty="0">
                <a:solidFill>
                  <a:srgbClr val="8B1A1A"/>
                </a:solidFill>
                <a:latin typeface="Garamond"/>
              </a:rPr>
              <a:t>→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C54B8D1-F529-E541-A6F8-6F02D4BE7C45}"/>
              </a:ext>
            </a:extLst>
          </p:cNvPr>
          <p:cNvSpPr txBox="1"/>
          <p:nvPr/>
        </p:nvSpPr>
        <p:spPr>
          <a:xfrm>
            <a:off x="6959600" y="3848100"/>
            <a:ext cx="4064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1A2740"/>
                </a:solidFill>
                <a:latin typeface="Garamond"/>
              </a:rPr>
              <a:t>Models at the same val loss can differ by </a:t>
            </a:r>
            <a:r>
              <a:rPr lang="en-US" sz="1500" b="1" dirty="0">
                <a:solidFill>
                  <a:srgbClr val="8B1A1A"/>
                </a:solidFill>
                <a:latin typeface="Garamond"/>
              </a:rPr>
              <a:t>0.4 AUPRC points</a:t>
            </a:r>
            <a:r>
              <a:rPr lang="en-US" sz="1500" b="1" dirty="0">
                <a:solidFill>
                  <a:srgbClr val="1A2740"/>
                </a:solidFill>
                <a:latin typeface="Garamond"/>
              </a:rPr>
              <a:t>,</a:t>
            </a:r>
            <a:r>
              <a:rPr lang="en-US" sz="1500" dirty="0">
                <a:solidFill>
                  <a:srgbClr val="1A2740"/>
                </a:solidFill>
                <a:latin typeface="Garamond"/>
              </a:rPr>
              <a:t> nearly the full observable range.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0A4DD29-065C-014C-98FE-571E888BA809}"/>
              </a:ext>
            </a:extLst>
          </p:cNvPr>
          <p:cNvSpPr txBox="1"/>
          <p:nvPr/>
        </p:nvSpPr>
        <p:spPr>
          <a:xfrm>
            <a:off x="6553200" y="4953000"/>
            <a:ext cx="304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1800" b="1" dirty="0">
                <a:solidFill>
                  <a:srgbClr val="8B1A1A"/>
                </a:solidFill>
                <a:latin typeface="Garamond"/>
              </a:rPr>
              <a:t>→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B11F41C-52EA-C846-B82C-5C8AA35E4198}"/>
              </a:ext>
            </a:extLst>
          </p:cNvPr>
          <p:cNvSpPr txBox="1"/>
          <p:nvPr/>
        </p:nvSpPr>
        <p:spPr>
          <a:xfrm>
            <a:off x="6959600" y="4927600"/>
            <a:ext cx="4064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1A2740"/>
                </a:solidFill>
                <a:latin typeface="Garamond"/>
              </a:rPr>
              <a:t>Ground-truth evaluation is </a:t>
            </a:r>
            <a:r>
              <a:rPr lang="en-US" sz="1500" b="1" i="1" dirty="0">
                <a:solidFill>
                  <a:srgbClr val="8B1A1A"/>
                </a:solidFill>
                <a:latin typeface="Garamond"/>
              </a:rPr>
              <a:t>necessary, not optional</a:t>
            </a:r>
            <a:r>
              <a:rPr lang="en-US" sz="1500" dirty="0">
                <a:solidFill>
                  <a:srgbClr val="1A2740"/>
                </a:solidFill>
                <a:latin typeface="Garamond"/>
              </a:rPr>
              <a:t> for picking the best model for interaction detection.</a:t>
            </a:r>
          </a:p>
        </p:txBody>
      </p:sp>
      <p:pic>
        <p:nvPicPr>
          <p:cNvPr id="57" name="Picture 56" descr="A graph of a log scale&#10;&#10;AI-generated content may be incorrect.">
            <a:extLst>
              <a:ext uri="{FF2B5EF4-FFF2-40B4-BE49-F238E27FC236}">
                <a16:creationId xmlns:a16="http://schemas.microsoft.com/office/drawing/2014/main" id="{210168F3-E05F-2917-D5DD-132AB4395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0" y="3073312"/>
            <a:ext cx="4285139" cy="2965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1131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AA7C23-7BCD-C048-908E-47F1D14CF683}"/>
              </a:ext>
            </a:extLst>
          </p:cNvPr>
          <p:cNvSpPr txBox="1"/>
          <p:nvPr/>
        </p:nvSpPr>
        <p:spPr>
          <a:xfrm>
            <a:off x="1016000" y="635000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1300" b="1" spc="600" dirty="0">
                <a:solidFill>
                  <a:srgbClr val="8B1A1A"/>
                </a:solidFill>
                <a:latin typeface="Garamond"/>
              </a:rPr>
              <a:t>RESULTS · ARCHITECTURE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DB97BA-AE63-F14E-BC6E-9B80E28FF1BE}"/>
              </a:ext>
            </a:extLst>
          </p:cNvPr>
          <p:cNvSpPr/>
          <p:nvPr/>
        </p:nvSpPr>
        <p:spPr>
          <a:xfrm>
            <a:off x="1016000" y="990600"/>
            <a:ext cx="762000" cy="25400"/>
          </a:xfrm>
          <a:prstGeom prst="rect">
            <a:avLst/>
          </a:prstGeom>
          <a:solidFill>
            <a:srgbClr val="8B1A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657C80-34DE-CE4D-9743-E31304C9148D}"/>
              </a:ext>
            </a:extLst>
          </p:cNvPr>
          <p:cNvSpPr txBox="1"/>
          <p:nvPr/>
        </p:nvSpPr>
        <p:spPr>
          <a:xfrm>
            <a:off x="1016000" y="1168400"/>
            <a:ext cx="1016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1A2740"/>
                </a:solidFill>
                <a:latin typeface="Garamond"/>
              </a:rPr>
              <a:t>Smaller models recover interactions more reliably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1F0F82-326A-E749-8F4B-84F38F00129B}"/>
              </a:ext>
            </a:extLst>
          </p:cNvPr>
          <p:cNvSpPr txBox="1"/>
          <p:nvPr/>
        </p:nvSpPr>
        <p:spPr>
          <a:xfrm>
            <a:off x="1503351" y="1627469"/>
            <a:ext cx="1270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7200" b="1" dirty="0">
                <a:solidFill>
                  <a:srgbClr val="8B1A1A"/>
                </a:solidFill>
                <a:latin typeface="Garamond"/>
              </a:rPr>
              <a:t>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810952-D05F-CF48-A029-D0A47A55ADFB}"/>
              </a:ext>
            </a:extLst>
          </p:cNvPr>
          <p:cNvSpPr txBox="1"/>
          <p:nvPr/>
        </p:nvSpPr>
        <p:spPr>
          <a:xfrm>
            <a:off x="2055801" y="2062913"/>
            <a:ext cx="127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2400" i="1" dirty="0">
                <a:solidFill>
                  <a:srgbClr val="8B7355"/>
                </a:solidFill>
                <a:latin typeface="Garamond"/>
              </a:rPr>
              <a:t>of 10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1704F0-55E2-9B4D-8193-84FE47A51DBB}"/>
              </a:ext>
            </a:extLst>
          </p:cNvPr>
          <p:cNvSpPr txBox="1"/>
          <p:nvPr/>
        </p:nvSpPr>
        <p:spPr>
          <a:xfrm>
            <a:off x="920082" y="2594537"/>
            <a:ext cx="4291357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1A2740"/>
                </a:solidFill>
                <a:latin typeface="Garamond"/>
              </a:rPr>
              <a:t>benchmark functions where the small model wins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6FEC39F-221A-4445-9860-1AC6F4AC82AF}"/>
              </a:ext>
            </a:extLst>
          </p:cNvPr>
          <p:cNvSpPr/>
          <p:nvPr/>
        </p:nvSpPr>
        <p:spPr>
          <a:xfrm>
            <a:off x="6731000" y="2222500"/>
            <a:ext cx="4445000" cy="3683000"/>
          </a:xfrm>
          <a:prstGeom prst="rect">
            <a:avLst/>
          </a:prstGeom>
          <a:solidFill>
            <a:srgbClr val="F3EEE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2540B06C-50C0-6644-85B0-30E7F51BF779}"/>
              </a:ext>
            </a:extLst>
          </p:cNvPr>
          <p:cNvSpPr/>
          <p:nvPr/>
        </p:nvSpPr>
        <p:spPr>
          <a:xfrm>
            <a:off x="6731000" y="2222500"/>
            <a:ext cx="38100" cy="3683000"/>
          </a:xfrm>
          <a:prstGeom prst="rect">
            <a:avLst/>
          </a:prstGeom>
          <a:solidFill>
            <a:srgbClr val="8B1A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F7E85C7-917B-0B4B-9CA2-F51F7ED4D8A8}"/>
              </a:ext>
            </a:extLst>
          </p:cNvPr>
          <p:cNvSpPr txBox="1"/>
          <p:nvPr/>
        </p:nvSpPr>
        <p:spPr>
          <a:xfrm>
            <a:off x="6934200" y="2476500"/>
            <a:ext cx="406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1300" b="1" spc="600" dirty="0">
                <a:solidFill>
                  <a:srgbClr val="8B1A1A"/>
                </a:solidFill>
                <a:latin typeface="Garamond"/>
              </a:rPr>
              <a:t>THE INTUITION FAILS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A5D8273-379B-1347-8DAE-AC8AC48E0EB2}"/>
              </a:ext>
            </a:extLst>
          </p:cNvPr>
          <p:cNvSpPr txBox="1"/>
          <p:nvPr/>
        </p:nvSpPr>
        <p:spPr>
          <a:xfrm>
            <a:off x="6934200" y="3048000"/>
            <a:ext cx="4064000" cy="2540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1A2740"/>
                </a:solidFill>
                <a:latin typeface="Garamond"/>
              </a:rPr>
              <a:t>You’d expect more capacity to recover more complex interaction structure.</a:t>
            </a:r>
          </a:p>
          <a:p>
            <a:pPr algn="l">
              <a:lnSpc>
                <a:spcPct val="130000"/>
              </a:lnSpc>
              <a:spcBef>
                <a:spcPts val="800"/>
              </a:spcBef>
              <a:buNone/>
            </a:pPr>
            <a:r>
              <a:rPr lang="en-US" sz="1500" dirty="0">
                <a:solidFill>
                  <a:srgbClr val="1A2740"/>
                </a:solidFill>
                <a:latin typeface="Garamond"/>
              </a:rPr>
              <a:t>But the big model loses most on functions where recovery is otherwise </a:t>
            </a:r>
            <a:r>
              <a:rPr lang="en-US" sz="1500" i="1" dirty="0">
                <a:solidFill>
                  <a:srgbClr val="8B1A1A"/>
                </a:solidFill>
                <a:latin typeface="Garamond"/>
              </a:rPr>
              <a:t>highest</a:t>
            </a:r>
            <a:r>
              <a:rPr lang="en-US" sz="1500" dirty="0">
                <a:solidFill>
                  <a:srgbClr val="1A2740"/>
                </a:solidFill>
                <a:latin typeface="Garamond"/>
              </a:rPr>
              <a:t>.</a:t>
            </a:r>
          </a:p>
          <a:p>
            <a:pPr marL="120000" indent="0" algn="l">
              <a:lnSpc>
                <a:spcPct val="130000"/>
              </a:lnSpc>
              <a:spcBef>
                <a:spcPts val="1200"/>
              </a:spcBef>
              <a:buNone/>
            </a:pPr>
            <a:r>
              <a:rPr lang="en-US" sz="1500" b="1" i="1" dirty="0">
                <a:solidFill>
                  <a:srgbClr val="8B1A1A"/>
                </a:solidFill>
                <a:latin typeface="Garamond"/>
              </a:rPr>
              <a:t>More capacity = more opportunity to fit noise and spurious patterns, not better interaction recovery.</a:t>
            </a:r>
          </a:p>
        </p:txBody>
      </p:sp>
      <p:pic>
        <p:nvPicPr>
          <p:cNvPr id="71" name="Picture 70" descr="A graph with dots and lines&#10;&#10;AI-generated content may be incorrect.">
            <a:extLst>
              <a:ext uri="{FF2B5EF4-FFF2-40B4-BE49-F238E27FC236}">
                <a16:creationId xmlns:a16="http://schemas.microsoft.com/office/drawing/2014/main" id="{A086C76A-6086-B7D2-4780-A2524C6AA4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404" y="3282291"/>
            <a:ext cx="5493299" cy="2662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652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BFB95D-57C0-5B42-837A-B6D571DF31B3}"/>
              </a:ext>
            </a:extLst>
          </p:cNvPr>
          <p:cNvSpPr txBox="1"/>
          <p:nvPr/>
        </p:nvSpPr>
        <p:spPr>
          <a:xfrm>
            <a:off x="1016000" y="635000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1300" b="1" spc="600" dirty="0">
                <a:solidFill>
                  <a:srgbClr val="8B1A1A"/>
                </a:solidFill>
                <a:latin typeface="Garamond"/>
              </a:rPr>
              <a:t>DISCUSSION · MECHANISM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C60130-F0D3-9647-904D-B070F428225B}"/>
              </a:ext>
            </a:extLst>
          </p:cNvPr>
          <p:cNvSpPr/>
          <p:nvPr/>
        </p:nvSpPr>
        <p:spPr>
          <a:xfrm>
            <a:off x="1016000" y="990600"/>
            <a:ext cx="762000" cy="25400"/>
          </a:xfrm>
          <a:prstGeom prst="rect">
            <a:avLst/>
          </a:prstGeom>
          <a:solidFill>
            <a:srgbClr val="8B1A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E0AA71-6CD2-C143-AF3C-071E34D8D728}"/>
              </a:ext>
            </a:extLst>
          </p:cNvPr>
          <p:cNvSpPr txBox="1"/>
          <p:nvPr/>
        </p:nvSpPr>
        <p:spPr>
          <a:xfrm>
            <a:off x="1016000" y="1168400"/>
            <a:ext cx="1016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1A2740"/>
                </a:solidFill>
                <a:latin typeface="Garamond"/>
              </a:rPr>
              <a:t>Why these results make sense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D0627E-7B52-EC45-A6EB-E4DE277B7C27}"/>
              </a:ext>
            </a:extLst>
          </p:cNvPr>
          <p:cNvSpPr/>
          <p:nvPr/>
        </p:nvSpPr>
        <p:spPr>
          <a:xfrm>
            <a:off x="1016000" y="2159000"/>
            <a:ext cx="4953000" cy="3556000"/>
          </a:xfrm>
          <a:prstGeom prst="rect">
            <a:avLst/>
          </a:prstGeom>
          <a:solidFill>
            <a:srgbClr val="F3EEE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63862E-B578-BC4D-8C87-2E7AFB3D8F7E}"/>
              </a:ext>
            </a:extLst>
          </p:cNvPr>
          <p:cNvSpPr/>
          <p:nvPr/>
        </p:nvSpPr>
        <p:spPr>
          <a:xfrm>
            <a:off x="1016000" y="2159000"/>
            <a:ext cx="38100" cy="3556000"/>
          </a:xfrm>
          <a:prstGeom prst="rect">
            <a:avLst/>
          </a:prstGeom>
          <a:solidFill>
            <a:srgbClr val="8B1A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C2A796-6794-454E-ADAA-0BA8621715A6}"/>
              </a:ext>
            </a:extLst>
          </p:cNvPr>
          <p:cNvSpPr txBox="1"/>
          <p:nvPr/>
        </p:nvSpPr>
        <p:spPr>
          <a:xfrm>
            <a:off x="1270000" y="24130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1400" b="1" spc="600" dirty="0">
                <a:solidFill>
                  <a:srgbClr val="8B1A1A"/>
                </a:solidFill>
                <a:latin typeface="Garamond"/>
              </a:rPr>
              <a:t>DROPOUT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55543DF-8FBB-7242-8870-89C5D62D8DE2}"/>
              </a:ext>
            </a:extLst>
          </p:cNvPr>
          <p:cNvSpPr/>
          <p:nvPr/>
        </p:nvSpPr>
        <p:spPr>
          <a:xfrm>
            <a:off x="1587500" y="2984500"/>
            <a:ext cx="127000" cy="127000"/>
          </a:xfrm>
          <a:prstGeom prst="ellipse">
            <a:avLst/>
          </a:prstGeom>
          <a:solidFill>
            <a:srgbClr val="1A27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9FF57CD-60D2-CE47-97DF-DCAC2813D472}"/>
              </a:ext>
            </a:extLst>
          </p:cNvPr>
          <p:cNvSpPr/>
          <p:nvPr/>
        </p:nvSpPr>
        <p:spPr>
          <a:xfrm>
            <a:off x="1587500" y="3365500"/>
            <a:ext cx="127000" cy="127000"/>
          </a:xfrm>
          <a:prstGeom prst="ellipse">
            <a:avLst/>
          </a:prstGeom>
          <a:solidFill>
            <a:srgbClr val="1A27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B1E79EC-4406-E74A-A345-A20AE16CA439}"/>
              </a:ext>
            </a:extLst>
          </p:cNvPr>
          <p:cNvSpPr/>
          <p:nvPr/>
        </p:nvSpPr>
        <p:spPr>
          <a:xfrm>
            <a:off x="1587500" y="3746500"/>
            <a:ext cx="127000" cy="127000"/>
          </a:xfrm>
          <a:prstGeom prst="ellipse">
            <a:avLst/>
          </a:prstGeom>
          <a:solidFill>
            <a:srgbClr val="1A27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3655F61-C078-5842-B112-6F479B3B12ED}"/>
              </a:ext>
            </a:extLst>
          </p:cNvPr>
          <p:cNvSpPr/>
          <p:nvPr/>
        </p:nvSpPr>
        <p:spPr>
          <a:xfrm>
            <a:off x="3086100" y="2959100"/>
            <a:ext cx="177800" cy="177800"/>
          </a:xfrm>
          <a:prstGeom prst="ellipse">
            <a:avLst/>
          </a:prstGeom>
          <a:solidFill>
            <a:srgbClr val="1A27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BEBCD3D-6A37-2547-B3EA-6F1691AF2929}"/>
              </a:ext>
            </a:extLst>
          </p:cNvPr>
          <p:cNvSpPr/>
          <p:nvPr/>
        </p:nvSpPr>
        <p:spPr>
          <a:xfrm>
            <a:off x="3086100" y="3340100"/>
            <a:ext cx="177800" cy="177800"/>
          </a:xfrm>
          <a:prstGeom prst="ellipse">
            <a:avLst/>
          </a:prstGeom>
          <a:solidFill>
            <a:srgbClr val="FBF8F3"/>
          </a:solidFill>
          <a:ln w="19050" cap="flat" cmpd="sng" algn="ctr">
            <a:solidFill>
              <a:srgbClr val="8B1A1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3B499C5-81B6-834B-9EED-E565E02667BB}"/>
              </a:ext>
            </a:extLst>
          </p:cNvPr>
          <p:cNvSpPr/>
          <p:nvPr/>
        </p:nvSpPr>
        <p:spPr>
          <a:xfrm>
            <a:off x="3086100" y="3721100"/>
            <a:ext cx="177800" cy="177800"/>
          </a:xfrm>
          <a:prstGeom prst="ellipse">
            <a:avLst/>
          </a:prstGeom>
          <a:solidFill>
            <a:srgbClr val="1A27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509C3C7-0B5A-9D4E-84F1-516DF27073EF}"/>
              </a:ext>
            </a:extLst>
          </p:cNvPr>
          <p:cNvSpPr/>
          <p:nvPr/>
        </p:nvSpPr>
        <p:spPr>
          <a:xfrm>
            <a:off x="4762500" y="3365500"/>
            <a:ext cx="127000" cy="127000"/>
          </a:xfrm>
          <a:prstGeom prst="ellipse">
            <a:avLst/>
          </a:prstGeom>
          <a:solidFill>
            <a:srgbClr val="1A27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38891CA-8571-6140-8734-B41B9F0DE0D2}"/>
              </a:ext>
            </a:extLst>
          </p:cNvPr>
          <p:cNvSpPr txBox="1"/>
          <p:nvPr/>
        </p:nvSpPr>
        <p:spPr>
          <a:xfrm>
            <a:off x="1397000" y="4064000"/>
            <a:ext cx="635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n-US" sz="1000" i="1" dirty="0">
                <a:solidFill>
                  <a:srgbClr val="8B7355"/>
                </a:solidFill>
                <a:latin typeface="Garamond"/>
              </a:rPr>
              <a:t>input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2870ABE-7AC5-004D-AD2C-3378653AF507}"/>
              </a:ext>
            </a:extLst>
          </p:cNvPr>
          <p:cNvSpPr txBox="1"/>
          <p:nvPr/>
        </p:nvSpPr>
        <p:spPr>
          <a:xfrm>
            <a:off x="2870200" y="4064000"/>
            <a:ext cx="762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n-US" sz="1000" i="1" dirty="0">
                <a:solidFill>
                  <a:srgbClr val="8B7355"/>
                </a:solidFill>
                <a:latin typeface="Garamond"/>
              </a:rPr>
              <a:t>hidden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AFCD131-245B-4E43-8D8C-209AD15C1F85}"/>
              </a:ext>
            </a:extLst>
          </p:cNvPr>
          <p:cNvSpPr txBox="1"/>
          <p:nvPr/>
        </p:nvSpPr>
        <p:spPr>
          <a:xfrm>
            <a:off x="4572000" y="4064000"/>
            <a:ext cx="762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n-US" sz="1000" i="1" dirty="0">
                <a:solidFill>
                  <a:srgbClr val="8B7355"/>
                </a:solidFill>
                <a:latin typeface="Garamond"/>
              </a:rPr>
              <a:t>output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AB8D4C6-B202-3F4A-A32E-B7A0CA8D73D8}"/>
              </a:ext>
            </a:extLst>
          </p:cNvPr>
          <p:cNvSpPr txBox="1"/>
          <p:nvPr/>
        </p:nvSpPr>
        <p:spPr>
          <a:xfrm>
            <a:off x="1270000" y="4445000"/>
            <a:ext cx="457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1800" b="1" dirty="0">
                <a:solidFill>
                  <a:srgbClr val="1A2740"/>
                </a:solidFill>
                <a:latin typeface="Garamond"/>
              </a:rPr>
              <a:t>Changes </a:t>
            </a:r>
            <a:r>
              <a:rPr lang="en-US" sz="1800" b="1" dirty="0">
                <a:solidFill>
                  <a:srgbClr val="8B1A1A"/>
                </a:solidFill>
                <a:latin typeface="Garamond"/>
              </a:rPr>
              <a:t>which</a:t>
            </a:r>
            <a:r>
              <a:rPr lang="en-US" sz="1800" b="1" dirty="0">
                <a:solidFill>
                  <a:srgbClr val="1A2740"/>
                </a:solidFill>
                <a:latin typeface="Garamond"/>
              </a:rPr>
              <a:t> pathways exist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9FF7A69-D97A-934E-8712-ADE32EC085B6}"/>
              </a:ext>
            </a:extLst>
          </p:cNvPr>
          <p:cNvSpPr txBox="1"/>
          <p:nvPr/>
        </p:nvSpPr>
        <p:spPr>
          <a:xfrm>
            <a:off x="1270000" y="4826000"/>
            <a:ext cx="4572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A2740"/>
                </a:solidFill>
                <a:latin typeface="Garamond"/>
              </a:rPr>
              <a:t>Disabling hidden units </a:t>
            </a:r>
            <a:r>
              <a:rPr lang="en-US" sz="1400" i="1" dirty="0">
                <a:solidFill>
                  <a:srgbClr val="8B1A1A"/>
                </a:solidFill>
                <a:latin typeface="Garamond"/>
              </a:rPr>
              <a:t>destroys the shared routes</a:t>
            </a:r>
            <a:r>
              <a:rPr lang="en-US" sz="1400" dirty="0">
                <a:solidFill>
                  <a:srgbClr val="1A2740"/>
                </a:solidFill>
                <a:latin typeface="Garamond"/>
              </a:rPr>
              <a:t> that NID requires to detect interactions.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100" i="1" dirty="0">
                <a:solidFill>
                  <a:srgbClr val="8B7355"/>
                </a:solidFill>
                <a:latin typeface="Garamond"/>
              </a:rPr>
              <a:t>Lengerich et al. (2021) — dropout as order-specific regulariser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0F50A7B-0243-7741-BDCC-190919CD2107}"/>
              </a:ext>
            </a:extLst>
          </p:cNvPr>
          <p:cNvSpPr/>
          <p:nvPr/>
        </p:nvSpPr>
        <p:spPr>
          <a:xfrm>
            <a:off x="6223000" y="2159000"/>
            <a:ext cx="4953000" cy="3556000"/>
          </a:xfrm>
          <a:prstGeom prst="rect">
            <a:avLst/>
          </a:prstGeom>
          <a:solidFill>
            <a:srgbClr val="F3EEE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5F37525-662A-7C49-AD6E-66AAC3E13A0C}"/>
              </a:ext>
            </a:extLst>
          </p:cNvPr>
          <p:cNvSpPr/>
          <p:nvPr/>
        </p:nvSpPr>
        <p:spPr>
          <a:xfrm>
            <a:off x="6223000" y="2159000"/>
            <a:ext cx="38100" cy="3556000"/>
          </a:xfrm>
          <a:prstGeom prst="rect">
            <a:avLst/>
          </a:prstGeom>
          <a:solidFill>
            <a:srgbClr val="1A27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0D2745A-055B-3048-90FD-E56EEB5A6D6D}"/>
              </a:ext>
            </a:extLst>
          </p:cNvPr>
          <p:cNvSpPr txBox="1"/>
          <p:nvPr/>
        </p:nvSpPr>
        <p:spPr>
          <a:xfrm>
            <a:off x="6477000" y="2413000"/>
            <a:ext cx="317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1400" b="1" spc="600" dirty="0">
                <a:solidFill>
                  <a:srgbClr val="1A2740"/>
                </a:solidFill>
                <a:latin typeface="Garamond"/>
              </a:rPr>
              <a:t>WEIGHT DECAY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124C24E-3112-8945-87A3-C94000657051}"/>
              </a:ext>
            </a:extLst>
          </p:cNvPr>
          <p:cNvSpPr txBox="1"/>
          <p:nvPr/>
        </p:nvSpPr>
        <p:spPr>
          <a:xfrm>
            <a:off x="6604000" y="2819400"/>
            <a:ext cx="1016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n-US" sz="1000" i="1" dirty="0">
                <a:solidFill>
                  <a:srgbClr val="8B7355"/>
                </a:solidFill>
                <a:latin typeface="Garamond"/>
              </a:rPr>
              <a:t>before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B52E955-4E4E-0941-897F-FC3E8C5F72CC}"/>
              </a:ext>
            </a:extLst>
          </p:cNvPr>
          <p:cNvSpPr/>
          <p:nvPr/>
        </p:nvSpPr>
        <p:spPr>
          <a:xfrm>
            <a:off x="6604000" y="3200400"/>
            <a:ext cx="279400" cy="762000"/>
          </a:xfrm>
          <a:prstGeom prst="rect">
            <a:avLst/>
          </a:prstGeom>
          <a:solidFill>
            <a:srgbClr val="1A27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2BCEC97-46C1-FC40-B0ED-6BF919C70A26}"/>
              </a:ext>
            </a:extLst>
          </p:cNvPr>
          <p:cNvSpPr/>
          <p:nvPr/>
        </p:nvSpPr>
        <p:spPr>
          <a:xfrm>
            <a:off x="7061200" y="3479800"/>
            <a:ext cx="279400" cy="482600"/>
          </a:xfrm>
          <a:prstGeom prst="rect">
            <a:avLst/>
          </a:prstGeom>
          <a:solidFill>
            <a:srgbClr val="1A27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8997183-2699-C94E-9D23-1DBE63FDE85E}"/>
              </a:ext>
            </a:extLst>
          </p:cNvPr>
          <p:cNvSpPr/>
          <p:nvPr/>
        </p:nvSpPr>
        <p:spPr>
          <a:xfrm>
            <a:off x="7518400" y="3683000"/>
            <a:ext cx="279400" cy="279400"/>
          </a:xfrm>
          <a:prstGeom prst="rect">
            <a:avLst/>
          </a:prstGeom>
          <a:solidFill>
            <a:srgbClr val="1A27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07C1080-70A5-2542-AEE3-2A67EE4965C0}"/>
              </a:ext>
            </a:extLst>
          </p:cNvPr>
          <p:cNvCxnSpPr/>
          <p:nvPr/>
        </p:nvCxnSpPr>
        <p:spPr>
          <a:xfrm>
            <a:off x="6604000" y="3962400"/>
            <a:ext cx="1270000" cy="12700"/>
          </a:xfrm>
          <a:prstGeom prst="straightConnector1">
            <a:avLst/>
          </a:prstGeom>
          <a:ln w="6350" cap="flat" cmpd="sng" algn="ctr">
            <a:solidFill>
              <a:srgbClr val="8B7355"/>
            </a:solidFill>
            <a:prstDash val="solid"/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491EA605-B3BF-7A46-8A52-8B6E32D11177}"/>
              </a:ext>
            </a:extLst>
          </p:cNvPr>
          <p:cNvSpPr txBox="1"/>
          <p:nvPr/>
        </p:nvSpPr>
        <p:spPr>
          <a:xfrm>
            <a:off x="8026400" y="3556000"/>
            <a:ext cx="304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n-US" sz="1800" b="1" dirty="0">
                <a:solidFill>
                  <a:srgbClr val="8B7355"/>
                </a:solidFill>
                <a:latin typeface="Garamond"/>
              </a:rPr>
              <a:t>→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A50A32D-1F42-7848-9220-DEA662302617}"/>
              </a:ext>
            </a:extLst>
          </p:cNvPr>
          <p:cNvSpPr txBox="1"/>
          <p:nvPr/>
        </p:nvSpPr>
        <p:spPr>
          <a:xfrm>
            <a:off x="8636000" y="2819400"/>
            <a:ext cx="1016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n-US" sz="1000" i="1" dirty="0">
                <a:solidFill>
                  <a:srgbClr val="8B7355"/>
                </a:solidFill>
                <a:latin typeface="Garamond"/>
              </a:rPr>
              <a:t>after λ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B59E923-BD17-4442-87B0-BC3BB79B7990}"/>
              </a:ext>
            </a:extLst>
          </p:cNvPr>
          <p:cNvSpPr/>
          <p:nvPr/>
        </p:nvSpPr>
        <p:spPr>
          <a:xfrm>
            <a:off x="8636000" y="3403600"/>
            <a:ext cx="279400" cy="558800"/>
          </a:xfrm>
          <a:prstGeom prst="rect">
            <a:avLst/>
          </a:prstGeom>
          <a:solidFill>
            <a:srgbClr val="1A27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3274982-ABDE-8741-83AA-72630540B1AF}"/>
              </a:ext>
            </a:extLst>
          </p:cNvPr>
          <p:cNvSpPr/>
          <p:nvPr/>
        </p:nvSpPr>
        <p:spPr>
          <a:xfrm>
            <a:off x="9093200" y="3606800"/>
            <a:ext cx="279400" cy="355600"/>
          </a:xfrm>
          <a:prstGeom prst="rect">
            <a:avLst/>
          </a:prstGeom>
          <a:solidFill>
            <a:srgbClr val="1A27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384EBF5-356F-174F-8927-BFFDA72AE998}"/>
              </a:ext>
            </a:extLst>
          </p:cNvPr>
          <p:cNvSpPr/>
          <p:nvPr/>
        </p:nvSpPr>
        <p:spPr>
          <a:xfrm>
            <a:off x="9550400" y="3759200"/>
            <a:ext cx="279400" cy="203200"/>
          </a:xfrm>
          <a:prstGeom prst="rect">
            <a:avLst/>
          </a:prstGeom>
          <a:solidFill>
            <a:srgbClr val="1A27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3FF64283-8580-0245-B950-7705C55A2A60}"/>
              </a:ext>
            </a:extLst>
          </p:cNvPr>
          <p:cNvCxnSpPr/>
          <p:nvPr/>
        </p:nvCxnSpPr>
        <p:spPr>
          <a:xfrm>
            <a:off x="8636000" y="3962400"/>
            <a:ext cx="1270000" cy="12700"/>
          </a:xfrm>
          <a:prstGeom prst="straightConnector1">
            <a:avLst/>
          </a:prstGeom>
          <a:ln w="6350" cap="flat" cmpd="sng" algn="ctr">
            <a:solidFill>
              <a:srgbClr val="8B7355"/>
            </a:solidFill>
            <a:prstDash val="solid"/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B3F7089A-F394-1946-8AAE-674F67103C2C}"/>
              </a:ext>
            </a:extLst>
          </p:cNvPr>
          <p:cNvSpPr txBox="1"/>
          <p:nvPr/>
        </p:nvSpPr>
        <p:spPr>
          <a:xfrm>
            <a:off x="6477000" y="4064000"/>
            <a:ext cx="4572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n-US" sz="1100" i="1" dirty="0">
                <a:solidFill>
                  <a:srgbClr val="8B7355"/>
                </a:solidFill>
                <a:latin typeface="Garamond"/>
              </a:rPr>
              <a:t>ordering preserved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2096E75-DCD2-4A4C-8C75-17AC13DD924A}"/>
              </a:ext>
            </a:extLst>
          </p:cNvPr>
          <p:cNvSpPr txBox="1"/>
          <p:nvPr/>
        </p:nvSpPr>
        <p:spPr>
          <a:xfrm>
            <a:off x="6477000" y="4445000"/>
            <a:ext cx="457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1800" b="1" dirty="0">
                <a:solidFill>
                  <a:srgbClr val="1A2740"/>
                </a:solidFill>
                <a:latin typeface="Garamond"/>
              </a:rPr>
              <a:t>Only shrinks </a:t>
            </a:r>
            <a:r>
              <a:rPr lang="en-US" sz="1800" b="1" dirty="0">
                <a:solidFill>
                  <a:srgbClr val="8B1A1A"/>
                </a:solidFill>
                <a:latin typeface="Garamond"/>
              </a:rPr>
              <a:t>magnitudes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909B497-D1D6-1C49-B7B1-1D00F89BE9ED}"/>
              </a:ext>
            </a:extLst>
          </p:cNvPr>
          <p:cNvSpPr txBox="1"/>
          <p:nvPr/>
        </p:nvSpPr>
        <p:spPr>
          <a:xfrm>
            <a:off x="6477000" y="4826000"/>
            <a:ext cx="4572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A2740"/>
                </a:solidFill>
                <a:latin typeface="Garamond"/>
              </a:rPr>
              <a:t>L₂ pulls every weight toward zero proportionally, so the </a:t>
            </a:r>
            <a:r>
              <a:rPr lang="en-US" sz="1400" i="1" dirty="0">
                <a:solidFill>
                  <a:srgbClr val="8B1A1A"/>
                </a:solidFill>
                <a:latin typeface="Garamond"/>
              </a:rPr>
              <a:t>relative strength ordering</a:t>
            </a:r>
            <a:r>
              <a:rPr lang="en-US" sz="1400" dirty="0">
                <a:solidFill>
                  <a:srgbClr val="1A2740"/>
                </a:solidFill>
                <a:latin typeface="Garamond"/>
              </a:rPr>
              <a:t> NID reads stays intact.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100" i="1" dirty="0">
                <a:solidFill>
                  <a:srgbClr val="8B7355"/>
                </a:solidFill>
                <a:latin typeface="Garamond"/>
              </a:rPr>
              <a:t>Goodfellow et al. (2016) — L₂ shrinkage is magnitude-only</a:t>
            </a:r>
          </a:p>
        </p:txBody>
      </p:sp>
      <p:cxnSp>
        <p:nvCxnSpPr>
          <p:cNvPr id="1000" name="L1001"/>
          <p:cNvCxnSpPr/>
          <p:nvPr/>
        </p:nvCxnSpPr>
        <p:spPr>
          <a:xfrm>
            <a:off x="1651000" y="3048000"/>
            <a:ext cx="1524000" cy="12700"/>
          </a:xfrm>
          <a:prstGeom prst="line">
            <a:avLst/>
          </a:prstGeom>
          <a:ln w="9525">
            <a:solidFill>
              <a:srgbClr val="1A2740"/>
            </a:solidFill>
          </a:ln>
        </p:spPr>
      </p:cxnSp>
      <p:cxnSp>
        <p:nvCxnSpPr>
          <p:cNvPr id="1001" name="L1002"/>
          <p:cNvCxnSpPr/>
          <p:nvPr/>
        </p:nvCxnSpPr>
        <p:spPr>
          <a:xfrm>
            <a:off x="1651000" y="3048000"/>
            <a:ext cx="1524000" cy="381000"/>
          </a:xfrm>
          <a:prstGeom prst="line">
            <a:avLst/>
          </a:prstGeom>
          <a:ln w="6350">
            <a:solidFill>
              <a:srgbClr val="B8A98C"/>
            </a:solidFill>
            <a:prstDash val="dash"/>
          </a:ln>
        </p:spPr>
      </p:cxnSp>
      <p:cxnSp>
        <p:nvCxnSpPr>
          <p:cNvPr id="1002" name="L1003"/>
          <p:cNvCxnSpPr/>
          <p:nvPr/>
        </p:nvCxnSpPr>
        <p:spPr>
          <a:xfrm>
            <a:off x="1651000" y="3048000"/>
            <a:ext cx="1524000" cy="762000"/>
          </a:xfrm>
          <a:prstGeom prst="line">
            <a:avLst/>
          </a:prstGeom>
          <a:ln w="9525">
            <a:solidFill>
              <a:srgbClr val="1A2740"/>
            </a:solidFill>
          </a:ln>
        </p:spPr>
      </p:cxnSp>
      <p:cxnSp>
        <p:nvCxnSpPr>
          <p:cNvPr id="1003" name="L1004"/>
          <p:cNvCxnSpPr/>
          <p:nvPr/>
        </p:nvCxnSpPr>
        <p:spPr>
          <a:xfrm flipH="1">
            <a:off x="1651000" y="3048000"/>
            <a:ext cx="1524000" cy="381000"/>
          </a:xfrm>
          <a:prstGeom prst="line">
            <a:avLst/>
          </a:prstGeom>
          <a:ln w="9525">
            <a:solidFill>
              <a:srgbClr val="1A2740"/>
            </a:solidFill>
          </a:ln>
        </p:spPr>
      </p:cxnSp>
      <p:cxnSp>
        <p:nvCxnSpPr>
          <p:cNvPr id="1004" name="L1005"/>
          <p:cNvCxnSpPr/>
          <p:nvPr/>
        </p:nvCxnSpPr>
        <p:spPr>
          <a:xfrm>
            <a:off x="1651000" y="3429000"/>
            <a:ext cx="1524000" cy="12700"/>
          </a:xfrm>
          <a:prstGeom prst="line">
            <a:avLst/>
          </a:prstGeom>
          <a:ln w="6350">
            <a:solidFill>
              <a:srgbClr val="B8A98C"/>
            </a:solidFill>
            <a:prstDash val="dash"/>
          </a:ln>
        </p:spPr>
      </p:cxnSp>
      <p:cxnSp>
        <p:nvCxnSpPr>
          <p:cNvPr id="1005" name="L1006"/>
          <p:cNvCxnSpPr/>
          <p:nvPr/>
        </p:nvCxnSpPr>
        <p:spPr>
          <a:xfrm>
            <a:off x="1651000" y="3429000"/>
            <a:ext cx="1524000" cy="381000"/>
          </a:xfrm>
          <a:prstGeom prst="line">
            <a:avLst/>
          </a:prstGeom>
          <a:ln w="9525">
            <a:solidFill>
              <a:srgbClr val="1A2740"/>
            </a:solidFill>
          </a:ln>
        </p:spPr>
      </p:cxnSp>
      <p:cxnSp>
        <p:nvCxnSpPr>
          <p:cNvPr id="1006" name="L1007"/>
          <p:cNvCxnSpPr/>
          <p:nvPr/>
        </p:nvCxnSpPr>
        <p:spPr>
          <a:xfrm flipH="1">
            <a:off x="1651000" y="3048000"/>
            <a:ext cx="1524000" cy="762000"/>
          </a:xfrm>
          <a:prstGeom prst="line">
            <a:avLst/>
          </a:prstGeom>
          <a:ln w="9525">
            <a:solidFill>
              <a:srgbClr val="1A2740"/>
            </a:solidFill>
          </a:ln>
        </p:spPr>
      </p:cxnSp>
      <p:cxnSp>
        <p:nvCxnSpPr>
          <p:cNvPr id="1007" name="L1008"/>
          <p:cNvCxnSpPr/>
          <p:nvPr/>
        </p:nvCxnSpPr>
        <p:spPr>
          <a:xfrm flipH="1">
            <a:off x="1651000" y="3429000"/>
            <a:ext cx="1524000" cy="381000"/>
          </a:xfrm>
          <a:prstGeom prst="line">
            <a:avLst/>
          </a:prstGeom>
          <a:ln w="6350">
            <a:solidFill>
              <a:srgbClr val="B8A98C"/>
            </a:solidFill>
            <a:prstDash val="dash"/>
          </a:ln>
        </p:spPr>
      </p:cxnSp>
      <p:cxnSp>
        <p:nvCxnSpPr>
          <p:cNvPr id="1008" name="L1009"/>
          <p:cNvCxnSpPr/>
          <p:nvPr/>
        </p:nvCxnSpPr>
        <p:spPr>
          <a:xfrm>
            <a:off x="1651000" y="3810000"/>
            <a:ext cx="1524000" cy="12700"/>
          </a:xfrm>
          <a:prstGeom prst="line">
            <a:avLst/>
          </a:prstGeom>
          <a:ln w="9525">
            <a:solidFill>
              <a:srgbClr val="1A2740"/>
            </a:solidFill>
          </a:ln>
        </p:spPr>
      </p:cxnSp>
      <p:cxnSp>
        <p:nvCxnSpPr>
          <p:cNvPr id="1009" name="L1010"/>
          <p:cNvCxnSpPr/>
          <p:nvPr/>
        </p:nvCxnSpPr>
        <p:spPr>
          <a:xfrm>
            <a:off x="3175000" y="3048000"/>
            <a:ext cx="1651000" cy="381000"/>
          </a:xfrm>
          <a:prstGeom prst="line">
            <a:avLst/>
          </a:prstGeom>
          <a:ln w="9525">
            <a:solidFill>
              <a:srgbClr val="1A2740"/>
            </a:solidFill>
          </a:ln>
        </p:spPr>
      </p:cxnSp>
      <p:cxnSp>
        <p:nvCxnSpPr>
          <p:cNvPr id="1010" name="L1011"/>
          <p:cNvCxnSpPr/>
          <p:nvPr/>
        </p:nvCxnSpPr>
        <p:spPr>
          <a:xfrm>
            <a:off x="3175000" y="3429000"/>
            <a:ext cx="1651000" cy="12700"/>
          </a:xfrm>
          <a:prstGeom prst="line">
            <a:avLst/>
          </a:prstGeom>
          <a:ln w="6350">
            <a:solidFill>
              <a:srgbClr val="B8A98C"/>
            </a:solidFill>
            <a:prstDash val="dash"/>
          </a:ln>
        </p:spPr>
      </p:cxnSp>
      <p:cxnSp>
        <p:nvCxnSpPr>
          <p:cNvPr id="1011" name="L1012"/>
          <p:cNvCxnSpPr/>
          <p:nvPr/>
        </p:nvCxnSpPr>
        <p:spPr>
          <a:xfrm flipH="1">
            <a:off x="3175000" y="3429000"/>
            <a:ext cx="1651000" cy="381000"/>
          </a:xfrm>
          <a:prstGeom prst="line">
            <a:avLst/>
          </a:prstGeom>
          <a:ln w="9525">
            <a:solidFill>
              <a:srgbClr val="1A2740"/>
            </a:solidFill>
          </a:ln>
        </p:spPr>
      </p:cxnSp>
      <p:cxnSp>
        <p:nvCxnSpPr>
          <p:cNvPr id="1012" name="L1013"/>
          <p:cNvCxnSpPr/>
          <p:nvPr/>
        </p:nvCxnSpPr>
        <p:spPr>
          <a:xfrm>
            <a:off x="3098800" y="3352800"/>
            <a:ext cx="152400" cy="152400"/>
          </a:xfrm>
          <a:prstGeom prst="line">
            <a:avLst/>
          </a:prstGeom>
          <a:ln w="19050">
            <a:solidFill>
              <a:srgbClr val="8B1A1A"/>
            </a:solidFill>
          </a:ln>
        </p:spPr>
      </p:cxnSp>
      <p:cxnSp>
        <p:nvCxnSpPr>
          <p:cNvPr id="1013" name="L1014"/>
          <p:cNvCxnSpPr/>
          <p:nvPr/>
        </p:nvCxnSpPr>
        <p:spPr>
          <a:xfrm flipH="1">
            <a:off x="3098800" y="3352800"/>
            <a:ext cx="152400" cy="152400"/>
          </a:xfrm>
          <a:prstGeom prst="line">
            <a:avLst/>
          </a:prstGeom>
          <a:ln w="19050">
            <a:solidFill>
              <a:srgbClr val="8B1A1A"/>
            </a:solidFill>
          </a:ln>
        </p:spPr>
      </p:cxnSp>
    </p:spTree>
    <p:extLst>
      <p:ext uri="{BB962C8B-B14F-4D97-AF65-F5344CB8AC3E}">
        <p14:creationId xmlns:p14="http://schemas.microsoft.com/office/powerpoint/2010/main" val="18974845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CB1C9C-FA45-E547-95E5-D5B00E7EC7C4}"/>
              </a:ext>
            </a:extLst>
          </p:cNvPr>
          <p:cNvSpPr txBox="1"/>
          <p:nvPr/>
        </p:nvSpPr>
        <p:spPr>
          <a:xfrm>
            <a:off x="1016000" y="635000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1300" b="1" spc="600" dirty="0">
                <a:solidFill>
                  <a:srgbClr val="8B1A1A"/>
                </a:solidFill>
                <a:latin typeface="Garamond"/>
              </a:rPr>
              <a:t>DISCUSSION · LIMITATIONS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DACD1C-2832-A242-8DB8-65769DC1BC55}"/>
              </a:ext>
            </a:extLst>
          </p:cNvPr>
          <p:cNvSpPr/>
          <p:nvPr/>
        </p:nvSpPr>
        <p:spPr>
          <a:xfrm>
            <a:off x="1016000" y="990600"/>
            <a:ext cx="762000" cy="25400"/>
          </a:xfrm>
          <a:prstGeom prst="rect">
            <a:avLst/>
          </a:prstGeom>
          <a:solidFill>
            <a:srgbClr val="8B1A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5CEA7C-E0DB-4B43-857D-A3E7A42E09F9}"/>
              </a:ext>
            </a:extLst>
          </p:cNvPr>
          <p:cNvSpPr txBox="1"/>
          <p:nvPr/>
        </p:nvSpPr>
        <p:spPr>
          <a:xfrm>
            <a:off x="1016000" y="1168400"/>
            <a:ext cx="1016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1A2740"/>
                </a:solidFill>
                <a:latin typeface="Garamond"/>
              </a:rPr>
              <a:t>What this study can  and </a:t>
            </a:r>
            <a:r>
              <a:rPr lang="en-US" sz="2800" b="1" i="1" dirty="0">
                <a:solidFill>
                  <a:srgbClr val="8B1A1A"/>
                </a:solidFill>
                <a:latin typeface="Garamond"/>
              </a:rPr>
              <a:t>can’t</a:t>
            </a:r>
            <a:r>
              <a:rPr lang="en-US" sz="2800" b="1" dirty="0">
                <a:solidFill>
                  <a:srgbClr val="1A2740"/>
                </a:solidFill>
                <a:latin typeface="Garamond"/>
              </a:rPr>
              <a:t>  tell us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64D966-66A1-3942-B0FB-C185DB6EC7C7}"/>
              </a:ext>
            </a:extLst>
          </p:cNvPr>
          <p:cNvSpPr/>
          <p:nvPr/>
        </p:nvSpPr>
        <p:spPr>
          <a:xfrm>
            <a:off x="1016000" y="2095500"/>
            <a:ext cx="4953000" cy="1397000"/>
          </a:xfrm>
          <a:prstGeom prst="rect">
            <a:avLst/>
          </a:prstGeom>
          <a:solidFill>
            <a:srgbClr val="F3EEE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C782C9-2F03-7041-9543-F3B4BE1F17CE}"/>
              </a:ext>
            </a:extLst>
          </p:cNvPr>
          <p:cNvSpPr/>
          <p:nvPr/>
        </p:nvSpPr>
        <p:spPr>
          <a:xfrm>
            <a:off x="1016000" y="2095500"/>
            <a:ext cx="38100" cy="1397000"/>
          </a:xfrm>
          <a:prstGeom prst="rect">
            <a:avLst/>
          </a:prstGeom>
          <a:solidFill>
            <a:srgbClr val="8B1A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FAAA6C-CBF5-9041-BBB8-A6861CD87155}"/>
              </a:ext>
            </a:extLst>
          </p:cNvPr>
          <p:cNvSpPr txBox="1"/>
          <p:nvPr/>
        </p:nvSpPr>
        <p:spPr>
          <a:xfrm>
            <a:off x="1219200" y="2273300"/>
            <a:ext cx="635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3200" b="1" dirty="0">
                <a:solidFill>
                  <a:srgbClr val="8B1A1A"/>
                </a:solidFill>
                <a:latin typeface="Garamond"/>
              </a:rPr>
              <a:t>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AE472A-EB0D-9D49-B6B6-12362439B70E}"/>
              </a:ext>
            </a:extLst>
          </p:cNvPr>
          <p:cNvSpPr txBox="1"/>
          <p:nvPr/>
        </p:nvSpPr>
        <p:spPr>
          <a:xfrm>
            <a:off x="1930400" y="2324100"/>
            <a:ext cx="3937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1300" b="1" spc="400" dirty="0">
                <a:solidFill>
                  <a:srgbClr val="1A2740"/>
                </a:solidFill>
                <a:latin typeface="Garamond"/>
              </a:rPr>
              <a:t>SINGLE-SEED RUNS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116E0D-2BAB-2B4D-8945-978255C3DA3F}"/>
              </a:ext>
            </a:extLst>
          </p:cNvPr>
          <p:cNvSpPr txBox="1"/>
          <p:nvPr/>
        </p:nvSpPr>
        <p:spPr>
          <a:xfrm>
            <a:off x="1930400" y="2654300"/>
            <a:ext cx="39116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A2740"/>
                </a:solidFill>
                <a:latin typeface="Garamond"/>
              </a:rPr>
              <a:t>Stability claims are limited: </a:t>
            </a:r>
            <a:r>
              <a:rPr lang="en-US" sz="1400" i="1" dirty="0">
                <a:solidFill>
                  <a:srgbClr val="1A2740"/>
                </a:solidFill>
                <a:latin typeface="Garamond"/>
              </a:rPr>
              <a:t>within-condition variance can’t be separated</a:t>
            </a:r>
            <a:r>
              <a:rPr lang="en-US" sz="1400" dirty="0">
                <a:solidFill>
                  <a:srgbClr val="1A2740"/>
                </a:solidFill>
                <a:latin typeface="Garamond"/>
              </a:rPr>
              <a:t> from function-level differences.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7F2087-B78F-2D4C-BCA2-5224DAEDC243}"/>
              </a:ext>
            </a:extLst>
          </p:cNvPr>
          <p:cNvSpPr/>
          <p:nvPr/>
        </p:nvSpPr>
        <p:spPr>
          <a:xfrm>
            <a:off x="6223000" y="2095500"/>
            <a:ext cx="4953000" cy="1397000"/>
          </a:xfrm>
          <a:prstGeom prst="rect">
            <a:avLst/>
          </a:prstGeom>
          <a:solidFill>
            <a:srgbClr val="F3EEE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A41DEA7-3BEB-6842-9C04-3159289418AF}"/>
              </a:ext>
            </a:extLst>
          </p:cNvPr>
          <p:cNvSpPr/>
          <p:nvPr/>
        </p:nvSpPr>
        <p:spPr>
          <a:xfrm>
            <a:off x="6223000" y="2095500"/>
            <a:ext cx="38100" cy="1397000"/>
          </a:xfrm>
          <a:prstGeom prst="rect">
            <a:avLst/>
          </a:prstGeom>
          <a:solidFill>
            <a:srgbClr val="8B1A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9A7EC1-89B3-9949-94C4-5DBCC5A707AB}"/>
              </a:ext>
            </a:extLst>
          </p:cNvPr>
          <p:cNvSpPr txBox="1"/>
          <p:nvPr/>
        </p:nvSpPr>
        <p:spPr>
          <a:xfrm>
            <a:off x="6426200" y="2273300"/>
            <a:ext cx="635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3200" b="1" dirty="0">
                <a:solidFill>
                  <a:srgbClr val="8B1A1A"/>
                </a:solidFill>
                <a:latin typeface="Garamond"/>
              </a:rPr>
              <a:t>02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597EE5-B1CE-4F40-854B-F1A09E3AED30}"/>
              </a:ext>
            </a:extLst>
          </p:cNvPr>
          <p:cNvSpPr txBox="1"/>
          <p:nvPr/>
        </p:nvSpPr>
        <p:spPr>
          <a:xfrm>
            <a:off x="7137400" y="2324100"/>
            <a:ext cx="3937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1300" b="1" spc="400" dirty="0">
                <a:solidFill>
                  <a:srgbClr val="1A2740"/>
                </a:solidFill>
                <a:latin typeface="Garamond"/>
              </a:rPr>
              <a:t>SYNTHETIC DATA ONLY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6C925C-7360-3C46-B34E-1B6F5AEC925C}"/>
              </a:ext>
            </a:extLst>
          </p:cNvPr>
          <p:cNvSpPr txBox="1"/>
          <p:nvPr/>
        </p:nvSpPr>
        <p:spPr>
          <a:xfrm>
            <a:off x="7137400" y="2654300"/>
            <a:ext cx="39116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A2740"/>
                </a:solidFill>
                <a:latin typeface="Garamond"/>
              </a:rPr>
              <a:t>Transfer to real-world datasets with messy, correlated features is </a:t>
            </a:r>
            <a:r>
              <a:rPr lang="en-US" sz="1400" b="1" i="1" dirty="0">
                <a:solidFill>
                  <a:srgbClr val="8B1A1A"/>
                </a:solidFill>
                <a:latin typeface="Garamond"/>
              </a:rPr>
              <a:t>unknown</a:t>
            </a:r>
            <a:r>
              <a:rPr lang="en-US" sz="1400" dirty="0">
                <a:solidFill>
                  <a:srgbClr val="1A2740"/>
                </a:solidFill>
                <a:latin typeface="Garamond"/>
              </a:rPr>
              <a:t>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9A751DB-9F05-F247-990B-AAA221F151B6}"/>
              </a:ext>
            </a:extLst>
          </p:cNvPr>
          <p:cNvSpPr/>
          <p:nvPr/>
        </p:nvSpPr>
        <p:spPr>
          <a:xfrm>
            <a:off x="1016000" y="3746500"/>
            <a:ext cx="4953000" cy="1397000"/>
          </a:xfrm>
          <a:prstGeom prst="rect">
            <a:avLst/>
          </a:prstGeom>
          <a:solidFill>
            <a:srgbClr val="F3EEE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0A3CBAD-B9C2-8E44-A931-B2C3D526EBE5}"/>
              </a:ext>
            </a:extLst>
          </p:cNvPr>
          <p:cNvSpPr/>
          <p:nvPr/>
        </p:nvSpPr>
        <p:spPr>
          <a:xfrm>
            <a:off x="1016000" y="3746500"/>
            <a:ext cx="38100" cy="1397000"/>
          </a:xfrm>
          <a:prstGeom prst="rect">
            <a:avLst/>
          </a:prstGeom>
          <a:solidFill>
            <a:srgbClr val="8B1A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60225EB-D4F4-ED46-9F7F-0FBC6D7F2FEB}"/>
              </a:ext>
            </a:extLst>
          </p:cNvPr>
          <p:cNvSpPr txBox="1"/>
          <p:nvPr/>
        </p:nvSpPr>
        <p:spPr>
          <a:xfrm>
            <a:off x="1219200" y="3924300"/>
            <a:ext cx="635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3200" b="1" dirty="0">
                <a:solidFill>
                  <a:srgbClr val="8B1A1A"/>
                </a:solidFill>
                <a:latin typeface="Garamond"/>
              </a:rPr>
              <a:t>03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209BC79-5F98-D14D-8F81-FF371B1BC0A5}"/>
              </a:ext>
            </a:extLst>
          </p:cNvPr>
          <p:cNvSpPr txBox="1"/>
          <p:nvPr/>
        </p:nvSpPr>
        <p:spPr>
          <a:xfrm>
            <a:off x="1930400" y="3975100"/>
            <a:ext cx="3937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1300" b="1" spc="400" dirty="0">
                <a:solidFill>
                  <a:srgbClr val="1A2740"/>
                </a:solidFill>
                <a:latin typeface="Garamond"/>
              </a:rPr>
              <a:t>NID AS FIXED INSTRUMENT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84DE8A-9E63-A84E-A6A1-2B9DC7E94DA0}"/>
              </a:ext>
            </a:extLst>
          </p:cNvPr>
          <p:cNvSpPr txBox="1"/>
          <p:nvPr/>
        </p:nvSpPr>
        <p:spPr>
          <a:xfrm>
            <a:off x="1930400" y="4305300"/>
            <a:ext cx="39116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A2740"/>
                </a:solidFill>
                <a:latin typeface="Garamond"/>
              </a:rPr>
              <a:t>Results describe what NID reads, other detectors (</a:t>
            </a:r>
            <a:r>
              <a:rPr lang="en-US" sz="1400" i="1" dirty="0">
                <a:solidFill>
                  <a:srgbClr val="1A2740"/>
                </a:solidFill>
                <a:latin typeface="Garamond"/>
              </a:rPr>
              <a:t>SHAP</a:t>
            </a:r>
            <a:r>
              <a:rPr lang="en-US" sz="1400" dirty="0">
                <a:solidFill>
                  <a:srgbClr val="1A2740"/>
                </a:solidFill>
                <a:latin typeface="Garamond"/>
              </a:rPr>
              <a:t>, </a:t>
            </a:r>
            <a:r>
              <a:rPr lang="en-US" sz="1400" i="1" dirty="0">
                <a:solidFill>
                  <a:srgbClr val="1A2740"/>
                </a:solidFill>
                <a:latin typeface="Garamond"/>
              </a:rPr>
              <a:t>H-statistic</a:t>
            </a:r>
            <a:r>
              <a:rPr lang="en-US" sz="1400" dirty="0">
                <a:solidFill>
                  <a:srgbClr val="1A2740"/>
                </a:solidFill>
                <a:latin typeface="Garamond"/>
              </a:rPr>
              <a:t>) may behave differently.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2FA285E-7F9D-084A-B18F-0BCD1600DD6B}"/>
              </a:ext>
            </a:extLst>
          </p:cNvPr>
          <p:cNvSpPr/>
          <p:nvPr/>
        </p:nvSpPr>
        <p:spPr>
          <a:xfrm>
            <a:off x="6223000" y="3746500"/>
            <a:ext cx="4953000" cy="1397000"/>
          </a:xfrm>
          <a:prstGeom prst="rect">
            <a:avLst/>
          </a:prstGeom>
          <a:solidFill>
            <a:srgbClr val="F3EEE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E67CB18-BB58-4E47-B25F-7E749B9FC389}"/>
              </a:ext>
            </a:extLst>
          </p:cNvPr>
          <p:cNvSpPr/>
          <p:nvPr/>
        </p:nvSpPr>
        <p:spPr>
          <a:xfrm>
            <a:off x="6223000" y="3746500"/>
            <a:ext cx="38100" cy="1397000"/>
          </a:xfrm>
          <a:prstGeom prst="rect">
            <a:avLst/>
          </a:prstGeom>
          <a:solidFill>
            <a:srgbClr val="8B1A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B299436-6DEC-B34B-B4DA-C18D3EF751FB}"/>
              </a:ext>
            </a:extLst>
          </p:cNvPr>
          <p:cNvSpPr txBox="1"/>
          <p:nvPr/>
        </p:nvSpPr>
        <p:spPr>
          <a:xfrm>
            <a:off x="6426200" y="3924300"/>
            <a:ext cx="635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3200" b="1" dirty="0">
                <a:solidFill>
                  <a:srgbClr val="8B1A1A"/>
                </a:solidFill>
                <a:latin typeface="Garamond"/>
              </a:rPr>
              <a:t>04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6C2E3A3-E527-0448-A21E-1FF95037141B}"/>
              </a:ext>
            </a:extLst>
          </p:cNvPr>
          <p:cNvSpPr txBox="1"/>
          <p:nvPr/>
        </p:nvSpPr>
        <p:spPr>
          <a:xfrm>
            <a:off x="7137400" y="3975100"/>
            <a:ext cx="3937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1300" b="1" spc="400" dirty="0">
                <a:solidFill>
                  <a:srgbClr val="1A2740"/>
                </a:solidFill>
                <a:latin typeface="Garamond"/>
              </a:rPr>
              <a:t>OUTPUT NOISE ONLY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B4600EB-8C13-D047-B33A-907375EEB8F6}"/>
              </a:ext>
            </a:extLst>
          </p:cNvPr>
          <p:cNvSpPr txBox="1"/>
          <p:nvPr/>
        </p:nvSpPr>
        <p:spPr>
          <a:xfrm>
            <a:off x="7137400" y="4305300"/>
            <a:ext cx="39116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A2740"/>
                </a:solidFill>
                <a:latin typeface="Garamond"/>
              </a:rPr>
              <a:t>Input-feature noise has </a:t>
            </a:r>
            <a:r>
              <a:rPr lang="en-US" sz="1400" i="1" dirty="0">
                <a:solidFill>
                  <a:srgbClr val="1A2740"/>
                </a:solidFill>
                <a:latin typeface="Garamond"/>
              </a:rPr>
              <a:t>different dynamics</a:t>
            </a:r>
            <a:r>
              <a:rPr lang="en-US" sz="1400" dirty="0">
                <a:solidFill>
                  <a:srgbClr val="1A2740"/>
                </a:solidFill>
                <a:latin typeface="Garamond"/>
              </a:rPr>
              <a:t> and is not covered here.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7B40997-0575-9B4E-B61D-527AC6B7FACE}"/>
              </a:ext>
            </a:extLst>
          </p:cNvPr>
          <p:cNvSpPr txBox="1"/>
          <p:nvPr/>
        </p:nvSpPr>
        <p:spPr>
          <a:xfrm>
            <a:off x="1016000" y="5334000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1300" b="1" spc="600" dirty="0">
                <a:solidFill>
                  <a:srgbClr val="8B1A1A"/>
                </a:solidFill>
                <a:latin typeface="Garamond"/>
              </a:rPr>
              <a:t>FUTURE WORK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18860EF-8744-ED42-B939-391EB940A4E3}"/>
              </a:ext>
            </a:extLst>
          </p:cNvPr>
          <p:cNvSpPr/>
          <p:nvPr/>
        </p:nvSpPr>
        <p:spPr>
          <a:xfrm>
            <a:off x="1016000" y="5689600"/>
            <a:ext cx="508000" cy="25400"/>
          </a:xfrm>
          <a:prstGeom prst="rect">
            <a:avLst/>
          </a:prstGeom>
          <a:solidFill>
            <a:srgbClr val="8B1A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4BD0901-FDFC-3F48-8C8B-3134D67168C6}"/>
              </a:ext>
            </a:extLst>
          </p:cNvPr>
          <p:cNvSpPr txBox="1"/>
          <p:nvPr/>
        </p:nvSpPr>
        <p:spPr>
          <a:xfrm>
            <a:off x="1016000" y="5969000"/>
            <a:ext cx="3302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8B1A1A"/>
                </a:solidFill>
                <a:latin typeface="Garamond"/>
              </a:rPr>
              <a:t>→  </a:t>
            </a:r>
            <a:r>
              <a:rPr lang="en-US" sz="1500" dirty="0">
                <a:solidFill>
                  <a:srgbClr val="1A2740"/>
                </a:solidFill>
                <a:latin typeface="Garamond"/>
              </a:rPr>
              <a:t>Multi-seed replication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E2B317F-6639-134D-A8CD-5E5D2B7E31AA}"/>
              </a:ext>
            </a:extLst>
          </p:cNvPr>
          <p:cNvSpPr txBox="1"/>
          <p:nvPr/>
        </p:nvSpPr>
        <p:spPr>
          <a:xfrm>
            <a:off x="4445000" y="5969000"/>
            <a:ext cx="3302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8B1A1A"/>
                </a:solidFill>
                <a:latin typeface="Garamond"/>
              </a:rPr>
              <a:t>→  </a:t>
            </a:r>
            <a:r>
              <a:rPr lang="en-US" sz="1500" dirty="0">
                <a:solidFill>
                  <a:srgbClr val="1A2740"/>
                </a:solidFill>
                <a:latin typeface="Garamond"/>
              </a:rPr>
              <a:t>Real-world datasets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BE60813-6C4F-7F4E-A1F5-E72D2FA8B21F}"/>
              </a:ext>
            </a:extLst>
          </p:cNvPr>
          <p:cNvSpPr txBox="1"/>
          <p:nvPr/>
        </p:nvSpPr>
        <p:spPr>
          <a:xfrm>
            <a:off x="7874000" y="5969000"/>
            <a:ext cx="3302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8B1A1A"/>
                </a:solidFill>
                <a:latin typeface="Garamond"/>
              </a:rPr>
              <a:t>→  </a:t>
            </a:r>
            <a:r>
              <a:rPr lang="en-US" sz="1500" dirty="0">
                <a:solidFill>
                  <a:srgbClr val="1A2740"/>
                </a:solidFill>
                <a:latin typeface="Garamond"/>
              </a:rPr>
              <a:t>NID vs SHAP interactions</a:t>
            </a:r>
          </a:p>
        </p:txBody>
      </p:sp>
    </p:spTree>
    <p:extLst>
      <p:ext uri="{BB962C8B-B14F-4D97-AF65-F5344CB8AC3E}">
        <p14:creationId xmlns:p14="http://schemas.microsoft.com/office/powerpoint/2010/main" val="24977494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CAB367-B708-2746-986E-AA6A8C526780}"/>
              </a:ext>
            </a:extLst>
          </p:cNvPr>
          <p:cNvSpPr txBox="1"/>
          <p:nvPr/>
        </p:nvSpPr>
        <p:spPr>
          <a:xfrm>
            <a:off x="1016000" y="635000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1300" b="1" spc="600" dirty="0">
                <a:solidFill>
                  <a:srgbClr val="8B1A1A"/>
                </a:solidFill>
                <a:latin typeface="Garamond"/>
              </a:rPr>
              <a:t>CONCLUSION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975661A-AE79-4747-961D-806D5845DDF8}"/>
              </a:ext>
            </a:extLst>
          </p:cNvPr>
          <p:cNvSpPr/>
          <p:nvPr/>
        </p:nvSpPr>
        <p:spPr>
          <a:xfrm>
            <a:off x="1016000" y="990600"/>
            <a:ext cx="762000" cy="25400"/>
          </a:xfrm>
          <a:prstGeom prst="rect">
            <a:avLst/>
          </a:prstGeom>
          <a:solidFill>
            <a:srgbClr val="8B1A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56797A-B5D7-B14E-A94E-ADEA3AFD4357}"/>
              </a:ext>
            </a:extLst>
          </p:cNvPr>
          <p:cNvSpPr txBox="1"/>
          <p:nvPr/>
        </p:nvSpPr>
        <p:spPr>
          <a:xfrm>
            <a:off x="1016000" y="1168400"/>
            <a:ext cx="1016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1A2740"/>
                </a:solidFill>
                <a:latin typeface="Garamond"/>
              </a:rPr>
              <a:t>Four answers to one question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EEDC6B-2BEF-8640-98E1-7902CC1791D3}"/>
              </a:ext>
            </a:extLst>
          </p:cNvPr>
          <p:cNvSpPr/>
          <p:nvPr/>
        </p:nvSpPr>
        <p:spPr>
          <a:xfrm>
            <a:off x="1016000" y="1930400"/>
            <a:ext cx="10160000" cy="914400"/>
          </a:xfrm>
          <a:prstGeom prst="rect">
            <a:avLst/>
          </a:prstGeom>
          <a:solidFill>
            <a:srgbClr val="F3EEE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782654-60F2-934D-B3D0-2213230CB461}"/>
              </a:ext>
            </a:extLst>
          </p:cNvPr>
          <p:cNvSpPr/>
          <p:nvPr/>
        </p:nvSpPr>
        <p:spPr>
          <a:xfrm>
            <a:off x="1016000" y="1930400"/>
            <a:ext cx="38100" cy="914400"/>
          </a:xfrm>
          <a:prstGeom prst="rect">
            <a:avLst/>
          </a:prstGeom>
          <a:solidFill>
            <a:srgbClr val="8B1A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34BC89-BFD4-9348-A486-0CB04122267D}"/>
              </a:ext>
            </a:extLst>
          </p:cNvPr>
          <p:cNvSpPr txBox="1"/>
          <p:nvPr/>
        </p:nvSpPr>
        <p:spPr>
          <a:xfrm>
            <a:off x="1397000" y="2032000"/>
            <a:ext cx="96520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25000"/>
              </a:lnSpc>
              <a:buNone/>
            </a:pPr>
            <a:r>
              <a:rPr lang="en-US" sz="1700" i="1" dirty="0">
                <a:solidFill>
                  <a:srgbClr val="1A2740"/>
                </a:solidFill>
                <a:latin typeface="Garamond"/>
              </a:rPr>
              <a:t>How do regularization techniques and output noise influence the trajectory and stability of interaction recovery in MLPs, as measured against ground truth?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2E97F2-2BCA-114A-879F-B6C9651579DE}"/>
              </a:ext>
            </a:extLst>
          </p:cNvPr>
          <p:cNvSpPr txBox="1"/>
          <p:nvPr/>
        </p:nvSpPr>
        <p:spPr>
          <a:xfrm>
            <a:off x="1016000" y="2997200"/>
            <a:ext cx="889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3600" b="1" dirty="0">
                <a:solidFill>
                  <a:srgbClr val="8B1A1A"/>
                </a:solidFill>
                <a:latin typeface="Garamond"/>
              </a:rPr>
              <a:t>01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2545BA-2DB2-384F-BCDE-8F91344E522E}"/>
              </a:ext>
            </a:extLst>
          </p:cNvPr>
          <p:cNvSpPr txBox="1"/>
          <p:nvPr/>
        </p:nvSpPr>
        <p:spPr>
          <a:xfrm>
            <a:off x="1016000" y="3556000"/>
            <a:ext cx="2159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1200" b="1" spc="100" dirty="0">
                <a:solidFill>
                  <a:srgbClr val="8B7355"/>
                </a:solidFill>
                <a:latin typeface="Garamond"/>
              </a:rPr>
              <a:t>REGULARISATION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666DFCA-4923-2B4F-A706-5A06BC4DFE43}"/>
              </a:ext>
            </a:extLst>
          </p:cNvPr>
          <p:cNvSpPr/>
          <p:nvPr/>
        </p:nvSpPr>
        <p:spPr>
          <a:xfrm>
            <a:off x="2921000" y="3073400"/>
            <a:ext cx="12700" cy="736600"/>
          </a:xfrm>
          <a:prstGeom prst="rect">
            <a:avLst/>
          </a:prstGeom>
          <a:solidFill>
            <a:srgbClr val="8B735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0F4645-BD34-C348-86CB-F878418A8849}"/>
              </a:ext>
            </a:extLst>
          </p:cNvPr>
          <p:cNvSpPr txBox="1"/>
          <p:nvPr/>
        </p:nvSpPr>
        <p:spPr>
          <a:xfrm>
            <a:off x="3149600" y="3048000"/>
            <a:ext cx="8026400" cy="812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1A2740"/>
                </a:solidFill>
                <a:latin typeface="Garamond"/>
              </a:rPr>
              <a:t>Dropout suppresses interaction recovery by </a:t>
            </a:r>
            <a:r>
              <a:rPr lang="en-US" sz="1500" b="1" dirty="0">
                <a:solidFill>
                  <a:srgbClr val="8B1A1A"/>
                </a:solidFill>
                <a:latin typeface="Garamond"/>
              </a:rPr>
              <a:t>22.9%</a:t>
            </a:r>
            <a:r>
              <a:rPr lang="en-US" sz="1500" dirty="0">
                <a:solidFill>
                  <a:srgbClr val="1A2740"/>
                </a:solidFill>
                <a:latin typeface="Garamond"/>
              </a:rPr>
              <a:t>  weight decay does not. The dominant factor is </a:t>
            </a:r>
            <a:r>
              <a:rPr lang="en-US" sz="1500" i="1" dirty="0">
                <a:solidFill>
                  <a:srgbClr val="1A2740"/>
                </a:solidFill>
                <a:latin typeface="Garamond"/>
              </a:rPr>
              <a:t>which pathways exist</a:t>
            </a:r>
            <a:r>
              <a:rPr lang="en-US" sz="1500" dirty="0">
                <a:solidFill>
                  <a:srgbClr val="1A2740"/>
                </a:solidFill>
                <a:latin typeface="Garamond"/>
              </a:rPr>
              <a:t>, not their magnitude.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65DED7-AE24-B347-83DD-59F007BC24B1}"/>
              </a:ext>
            </a:extLst>
          </p:cNvPr>
          <p:cNvSpPr txBox="1"/>
          <p:nvPr/>
        </p:nvSpPr>
        <p:spPr>
          <a:xfrm>
            <a:off x="1016000" y="3886200"/>
            <a:ext cx="889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3600" b="1" dirty="0">
                <a:solidFill>
                  <a:srgbClr val="8B1A1A"/>
                </a:solidFill>
                <a:latin typeface="Garamond"/>
              </a:rPr>
              <a:t>02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121A4D-EF6E-1A4D-A178-F1366962BD0B}"/>
              </a:ext>
            </a:extLst>
          </p:cNvPr>
          <p:cNvSpPr txBox="1"/>
          <p:nvPr/>
        </p:nvSpPr>
        <p:spPr>
          <a:xfrm>
            <a:off x="1016000" y="4445000"/>
            <a:ext cx="2159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1200" b="1" spc="100" dirty="0">
                <a:solidFill>
                  <a:srgbClr val="8B7355"/>
                </a:solidFill>
                <a:latin typeface="Garamond"/>
              </a:rPr>
              <a:t>OUTPUT NOISE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5D91FF3-52AA-7A47-A30B-D7B3DB7B9365}"/>
              </a:ext>
            </a:extLst>
          </p:cNvPr>
          <p:cNvSpPr/>
          <p:nvPr/>
        </p:nvSpPr>
        <p:spPr>
          <a:xfrm>
            <a:off x="2921000" y="3962400"/>
            <a:ext cx="12700" cy="736600"/>
          </a:xfrm>
          <a:prstGeom prst="rect">
            <a:avLst/>
          </a:prstGeom>
          <a:solidFill>
            <a:srgbClr val="8B735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DE18B6-7341-3941-9D43-FC1DDB56EF18}"/>
              </a:ext>
            </a:extLst>
          </p:cNvPr>
          <p:cNvSpPr txBox="1"/>
          <p:nvPr/>
        </p:nvSpPr>
        <p:spPr>
          <a:xfrm>
            <a:off x="3149600" y="3937000"/>
            <a:ext cx="8026400" cy="812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1A2740"/>
                </a:solidFill>
                <a:latin typeface="Garamond"/>
              </a:rPr>
              <a:t>Noise lowers the recovery </a:t>
            </a:r>
            <a:r>
              <a:rPr lang="en-US" sz="1500" i="1" dirty="0">
                <a:solidFill>
                  <a:srgbClr val="1A2740"/>
                </a:solidFill>
                <a:latin typeface="Garamond"/>
              </a:rPr>
              <a:t>ceiling</a:t>
            </a:r>
            <a:r>
              <a:rPr lang="en-US" sz="1500" dirty="0">
                <a:solidFill>
                  <a:srgbClr val="1A2740"/>
                </a:solidFill>
                <a:latin typeface="Garamond"/>
              </a:rPr>
              <a:t> without changing the early trajectory shape  interaction structure is encoded in the </a:t>
            </a:r>
            <a:r>
              <a:rPr lang="en-US" sz="1500" b="1" dirty="0">
                <a:solidFill>
                  <a:srgbClr val="8B1A1A"/>
                </a:solidFill>
                <a:latin typeface="Garamond"/>
              </a:rPr>
              <a:t>first 20 epochs</a:t>
            </a:r>
            <a:r>
              <a:rPr lang="en-US" sz="1500" dirty="0">
                <a:solidFill>
                  <a:srgbClr val="1A2740"/>
                </a:solidFill>
                <a:latin typeface="Garamond"/>
              </a:rPr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B172A7-1541-4349-88EF-EA44E7212DDB}"/>
              </a:ext>
            </a:extLst>
          </p:cNvPr>
          <p:cNvSpPr txBox="1"/>
          <p:nvPr/>
        </p:nvSpPr>
        <p:spPr>
          <a:xfrm>
            <a:off x="1016000" y="4775200"/>
            <a:ext cx="889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3600" b="1" dirty="0">
                <a:solidFill>
                  <a:srgbClr val="8B1A1A"/>
                </a:solidFill>
                <a:latin typeface="Garamond"/>
              </a:rPr>
              <a:t>03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CB23818-7253-BC40-A38E-8E6719F945A5}"/>
              </a:ext>
            </a:extLst>
          </p:cNvPr>
          <p:cNvSpPr txBox="1"/>
          <p:nvPr/>
        </p:nvSpPr>
        <p:spPr>
          <a:xfrm>
            <a:off x="1016000" y="5334000"/>
            <a:ext cx="2159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1200" b="1" spc="0" dirty="0">
                <a:solidFill>
                  <a:srgbClr val="8B7355"/>
                </a:solidFill>
                <a:latin typeface="Garamond"/>
              </a:rPr>
              <a:t>MODEL SELECTION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B91892C-0160-E74A-97E3-3EAB5C75BDB8}"/>
              </a:ext>
            </a:extLst>
          </p:cNvPr>
          <p:cNvSpPr/>
          <p:nvPr/>
        </p:nvSpPr>
        <p:spPr>
          <a:xfrm>
            <a:off x="2921000" y="4851400"/>
            <a:ext cx="12700" cy="736600"/>
          </a:xfrm>
          <a:prstGeom prst="rect">
            <a:avLst/>
          </a:prstGeom>
          <a:solidFill>
            <a:srgbClr val="8B735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E4656F4-9CF1-1544-B646-76ACC55C121F}"/>
              </a:ext>
            </a:extLst>
          </p:cNvPr>
          <p:cNvSpPr txBox="1"/>
          <p:nvPr/>
        </p:nvSpPr>
        <p:spPr>
          <a:xfrm>
            <a:off x="3149600" y="4826000"/>
            <a:ext cx="8026400" cy="812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1A2740"/>
                </a:solidFill>
                <a:latin typeface="Garamond"/>
              </a:rPr>
              <a:t>Validation loss is a weak proxy for interaction recovery (</a:t>
            </a:r>
            <a:r>
              <a:rPr lang="en-US" sz="1500" b="1" dirty="0">
                <a:solidFill>
                  <a:srgbClr val="8B1A1A"/>
                </a:solidFill>
                <a:latin typeface="Cambria"/>
              </a:rPr>
              <a:t>ρ</a:t>
            </a:r>
            <a:r>
              <a:rPr lang="en-US" sz="1500" b="1" dirty="0">
                <a:solidFill>
                  <a:srgbClr val="8B1A1A"/>
                </a:solidFill>
                <a:latin typeface="Garamond"/>
              </a:rPr>
              <a:t> = −0.22</a:t>
            </a:r>
            <a:r>
              <a:rPr lang="en-US" sz="1500" dirty="0">
                <a:solidFill>
                  <a:srgbClr val="1A2740"/>
                </a:solidFill>
                <a:latin typeface="Garamond"/>
              </a:rPr>
              <a:t>). Ground-truth evaluation is </a:t>
            </a:r>
            <a:r>
              <a:rPr lang="en-US" sz="1500" b="1" i="1" dirty="0">
                <a:solidFill>
                  <a:srgbClr val="8B1A1A"/>
                </a:solidFill>
                <a:latin typeface="Garamond"/>
              </a:rPr>
              <a:t>necessary, not optional</a:t>
            </a:r>
            <a:r>
              <a:rPr lang="en-US" sz="1500" dirty="0">
                <a:solidFill>
                  <a:srgbClr val="1A2740"/>
                </a:solidFill>
                <a:latin typeface="Garamond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FFD7335-0E25-8943-8E96-4851B17C5F64}"/>
              </a:ext>
            </a:extLst>
          </p:cNvPr>
          <p:cNvSpPr txBox="1"/>
          <p:nvPr/>
        </p:nvSpPr>
        <p:spPr>
          <a:xfrm>
            <a:off x="1016000" y="5664200"/>
            <a:ext cx="889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3600" b="1" dirty="0">
                <a:solidFill>
                  <a:srgbClr val="8B1A1A"/>
                </a:solidFill>
                <a:latin typeface="Garamond"/>
              </a:rPr>
              <a:t>04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981B375-1E51-E144-9092-13D508714178}"/>
              </a:ext>
            </a:extLst>
          </p:cNvPr>
          <p:cNvSpPr txBox="1"/>
          <p:nvPr/>
        </p:nvSpPr>
        <p:spPr>
          <a:xfrm>
            <a:off x="1016000" y="6223000"/>
            <a:ext cx="2159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1200" b="1" spc="100" dirty="0">
                <a:solidFill>
                  <a:srgbClr val="8B7355"/>
                </a:solidFill>
                <a:latin typeface="Garamond"/>
              </a:rPr>
              <a:t>TRAJECTORY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21F9B46-0F5A-3848-A6BD-AEC0E5DD6C42}"/>
              </a:ext>
            </a:extLst>
          </p:cNvPr>
          <p:cNvSpPr/>
          <p:nvPr/>
        </p:nvSpPr>
        <p:spPr>
          <a:xfrm>
            <a:off x="2921000" y="5740400"/>
            <a:ext cx="12700" cy="736600"/>
          </a:xfrm>
          <a:prstGeom prst="rect">
            <a:avLst/>
          </a:prstGeom>
          <a:solidFill>
            <a:srgbClr val="8B735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9E2CF8B-81E4-5D40-A826-95A7688BAE01}"/>
              </a:ext>
            </a:extLst>
          </p:cNvPr>
          <p:cNvSpPr txBox="1"/>
          <p:nvPr/>
        </p:nvSpPr>
        <p:spPr>
          <a:xfrm>
            <a:off x="3149600" y="5715000"/>
            <a:ext cx="8026400" cy="812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1A2740"/>
                </a:solidFill>
                <a:latin typeface="Garamond"/>
              </a:rPr>
              <a:t>Interaction structure is encoded in the </a:t>
            </a:r>
            <a:r>
              <a:rPr lang="en-US" sz="1500" b="1" dirty="0">
                <a:solidFill>
                  <a:srgbClr val="8B1A1A"/>
                </a:solidFill>
                <a:latin typeface="Garamond"/>
              </a:rPr>
              <a:t>first 20 epochs</a:t>
            </a:r>
            <a:r>
              <a:rPr lang="en-US" sz="1500" dirty="0">
                <a:solidFill>
                  <a:srgbClr val="1A2740"/>
                </a:solidFill>
                <a:latin typeface="Garamond"/>
              </a:rPr>
              <a:t>. Evaluating only at best validation loss misses the full story. </a:t>
            </a:r>
            <a:r>
              <a:rPr lang="en-US" sz="1500" b="1" i="1" dirty="0">
                <a:solidFill>
                  <a:srgbClr val="8B1A1A"/>
                </a:solidFill>
                <a:latin typeface="Garamond"/>
              </a:rPr>
              <a:t>The trajectory is the finding</a:t>
            </a:r>
            <a:r>
              <a:rPr lang="en-US" sz="1500" dirty="0">
                <a:solidFill>
                  <a:srgbClr val="1A2740"/>
                </a:solidFill>
                <a:latin typeface="Garamond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182315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8B3884-A110-2845-B701-4591565443E1}"/>
              </a:ext>
            </a:extLst>
          </p:cNvPr>
          <p:cNvSpPr txBox="1"/>
          <p:nvPr/>
        </p:nvSpPr>
        <p:spPr>
          <a:xfrm>
            <a:off x="1016000" y="762000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1300" b="1" spc="600" dirty="0">
                <a:solidFill>
                  <a:srgbClr val="8B1A1A"/>
                </a:solidFill>
                <a:latin typeface="Garamond"/>
              </a:rPr>
              <a:t>Q &amp; 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239BB4-BF73-284C-8B9F-893D893428B6}"/>
              </a:ext>
            </a:extLst>
          </p:cNvPr>
          <p:cNvSpPr/>
          <p:nvPr/>
        </p:nvSpPr>
        <p:spPr>
          <a:xfrm>
            <a:off x="1016000" y="1117600"/>
            <a:ext cx="762000" cy="25400"/>
          </a:xfrm>
          <a:prstGeom prst="rect">
            <a:avLst/>
          </a:prstGeom>
          <a:solidFill>
            <a:srgbClr val="8B1A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B7AB8B-D5F1-BB42-8A24-F67169E591C5}"/>
              </a:ext>
            </a:extLst>
          </p:cNvPr>
          <p:cNvSpPr txBox="1"/>
          <p:nvPr/>
        </p:nvSpPr>
        <p:spPr>
          <a:xfrm>
            <a:off x="1016000" y="1397000"/>
            <a:ext cx="10160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7200" b="1" i="1" dirty="0">
                <a:solidFill>
                  <a:srgbClr val="1A2740"/>
                </a:solidFill>
                <a:latin typeface="Garamond"/>
              </a:rPr>
              <a:t>Questions</a:t>
            </a:r>
            <a:r>
              <a:rPr lang="en-US" sz="7200" b="1" i="1" dirty="0">
                <a:solidFill>
                  <a:srgbClr val="8B1A1A"/>
                </a:solidFill>
                <a:latin typeface="Garamond"/>
              </a:rPr>
              <a:t>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F7A5CF-CE13-4741-B700-EA395215EF53}"/>
              </a:ext>
            </a:extLst>
          </p:cNvPr>
          <p:cNvSpPr/>
          <p:nvPr/>
        </p:nvSpPr>
        <p:spPr>
          <a:xfrm>
            <a:off x="1016000" y="2921000"/>
            <a:ext cx="10160000" cy="1397000"/>
          </a:xfrm>
          <a:prstGeom prst="rect">
            <a:avLst/>
          </a:prstGeom>
          <a:solidFill>
            <a:srgbClr val="F3EEE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0C2276-6080-C243-A78C-9D2F6D4CAE47}"/>
              </a:ext>
            </a:extLst>
          </p:cNvPr>
          <p:cNvSpPr/>
          <p:nvPr/>
        </p:nvSpPr>
        <p:spPr>
          <a:xfrm>
            <a:off x="1016000" y="2921000"/>
            <a:ext cx="38100" cy="1397000"/>
          </a:xfrm>
          <a:prstGeom prst="rect">
            <a:avLst/>
          </a:prstGeom>
          <a:solidFill>
            <a:srgbClr val="8B1A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6E6626-58E1-F648-AA8B-5CACDA4B5EC8}"/>
              </a:ext>
            </a:extLst>
          </p:cNvPr>
          <p:cNvSpPr txBox="1"/>
          <p:nvPr/>
        </p:nvSpPr>
        <p:spPr>
          <a:xfrm>
            <a:off x="1270000" y="3098800"/>
            <a:ext cx="9652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1100" b="1" spc="500" dirty="0">
                <a:solidFill>
                  <a:srgbClr val="8B1A1A"/>
                </a:solidFill>
                <a:latin typeface="Garamond"/>
              </a:rPr>
              <a:t>RESEARCH QUESTION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FB94CD-EA17-7C47-B692-EC3A0C5F707E}"/>
              </a:ext>
            </a:extLst>
          </p:cNvPr>
          <p:cNvSpPr txBox="1"/>
          <p:nvPr/>
        </p:nvSpPr>
        <p:spPr>
          <a:xfrm>
            <a:off x="1270000" y="3403600"/>
            <a:ext cx="9652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25000"/>
              </a:lnSpc>
              <a:buNone/>
            </a:pPr>
            <a:r>
              <a:rPr lang="en-US" sz="1800" i="1" dirty="0">
                <a:solidFill>
                  <a:srgbClr val="1A2740"/>
                </a:solidFill>
                <a:latin typeface="Garamond"/>
              </a:rPr>
              <a:t>How do regularization techniques and output noise influence the trajectory and stability of interaction recovery in MLPs, as measured against ground truth?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FF3C97-3F52-1346-A356-591A27C84950}"/>
              </a:ext>
            </a:extLst>
          </p:cNvPr>
          <p:cNvSpPr txBox="1"/>
          <p:nvPr/>
        </p:nvSpPr>
        <p:spPr>
          <a:xfrm>
            <a:off x="1016000" y="4826000"/>
            <a:ext cx="1016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1100" b="1" spc="500" dirty="0">
                <a:solidFill>
                  <a:srgbClr val="8B1A1A"/>
                </a:solidFill>
                <a:latin typeface="Garamond"/>
              </a:rPr>
              <a:t>FOR REFERENCE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685AEF4-5E12-7C45-A807-28D102810115}"/>
              </a:ext>
            </a:extLst>
          </p:cNvPr>
          <p:cNvSpPr/>
          <p:nvPr/>
        </p:nvSpPr>
        <p:spPr>
          <a:xfrm>
            <a:off x="1016000" y="5143500"/>
            <a:ext cx="508000" cy="25400"/>
          </a:xfrm>
          <a:prstGeom prst="rect">
            <a:avLst/>
          </a:prstGeom>
          <a:solidFill>
            <a:srgbClr val="8B1A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01EB2D-B472-EF4D-B540-DA44873300C3}"/>
              </a:ext>
            </a:extLst>
          </p:cNvPr>
          <p:cNvSpPr txBox="1"/>
          <p:nvPr/>
        </p:nvSpPr>
        <p:spPr>
          <a:xfrm>
            <a:off x="1016000" y="5397500"/>
            <a:ext cx="24765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1A2740"/>
                </a:solidFill>
                <a:latin typeface="Garamond"/>
              </a:rPr>
              <a:t>0.524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C9AEE0-8C1C-B148-B2E7-A30AAEF2DADA}"/>
              </a:ext>
            </a:extLst>
          </p:cNvPr>
          <p:cNvSpPr txBox="1"/>
          <p:nvPr/>
        </p:nvSpPr>
        <p:spPr>
          <a:xfrm>
            <a:off x="1016000" y="5880100"/>
            <a:ext cx="24765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1000" b="1" spc="300" dirty="0">
                <a:solidFill>
                  <a:srgbClr val="8B1A1A"/>
                </a:solidFill>
                <a:latin typeface="Garamond"/>
              </a:rPr>
              <a:t>BASE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CDF383-E61E-8343-B265-7F802D38A2CC}"/>
              </a:ext>
            </a:extLst>
          </p:cNvPr>
          <p:cNvSpPr txBox="1"/>
          <p:nvPr/>
        </p:nvSpPr>
        <p:spPr>
          <a:xfrm>
            <a:off x="1016000" y="6121400"/>
            <a:ext cx="24765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1000" i="1" dirty="0">
                <a:solidFill>
                  <a:srgbClr val="8B7355"/>
                </a:solidFill>
                <a:latin typeface="Garamond"/>
              </a:rPr>
              <a:t>no regularization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9DD8648-65BC-914D-A579-D6A33D3F3793}"/>
              </a:ext>
            </a:extLst>
          </p:cNvPr>
          <p:cNvSpPr txBox="1"/>
          <p:nvPr/>
        </p:nvSpPr>
        <p:spPr>
          <a:xfrm>
            <a:off x="3619500" y="5397500"/>
            <a:ext cx="24765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2800" b="1" dirty="0">
                <a:solidFill>
                  <a:srgbClr val="8B1A1A"/>
                </a:solidFill>
                <a:latin typeface="Garamond"/>
              </a:rPr>
              <a:t>0.404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8C2F76-DBE2-D049-9749-2C909D36F7FC}"/>
              </a:ext>
            </a:extLst>
          </p:cNvPr>
          <p:cNvSpPr txBox="1"/>
          <p:nvPr/>
        </p:nvSpPr>
        <p:spPr>
          <a:xfrm>
            <a:off x="3619500" y="5880100"/>
            <a:ext cx="24765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1000" b="1" spc="300" dirty="0">
                <a:solidFill>
                  <a:srgbClr val="8B1A1A"/>
                </a:solidFill>
                <a:latin typeface="Garamond"/>
              </a:rPr>
              <a:t>DROPOUT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788629-AB4C-9A49-A15E-B59467D1D2D3}"/>
              </a:ext>
            </a:extLst>
          </p:cNvPr>
          <p:cNvSpPr txBox="1"/>
          <p:nvPr/>
        </p:nvSpPr>
        <p:spPr>
          <a:xfrm>
            <a:off x="3619500" y="6121400"/>
            <a:ext cx="24765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1000" i="1" dirty="0">
                <a:solidFill>
                  <a:srgbClr val="8B7355"/>
                </a:solidFill>
                <a:latin typeface="Garamond"/>
              </a:rPr>
              <a:t>−22.9% vs base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F0A032E-B5DC-A24A-85AE-1D6F8353B62E}"/>
              </a:ext>
            </a:extLst>
          </p:cNvPr>
          <p:cNvSpPr/>
          <p:nvPr/>
        </p:nvSpPr>
        <p:spPr>
          <a:xfrm>
            <a:off x="3517900" y="5461000"/>
            <a:ext cx="12700" cy="889000"/>
          </a:xfrm>
          <a:prstGeom prst="rect">
            <a:avLst/>
          </a:prstGeom>
          <a:solidFill>
            <a:srgbClr val="8B735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4186188-4BDC-AD44-8B86-237C195E5707}"/>
              </a:ext>
            </a:extLst>
          </p:cNvPr>
          <p:cNvSpPr txBox="1"/>
          <p:nvPr/>
        </p:nvSpPr>
        <p:spPr>
          <a:xfrm>
            <a:off x="6223000" y="5397500"/>
            <a:ext cx="24765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2200" b="1" dirty="0">
                <a:solidFill>
                  <a:srgbClr val="1A2740"/>
                </a:solidFill>
                <a:latin typeface="Garamond"/>
              </a:rPr>
              <a:t>0.564 </a:t>
            </a:r>
            <a:r>
              <a:rPr lang="en-US" sz="2200" b="1" dirty="0">
                <a:solidFill>
                  <a:srgbClr val="8B1A1A"/>
                </a:solidFill>
                <a:latin typeface="Garamond"/>
              </a:rPr>
              <a:t>→</a:t>
            </a:r>
            <a:r>
              <a:rPr lang="en-US" sz="2200" b="1" dirty="0">
                <a:solidFill>
                  <a:srgbClr val="1A2740"/>
                </a:solidFill>
                <a:latin typeface="Garamond"/>
              </a:rPr>
              <a:t> 0.360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BBC18C-B6FB-4D4B-8082-DD3927B13D2D}"/>
              </a:ext>
            </a:extLst>
          </p:cNvPr>
          <p:cNvSpPr txBox="1"/>
          <p:nvPr/>
        </p:nvSpPr>
        <p:spPr>
          <a:xfrm>
            <a:off x="6223000" y="5880100"/>
            <a:ext cx="24765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1000" b="1" spc="300" dirty="0">
                <a:solidFill>
                  <a:srgbClr val="8B1A1A"/>
                </a:solidFill>
                <a:latin typeface="Garamond"/>
              </a:rPr>
              <a:t>η = 0    →    η = 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7333FB0-93E3-1F4B-AA3B-9DB717272052}"/>
              </a:ext>
            </a:extLst>
          </p:cNvPr>
          <p:cNvSpPr txBox="1"/>
          <p:nvPr/>
        </p:nvSpPr>
        <p:spPr>
          <a:xfrm>
            <a:off x="6223000" y="6121400"/>
            <a:ext cx="24765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1000" i="1" dirty="0">
                <a:solidFill>
                  <a:srgbClr val="8B7355"/>
                </a:solidFill>
                <a:latin typeface="Garamond"/>
              </a:rPr>
              <a:t>noise lowers the ceiling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DC7F337-E2BD-DB46-A7DD-69883416E5A1}"/>
              </a:ext>
            </a:extLst>
          </p:cNvPr>
          <p:cNvSpPr/>
          <p:nvPr/>
        </p:nvSpPr>
        <p:spPr>
          <a:xfrm>
            <a:off x="6121400" y="5461000"/>
            <a:ext cx="12700" cy="889000"/>
          </a:xfrm>
          <a:prstGeom prst="rect">
            <a:avLst/>
          </a:prstGeom>
          <a:solidFill>
            <a:srgbClr val="8B735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7D2C94F-503F-674F-9EFB-EC070BA10E54}"/>
              </a:ext>
            </a:extLst>
          </p:cNvPr>
          <p:cNvSpPr txBox="1"/>
          <p:nvPr/>
        </p:nvSpPr>
        <p:spPr>
          <a:xfrm>
            <a:off x="8826500" y="5397500"/>
            <a:ext cx="24765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l-GR" sz="2800" dirty="0">
                <a:solidFill>
                  <a:schemeClr val="accent1"/>
                </a:solidFill>
              </a:rPr>
              <a:t>Ρ</a:t>
            </a:r>
            <a:r>
              <a:rPr lang="en-US" sz="2800" b="1" dirty="0">
                <a:solidFill>
                  <a:srgbClr val="8B1A1A"/>
                </a:solidFill>
                <a:latin typeface="Garamond"/>
              </a:rPr>
              <a:t> = −0.22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3CD53DC-AFAE-AC48-9CF3-372FA236CB9E}"/>
              </a:ext>
            </a:extLst>
          </p:cNvPr>
          <p:cNvSpPr txBox="1"/>
          <p:nvPr/>
        </p:nvSpPr>
        <p:spPr>
          <a:xfrm>
            <a:off x="8826500" y="5880100"/>
            <a:ext cx="24765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1000" b="1" spc="300" dirty="0">
                <a:solidFill>
                  <a:srgbClr val="8B1A1A"/>
                </a:solidFill>
                <a:latin typeface="Garamond"/>
              </a:rPr>
              <a:t>VAL LOSS  ↔  AUPRC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B49AE3A-BDF3-6341-A898-90C40DA77D1C}"/>
              </a:ext>
            </a:extLst>
          </p:cNvPr>
          <p:cNvSpPr txBox="1"/>
          <p:nvPr/>
        </p:nvSpPr>
        <p:spPr>
          <a:xfrm>
            <a:off x="8826500" y="6121400"/>
            <a:ext cx="24765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1000" i="1" dirty="0">
                <a:solidFill>
                  <a:srgbClr val="8B7355"/>
                </a:solidFill>
                <a:latin typeface="Garamond"/>
              </a:rPr>
              <a:t>weak coupling, n = 626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FF0A366-55D0-2442-A2DE-569C2F0C6F93}"/>
              </a:ext>
            </a:extLst>
          </p:cNvPr>
          <p:cNvSpPr/>
          <p:nvPr/>
        </p:nvSpPr>
        <p:spPr>
          <a:xfrm>
            <a:off x="8724900" y="5461000"/>
            <a:ext cx="12700" cy="889000"/>
          </a:xfrm>
          <a:prstGeom prst="rect">
            <a:avLst/>
          </a:prstGeom>
          <a:solidFill>
            <a:srgbClr val="8B735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9188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 [1780136913541]">
  <a:themeElements>
    <a:clrScheme name="Office">
      <a:dk1>
        <a:srgbClr val="1A2740"/>
      </a:dk1>
      <a:lt1>
        <a:srgbClr val="FBF8F3"/>
      </a:lt1>
      <a:dk2>
        <a:srgbClr val="1A2740"/>
      </a:dk2>
      <a:lt2>
        <a:srgbClr val="E8E2D5"/>
      </a:lt2>
      <a:accent1>
        <a:srgbClr val="8B1A1A"/>
      </a:accent1>
      <a:accent2>
        <a:srgbClr val="1A2740"/>
      </a:accent2>
      <a:accent3>
        <a:srgbClr val="8B7355"/>
      </a:accent3>
      <a:accent4>
        <a:srgbClr val="4A5D7E"/>
      </a:accent4>
      <a:accent5>
        <a:srgbClr val="2D4A3E"/>
      </a:accent5>
      <a:accent6>
        <a:srgbClr val="B8956A"/>
      </a:accent6>
      <a:hlink>
        <a:srgbClr val="467886"/>
      </a:hlink>
      <a:folHlink>
        <a:srgbClr val="96607D"/>
      </a:folHlink>
    </a:clrScheme>
    <a:fontScheme name="Office">
      <a:majorFont>
        <a:latin typeface="Garamon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aramond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05E9AAA-BA0B-154E-A6C8-ABCAE9324292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fea0b2b6-38a9-48c0-90db-07d405b7a6d9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4156</TotalTime>
  <Words>1187</Words>
  <Application>Microsoft Macintosh PowerPoint</Application>
  <PresentationFormat>Widescreen</PresentationFormat>
  <Paragraphs>209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Aptos</vt:lpstr>
      <vt:lpstr>Aptos Display</vt:lpstr>
      <vt:lpstr>Arial</vt:lpstr>
      <vt:lpstr>Cambria</vt:lpstr>
      <vt:lpstr>Cambria Math</vt:lpstr>
      <vt:lpstr>Garamond</vt:lpstr>
      <vt:lpstr>Office Theme</vt:lpstr>
      <vt:lpstr>Office Theme [1780136913541]</vt:lpstr>
      <vt:lpstr>How do regularization techniques and output noise influence the trajectory and stability of interaction recovery in MLPs, as measured against ground truth?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Edouard Dewaerheijd</dc:creator>
  <cp:lastModifiedBy>Edouard Dewaerheijd</cp:lastModifiedBy>
  <cp:revision>3</cp:revision>
  <dcterms:created xsi:type="dcterms:W3CDTF">2026-05-30T10:13:51Z</dcterms:created>
  <dcterms:modified xsi:type="dcterms:W3CDTF">2026-06-02T07:30:20Z</dcterms:modified>
</cp:coreProperties>
</file>